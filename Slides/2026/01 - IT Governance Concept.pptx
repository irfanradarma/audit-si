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62" r:id="rId2"/>
    <p:sldId id="263" r:id="rId3"/>
    <p:sldId id="260" r:id="rId4"/>
    <p:sldId id="265" r:id="rId5"/>
    <p:sldId id="277" r:id="rId6"/>
    <p:sldId id="264" r:id="rId7"/>
    <p:sldId id="257" r:id="rId8"/>
    <p:sldId id="258" r:id="rId9"/>
    <p:sldId id="278" r:id="rId10"/>
    <p:sldId id="279" r:id="rId11"/>
    <p:sldId id="280" r:id="rId12"/>
    <p:sldId id="270" r:id="rId13"/>
    <p:sldId id="281" r:id="rId14"/>
    <p:sldId id="261" r:id="rId15"/>
    <p:sldId id="282" r:id="rId16"/>
    <p:sldId id="283" r:id="rId17"/>
    <p:sldId id="285" r:id="rId18"/>
    <p:sldId id="287" r:id="rId19"/>
    <p:sldId id="289" r:id="rId20"/>
    <p:sldId id="290" r:id="rId21"/>
    <p:sldId id="291" r:id="rId22"/>
    <p:sldId id="286" r:id="rId23"/>
    <p:sldId id="292" r:id="rId24"/>
    <p:sldId id="293" r:id="rId25"/>
    <p:sldId id="294" r:id="rId26"/>
    <p:sldId id="273" r:id="rId27"/>
    <p:sldId id="295" r:id="rId28"/>
    <p:sldId id="296" r:id="rId29"/>
    <p:sldId id="297" r:id="rId30"/>
    <p:sldId id="298" r:id="rId31"/>
    <p:sldId id="299" r:id="rId32"/>
    <p:sldId id="303" r:id="rId33"/>
    <p:sldId id="272" r:id="rId34"/>
    <p:sldId id="284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294"/>
    <a:srgbClr val="E4D304"/>
    <a:srgbClr val="3F396D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B464A-D62E-4F38-BB92-8E2601A3E8AE}" v="1" dt="2026-06-03T03:59:24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uku Raja Irfan Radarma" userId="cf428174-95ba-4576-8554-3a3b8ffa52b7" providerId="ADAL" clId="{6C5D399A-8E2C-4907-9624-A2DD17609376}"/>
    <pc:docChg chg="undo custSel delSld modSld">
      <pc:chgData name="Teuku Raja Irfan Radarma" userId="cf428174-95ba-4576-8554-3a3b8ffa52b7" providerId="ADAL" clId="{6C5D399A-8E2C-4907-9624-A2DD17609376}" dt="2026-06-03T04:00:13.566" v="61" actId="47"/>
      <pc:docMkLst>
        <pc:docMk/>
      </pc:docMkLst>
      <pc:sldChg chg="modSp del mod">
        <pc:chgData name="Teuku Raja Irfan Radarma" userId="cf428174-95ba-4576-8554-3a3b8ffa52b7" providerId="ADAL" clId="{6C5D399A-8E2C-4907-9624-A2DD17609376}" dt="2026-06-03T04:00:13.566" v="61" actId="47"/>
        <pc:sldMkLst>
          <pc:docMk/>
          <pc:sldMk cId="730554632" sldId="275"/>
        </pc:sldMkLst>
        <pc:spChg chg="mod">
          <ac:chgData name="Teuku Raja Irfan Radarma" userId="cf428174-95ba-4576-8554-3a3b8ffa52b7" providerId="ADAL" clId="{6C5D399A-8E2C-4907-9624-A2DD17609376}" dt="2026-06-03T03:59:00.322" v="48" actId="20577"/>
          <ac:spMkLst>
            <pc:docMk/>
            <pc:sldMk cId="730554632" sldId="275"/>
            <ac:spMk id="2" creationId="{BADB35F6-6D20-336E-B44A-960FD60227E2}"/>
          </ac:spMkLst>
        </pc:spChg>
        <pc:spChg chg="mod">
          <ac:chgData name="Teuku Raja Irfan Radarma" userId="cf428174-95ba-4576-8554-3a3b8ffa52b7" providerId="ADAL" clId="{6C5D399A-8E2C-4907-9624-A2DD17609376}" dt="2026-06-03T03:59:08.541" v="59" actId="20577"/>
          <ac:spMkLst>
            <pc:docMk/>
            <pc:sldMk cId="730554632" sldId="275"/>
            <ac:spMk id="4" creationId="{EB34163C-E86B-00DC-4CE2-CD82807DCA8B}"/>
          </ac:spMkLst>
        </pc:spChg>
      </pc:sldChg>
      <pc:sldChg chg="modSp mod">
        <pc:chgData name="Teuku Raja Irfan Radarma" userId="cf428174-95ba-4576-8554-3a3b8ffa52b7" providerId="ADAL" clId="{6C5D399A-8E2C-4907-9624-A2DD17609376}" dt="2026-06-03T03:58:20.863" v="33" actId="113"/>
        <pc:sldMkLst>
          <pc:docMk/>
          <pc:sldMk cId="2281304752" sldId="278"/>
        </pc:sldMkLst>
        <pc:spChg chg="mod">
          <ac:chgData name="Teuku Raja Irfan Radarma" userId="cf428174-95ba-4576-8554-3a3b8ffa52b7" providerId="ADAL" clId="{6C5D399A-8E2C-4907-9624-A2DD17609376}" dt="2026-06-03T03:58:20.863" v="33" actId="113"/>
          <ac:spMkLst>
            <pc:docMk/>
            <pc:sldMk cId="2281304752" sldId="278"/>
            <ac:spMk id="3" creationId="{8C44AC19-8D2D-CC67-D273-3E9E870389A7}"/>
          </ac:spMkLst>
        </pc:spChg>
      </pc:sldChg>
      <pc:sldChg chg="modSp del">
        <pc:chgData name="Teuku Raja Irfan Radarma" userId="cf428174-95ba-4576-8554-3a3b8ffa52b7" providerId="ADAL" clId="{6C5D399A-8E2C-4907-9624-A2DD17609376}" dt="2026-06-03T04:00:13.566" v="61" actId="47"/>
        <pc:sldMkLst>
          <pc:docMk/>
          <pc:sldMk cId="558709642" sldId="301"/>
        </pc:sldMkLst>
        <pc:spChg chg="mod">
          <ac:chgData name="Teuku Raja Irfan Radarma" userId="cf428174-95ba-4576-8554-3a3b8ffa52b7" providerId="ADAL" clId="{6C5D399A-8E2C-4907-9624-A2DD17609376}" dt="2026-06-03T03:59:24.042" v="60"/>
          <ac:spMkLst>
            <pc:docMk/>
            <pc:sldMk cId="558709642" sldId="301"/>
            <ac:spMk id="2" creationId="{44F38E32-0AE7-042B-DDBB-CB0C70EBCA7F}"/>
          </ac:spMkLst>
        </pc:spChg>
      </pc:sldChg>
      <pc:sldChg chg="del">
        <pc:chgData name="Teuku Raja Irfan Radarma" userId="cf428174-95ba-4576-8554-3a3b8ffa52b7" providerId="ADAL" clId="{6C5D399A-8E2C-4907-9624-A2DD17609376}" dt="2026-06-03T04:00:13.566" v="61" actId="47"/>
        <pc:sldMkLst>
          <pc:docMk/>
          <pc:sldMk cId="2325243187" sldId="30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B011F-D7B6-4AA5-96DB-21128523109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40E93-FF8B-448D-BBEA-F69485674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1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156A4-E5DC-BD9E-0277-60026C66B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18135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gambar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CE7D8F-8D59-78B8-97D8-AA1D3D293B00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Black and white 3D wave design">
            <a:extLst>
              <a:ext uri="{FF2B5EF4-FFF2-40B4-BE49-F238E27FC236}">
                <a16:creationId xmlns:a16="http://schemas.microsoft.com/office/drawing/2014/main" id="{A355B9C9-62AF-74CB-DD64-6E68C347A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62" b="18638"/>
          <a:stretch/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8DAEF-925F-5505-B516-1E35B4B57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9144000" cy="9715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68B28-1F01-2FE5-5F22-7A39033B9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75" y="4400551"/>
            <a:ext cx="9144000" cy="158646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E4D30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0B2D-CEA2-41AE-A645-252274BF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C5E43-CB27-49BC-9DB7-94D08E11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8E01D-DC36-7F62-6787-C7D44BBAE6BF}"/>
              </a:ext>
            </a:extLst>
          </p:cNvPr>
          <p:cNvSpPr/>
          <p:nvPr userDrawn="1"/>
        </p:nvSpPr>
        <p:spPr>
          <a:xfrm>
            <a:off x="0" y="3181351"/>
            <a:ext cx="12192000" cy="247649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CB65A2-F0D1-50E5-D300-FA692A0819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BD6353-9C57-985F-CA0D-9FE168345B41}"/>
              </a:ext>
            </a:extLst>
          </p:cNvPr>
          <p:cNvSpPr txBox="1"/>
          <p:nvPr userDrawn="1"/>
        </p:nvSpPr>
        <p:spPr>
          <a:xfrm>
            <a:off x="821285" y="5987018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chemeClr val="bg1"/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50696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lose up of a person's eye">
            <a:extLst>
              <a:ext uri="{FF2B5EF4-FFF2-40B4-BE49-F238E27FC236}">
                <a16:creationId xmlns:a16="http://schemas.microsoft.com/office/drawing/2014/main" id="{7097E4FB-807E-8E70-4956-74A7B808D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B613F-A1B4-D3C7-25DC-8D05E3B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D33C7-84C4-AE72-483B-24AB2536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AD0E7-98AD-8F4A-8F09-61E3DF39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0453B-D8CA-A3F8-13B2-F7A61DF8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A7DC0A-71C4-5E52-9E70-C5B7695D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85760" cy="38645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610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ack and white 3D wave design">
            <a:extLst>
              <a:ext uri="{FF2B5EF4-FFF2-40B4-BE49-F238E27FC236}">
                <a16:creationId xmlns:a16="http://schemas.microsoft.com/office/drawing/2014/main" id="{3BEFDFC4-5A88-4EA9-1BBB-C17CD871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074" y="1084469"/>
            <a:ext cx="5800725" cy="46772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73B85BB-CF98-A57C-3915-986D51559C89}"/>
              </a:ext>
            </a:extLst>
          </p:cNvPr>
          <p:cNvSpPr/>
          <p:nvPr userDrawn="1"/>
        </p:nvSpPr>
        <p:spPr>
          <a:xfrm>
            <a:off x="791497" y="1084469"/>
            <a:ext cx="4259363" cy="4259363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ritannic Bold" panose="020B0903060703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24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 descr="Black and white 3D wave design">
            <a:extLst>
              <a:ext uri="{FF2B5EF4-FFF2-40B4-BE49-F238E27FC236}">
                <a16:creationId xmlns:a16="http://schemas.microsoft.com/office/drawing/2014/main" id="{7E189709-2B81-101F-AB9F-CDAD6BD8B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880" y="528480"/>
            <a:ext cx="482092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880" y="1854043"/>
            <a:ext cx="4820920" cy="4183063"/>
          </a:xfrm>
        </p:spPr>
        <p:txBody>
          <a:bodyPr>
            <a:noAutofit/>
          </a:bodyPr>
          <a:lstStyle>
            <a:lvl1pPr marL="233363" indent="-233363">
              <a:spcBef>
                <a:spcPts val="400"/>
              </a:spcBef>
              <a:buFont typeface="+mj-lt"/>
              <a:buAutoNum type="alphaUcPeriod"/>
              <a:defRPr sz="1200" b="0"/>
            </a:lvl1pPr>
          </a:lstStyle>
          <a:p>
            <a:pPr lvl="0"/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68274"/>
            <a:ext cx="492759" cy="4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0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43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03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A638-2012-C8F7-B6C4-19C8D7A2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C1D878A-61B4-78B6-AAC0-3F588E250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43496"/>
            <a:ext cx="390832" cy="39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1C4515-3840-A960-FE52-B3F6DE635CB7}"/>
              </a:ext>
            </a:extLst>
          </p:cNvPr>
          <p:cNvSpPr/>
          <p:nvPr userDrawn="1"/>
        </p:nvSpPr>
        <p:spPr>
          <a:xfrm>
            <a:off x="838200" y="6181930"/>
            <a:ext cx="10515600" cy="90795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53667-E945-14D4-A90C-05D1E426649F}"/>
              </a:ext>
            </a:extLst>
          </p:cNvPr>
          <p:cNvSpPr txBox="1"/>
          <p:nvPr userDrawn="1"/>
        </p:nvSpPr>
        <p:spPr>
          <a:xfrm>
            <a:off x="1229032" y="6369635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IS Auditing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8BFCB-A454-9040-8DBF-4E9479BE3D05}"/>
              </a:ext>
            </a:extLst>
          </p:cNvPr>
          <p:cNvSpPr txBox="1"/>
          <p:nvPr userDrawn="1"/>
        </p:nvSpPr>
        <p:spPr>
          <a:xfrm>
            <a:off x="4038600" y="6382921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405103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3390"/>
          <a:stretch/>
        </p:blipFill>
        <p:spPr>
          <a:xfrm>
            <a:off x="4673600" y="12383"/>
            <a:ext cx="7530044" cy="6858000"/>
          </a:xfrm>
          <a:prstGeom prst="rect">
            <a:avLst/>
          </a:prstGeom>
        </p:spPr>
      </p:pic>
      <p:sp>
        <p:nvSpPr>
          <p:cNvPr id="9" name="Rectangle: Top Corners One Rounded and One Snipped 8">
            <a:extLst>
              <a:ext uri="{FF2B5EF4-FFF2-40B4-BE49-F238E27FC236}">
                <a16:creationId xmlns:a16="http://schemas.microsoft.com/office/drawing/2014/main" id="{FC9CD173-9628-4C1C-B2C0-F3C9483E2467}"/>
              </a:ext>
            </a:extLst>
          </p:cNvPr>
          <p:cNvSpPr/>
          <p:nvPr userDrawn="1"/>
        </p:nvSpPr>
        <p:spPr>
          <a:xfrm rot="5400000">
            <a:off x="647700" y="-647700"/>
            <a:ext cx="6858000" cy="8153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4D30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B63C4CD-A611-EAA3-45C7-78686547D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8240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endCxn id="9" idx="3"/>
          </p:cNvCxnSpPr>
          <p:nvPr userDrawn="1"/>
        </p:nvCxnSpPr>
        <p:spPr>
          <a:xfrm>
            <a:off x="8153400" y="0"/>
            <a:ext cx="0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B7E5C7-ECC4-BCC4-E23E-CB22CCFC232D}"/>
              </a:ext>
            </a:extLst>
          </p:cNvPr>
          <p:cNvCxnSpPr>
            <a:cxnSpLocks/>
            <a:stCxn id="9" idx="3"/>
          </p:cNvCxnSpPr>
          <p:nvPr userDrawn="1"/>
        </p:nvCxnSpPr>
        <p:spPr>
          <a:xfrm flipH="1">
            <a:off x="4736592" y="3429000"/>
            <a:ext cx="3416808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02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39DA-2C22-495A-2050-6632D424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6BE6-213D-EF68-7FCB-613DB5BCF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32821-2212-FFB9-8249-88BDBE3D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6F88-C5C8-264D-104C-A8C264A8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D97FB-8025-8A85-C4AA-B9128331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E2AB-897E-B2A9-EB39-1CFF362F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20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6799-6B4B-00CC-0737-32776501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FFA02-90BB-B2B5-F035-1C834F47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3401-9F40-AD3E-0626-D55823BF1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E4F6A-F81F-0E7F-8D54-856873A1D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A935B-D069-9460-4459-BF4D1D493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9E23-9F18-ED1A-5DF1-9B0659DC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1A36E-FBBF-9DCF-9938-2599539D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949C8-15FA-726E-9C27-0DC40D7C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0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EF09-B442-1926-2CD5-24B30BDB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2F290-9AE9-8C71-BA7A-CE5ABDFD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E5225-F528-20C2-D92B-5FEE9853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12FF7-F415-B014-9D3D-942DAC5C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1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4E34C-3DBB-E858-47C3-68A12A3B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EAC0A-8994-E667-28A8-BC08BB60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ED37-C602-70E8-A682-FF5465E2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4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77C2-2768-98B0-D674-F152E5CF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BF90-F561-63B7-96CC-31B42678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28BE-E891-B74B-F5EF-3894938C5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967D9-385F-34B4-C1A5-643B078A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162B-4D97-B1C3-1432-88BFDEF8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B6EB3-DD1D-8098-2466-15E2FBB6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1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1925-552C-C9C0-0DE6-8B703D98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C4691-06F7-2B6D-3ACF-957758B43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DB517-F705-71BB-6D17-355C2DE10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9A284-8754-89F8-CE20-4D91029C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10707-1F15-0831-432A-9385D550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C669E-DDDA-5194-C3B2-3EF6414B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17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0884-9102-FB05-B313-0DB1F3D8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F3D2F-3ED5-D4AE-F6F9-09604784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4E0E-2FA3-4E5B-3DDD-2C48307D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DE46-39C9-F262-C10D-C350FA96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60A4-66C4-73A3-7158-2EA17C62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6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45FAA-2D37-9057-31D6-C08017EE9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450B0-FC44-1EA2-4C6E-8D9B1D53D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412B-7ECC-ACC1-4E68-267CC18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6721-00AB-0CC7-EF5F-03EE3AE5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6E0BF-8927-53D7-5A80-AF7FAEC3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080A8-208E-A677-1C33-0E1B9472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18EC-BA8C-2AAB-5F85-DCCDD612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ED497-36B7-7E15-015E-68D649EB9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D94E0-D630-F30C-38E4-A05C88E3F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CE704-8EE5-E145-606D-E803784D1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teuku.radarma@kemenkeu.go.id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E5C2036-BD6E-3793-4543-1B984AA16F6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01" b="30401"/>
          <a:stretch/>
        </p:blipFill>
        <p:spPr>
          <a:xfrm>
            <a:off x="0" y="0"/>
            <a:ext cx="12192000" cy="318135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17BBDE0-3A4E-3EA2-60B0-F9756E3472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IT Governance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CC89D4-8169-77D5-D53F-1E998B469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Information Systems Auditing</a:t>
            </a:r>
          </a:p>
          <a:p>
            <a:r>
              <a:rPr lang="en-US" dirty="0"/>
              <a:t>Class I</a:t>
            </a:r>
          </a:p>
        </p:txBody>
      </p:sp>
    </p:spTree>
    <p:extLst>
      <p:ext uri="{BB962C8B-B14F-4D97-AF65-F5344CB8AC3E}">
        <p14:creationId xmlns:p14="http://schemas.microsoft.com/office/powerpoint/2010/main" val="91161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79CBE2-7ADF-23F1-83BE-26DF183A5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Getting To Know</a:t>
            </a:r>
          </a:p>
          <a:p>
            <a:pPr lvl="1"/>
            <a:r>
              <a:rPr lang="en-US" dirty="0"/>
              <a:t>Who am I?</a:t>
            </a:r>
          </a:p>
          <a:p>
            <a:pPr lvl="1"/>
            <a:r>
              <a:rPr lang="en-US" dirty="0"/>
              <a:t>Who are you?</a:t>
            </a:r>
          </a:p>
          <a:p>
            <a:pPr lvl="1"/>
            <a:r>
              <a:rPr lang="en-US" dirty="0"/>
              <a:t>What is this class about?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Basic Concept of IT Governance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074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2C04A-BCBB-9364-2819-8725E669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To Know</a:t>
            </a:r>
          </a:p>
        </p:txBody>
      </p:sp>
    </p:spTree>
    <p:extLst>
      <p:ext uri="{BB962C8B-B14F-4D97-AF65-F5344CB8AC3E}">
        <p14:creationId xmlns:p14="http://schemas.microsoft.com/office/powerpoint/2010/main" val="2021974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5F323-8552-5D42-54B9-F38617084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Content Placeholder 6" descr="A person wearing glasses and smiling&#10;&#10;Description automatically generated">
            <a:extLst>
              <a:ext uri="{FF2B5EF4-FFF2-40B4-BE49-F238E27FC236}">
                <a16:creationId xmlns:a16="http://schemas.microsoft.com/office/drawing/2014/main" id="{2CB317EA-7DF2-DED0-5EF7-C5F54E38F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300" y="441082"/>
            <a:ext cx="2642070" cy="24290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C4AE5C-066F-1D4D-F932-C305C301B374}"/>
              </a:ext>
            </a:extLst>
          </p:cNvPr>
          <p:cNvSpPr txBox="1"/>
          <p:nvPr/>
        </p:nvSpPr>
        <p:spPr>
          <a:xfrm>
            <a:off x="436880" y="885221"/>
            <a:ext cx="60045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/>
              <a:t>Teuku Raja </a:t>
            </a:r>
            <a:r>
              <a:rPr lang="en-US" sz="3600" b="1" dirty="0"/>
              <a:t>Irfan </a:t>
            </a:r>
            <a:r>
              <a:rPr lang="en-US" sz="3600" dirty="0"/>
              <a:t>Radarma</a:t>
            </a:r>
            <a:endParaRPr lang="en-US" sz="3200" dirty="0"/>
          </a:p>
          <a:p>
            <a:pPr algn="r"/>
            <a:r>
              <a:rPr lang="en-US" dirty="0"/>
              <a:t>Unit </a:t>
            </a:r>
            <a:r>
              <a:rPr lang="en-US" dirty="0" err="1"/>
              <a:t>Kerja</a:t>
            </a:r>
            <a:r>
              <a:rPr lang="en-US" dirty="0"/>
              <a:t>: </a:t>
            </a:r>
            <a:r>
              <a:rPr lang="en-US" dirty="0" err="1"/>
              <a:t>Inspektorat</a:t>
            </a:r>
            <a:r>
              <a:rPr lang="en-US" dirty="0"/>
              <a:t> </a:t>
            </a:r>
            <a:r>
              <a:rPr lang="en-US" dirty="0" err="1"/>
              <a:t>Jenderal</a:t>
            </a:r>
            <a:r>
              <a:rPr lang="en-US" dirty="0"/>
              <a:t> </a:t>
            </a:r>
            <a:r>
              <a:rPr lang="en-US" dirty="0" err="1"/>
              <a:t>Kemenkeu</a:t>
            </a:r>
            <a:endParaRPr lang="en-US" dirty="0"/>
          </a:p>
          <a:p>
            <a:pPr algn="r"/>
            <a:r>
              <a:rPr lang="en-US" dirty="0"/>
              <a:t>Email: </a:t>
            </a:r>
            <a:r>
              <a:rPr lang="en-US" dirty="0">
                <a:hlinkClick r:id="rId3"/>
              </a:rPr>
              <a:t>teuku.radarma@kemenkeu.go.id</a:t>
            </a:r>
            <a:endParaRPr lang="en-US" dirty="0"/>
          </a:p>
          <a:p>
            <a:pPr algn="r"/>
            <a:r>
              <a:rPr lang="en-US" dirty="0" err="1"/>
              <a:t>Telepon</a:t>
            </a:r>
            <a:r>
              <a:rPr lang="en-US" dirty="0"/>
              <a:t>/WA: +62 89652063776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88E929-D749-73A7-284A-AFD326228038}"/>
              </a:ext>
            </a:extLst>
          </p:cNvPr>
          <p:cNvCxnSpPr/>
          <p:nvPr/>
        </p:nvCxnSpPr>
        <p:spPr>
          <a:xfrm>
            <a:off x="1036320" y="4906072"/>
            <a:ext cx="10078720" cy="0"/>
          </a:xfrm>
          <a:prstGeom prst="straightConnector1">
            <a:avLst/>
          </a:prstGeom>
          <a:ln w="38100">
            <a:solidFill>
              <a:srgbClr val="0202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F6D1AA8-A105-DEEA-C65B-D03A3452AB83}"/>
              </a:ext>
            </a:extLst>
          </p:cNvPr>
          <p:cNvSpPr/>
          <p:nvPr/>
        </p:nvSpPr>
        <p:spPr>
          <a:xfrm>
            <a:off x="985520" y="4804471"/>
            <a:ext cx="172717" cy="172717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0AC75E1-0387-6346-3F3E-59EE8BAE7167}"/>
              </a:ext>
            </a:extLst>
          </p:cNvPr>
          <p:cNvSpPr/>
          <p:nvPr/>
        </p:nvSpPr>
        <p:spPr>
          <a:xfrm>
            <a:off x="3046068" y="4804471"/>
            <a:ext cx="172717" cy="172717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EC02FB-8DC6-4BE4-67D4-27970D167191}"/>
              </a:ext>
            </a:extLst>
          </p:cNvPr>
          <p:cNvSpPr txBox="1"/>
          <p:nvPr/>
        </p:nvSpPr>
        <p:spPr>
          <a:xfrm>
            <a:off x="951671" y="4074474"/>
            <a:ext cx="1833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XXXX</a:t>
            </a:r>
          </a:p>
          <a:p>
            <a:r>
              <a:rPr lang="en-US" dirty="0"/>
              <a:t>Lahir, Tangerang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679740-7413-6AEF-B692-FBB7D0568DF8}"/>
              </a:ext>
            </a:extLst>
          </p:cNvPr>
          <p:cNvSpPr txBox="1"/>
          <p:nvPr/>
        </p:nvSpPr>
        <p:spPr>
          <a:xfrm>
            <a:off x="3028237" y="5070493"/>
            <a:ext cx="11403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2012</a:t>
            </a:r>
          </a:p>
          <a:p>
            <a:r>
              <a:rPr lang="en-US" dirty="0"/>
              <a:t>DIII STAN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C8A7E37-B602-E776-5269-8ADF0F417B58}"/>
              </a:ext>
            </a:extLst>
          </p:cNvPr>
          <p:cNvSpPr/>
          <p:nvPr/>
        </p:nvSpPr>
        <p:spPr>
          <a:xfrm>
            <a:off x="4712010" y="4804471"/>
            <a:ext cx="172717" cy="172717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8BB62D-E2C3-DAB2-5EA8-D0BB3F3E4E5E}"/>
              </a:ext>
            </a:extLst>
          </p:cNvPr>
          <p:cNvSpPr txBox="1"/>
          <p:nvPr/>
        </p:nvSpPr>
        <p:spPr>
          <a:xfrm>
            <a:off x="4712010" y="3794193"/>
            <a:ext cx="22345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2013</a:t>
            </a:r>
          </a:p>
          <a:p>
            <a:r>
              <a:rPr lang="en-US" dirty="0" err="1"/>
              <a:t>Inspektorat</a:t>
            </a:r>
            <a:r>
              <a:rPr lang="en-US" dirty="0"/>
              <a:t> </a:t>
            </a:r>
            <a:r>
              <a:rPr lang="en-US" dirty="0" err="1"/>
              <a:t>Jenderal</a:t>
            </a:r>
            <a:endParaRPr lang="en-US" dirty="0"/>
          </a:p>
          <a:p>
            <a:r>
              <a:rPr lang="en-US" dirty="0" err="1"/>
              <a:t>Kemenkeu</a:t>
            </a: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D45C8E5-E65C-6256-7033-D92926E6072B}"/>
              </a:ext>
            </a:extLst>
          </p:cNvPr>
          <p:cNvSpPr/>
          <p:nvPr/>
        </p:nvSpPr>
        <p:spPr>
          <a:xfrm>
            <a:off x="6675032" y="4804471"/>
            <a:ext cx="172717" cy="172717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D8016F-4EAC-E77E-C1F5-805A7534F671}"/>
              </a:ext>
            </a:extLst>
          </p:cNvPr>
          <p:cNvSpPr txBox="1"/>
          <p:nvPr/>
        </p:nvSpPr>
        <p:spPr>
          <a:xfrm>
            <a:off x="6675032" y="5061027"/>
            <a:ext cx="24643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2017</a:t>
            </a:r>
          </a:p>
          <a:p>
            <a:r>
              <a:rPr lang="en-US" dirty="0"/>
              <a:t>S1 Universitas </a:t>
            </a:r>
            <a:r>
              <a:rPr lang="en-US" dirty="0" err="1"/>
              <a:t>Andalas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C394978-CCE5-B7D5-BD2E-6846BA554102}"/>
              </a:ext>
            </a:extLst>
          </p:cNvPr>
          <p:cNvSpPr/>
          <p:nvPr/>
        </p:nvSpPr>
        <p:spPr>
          <a:xfrm>
            <a:off x="8686824" y="4804471"/>
            <a:ext cx="172717" cy="172717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E6CD53-1491-A2BE-0ED0-869198C86F05}"/>
              </a:ext>
            </a:extLst>
          </p:cNvPr>
          <p:cNvSpPr txBox="1"/>
          <p:nvPr/>
        </p:nvSpPr>
        <p:spPr>
          <a:xfrm>
            <a:off x="8610600" y="3984968"/>
            <a:ext cx="32269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2023</a:t>
            </a:r>
          </a:p>
          <a:p>
            <a:r>
              <a:rPr lang="en-US" dirty="0"/>
              <a:t>S2 Carnegie Mellon University</a:t>
            </a:r>
          </a:p>
        </p:txBody>
      </p:sp>
    </p:spTree>
    <p:extLst>
      <p:ext uri="{BB962C8B-B14F-4D97-AF65-F5344CB8AC3E}">
        <p14:creationId xmlns:p14="http://schemas.microsoft.com/office/powerpoint/2010/main" val="1927062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43B52-3E6D-5E73-C1F2-9E3ABD104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8240"/>
            <a:ext cx="10515600" cy="4673803"/>
          </a:xfrm>
        </p:spPr>
        <p:txBody>
          <a:bodyPr>
            <a:noAutofit/>
          </a:bodyPr>
          <a:lstStyle/>
          <a:p>
            <a:pPr algn="ctr"/>
            <a:r>
              <a:rPr lang="en-US" sz="11500" dirty="0"/>
              <a:t>Now,</a:t>
            </a:r>
            <a:br>
              <a:rPr lang="en-US" sz="11500" dirty="0"/>
            </a:br>
            <a:r>
              <a:rPr lang="en-US" sz="11500" dirty="0"/>
              <a:t>Who Are you?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F0C72B-B1AD-5D7E-D914-565534817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34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36815-6D1A-2136-FEB7-5B68FA9A3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General path of where this class is going this semester</a:t>
            </a:r>
          </a:p>
        </p:txBody>
      </p:sp>
    </p:spTree>
    <p:extLst>
      <p:ext uri="{BB962C8B-B14F-4D97-AF65-F5344CB8AC3E}">
        <p14:creationId xmlns:p14="http://schemas.microsoft.com/office/powerpoint/2010/main" val="1457204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157F-D729-D43A-6721-923C7B23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540" y="236651"/>
            <a:ext cx="482092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5DB3-7A6F-EDD4-9F33-B3FF6161C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71" y="1682885"/>
            <a:ext cx="5473429" cy="4354221"/>
          </a:xfrm>
        </p:spPr>
        <p:txBody>
          <a:bodyPr/>
          <a:lstStyle/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/>
              <a:t>IT Governance: Concept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IT Governance: Audit Program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IS Acquisition, Development &amp; Implementation 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IS Acquisition, Development &amp; Implementation II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IS Operation &amp; Business Resilience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Protection of Information Assets 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Protection of Information Assets II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Mid-Term Exam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09DF7A-9B78-AB11-FA80-26BA72C3D29B}"/>
              </a:ext>
            </a:extLst>
          </p:cNvPr>
          <p:cNvSpPr txBox="1">
            <a:spLocks/>
          </p:cNvSpPr>
          <p:nvPr/>
        </p:nvSpPr>
        <p:spPr>
          <a:xfrm>
            <a:off x="6459167" y="1682885"/>
            <a:ext cx="5340483" cy="4354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+mj-lt"/>
              <a:buAutoNum type="alphaU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Basic of Data Analysis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Risk and Control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Parallel Simulation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Analytics and Sampling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Substantive Testing: Sales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Substantive Testing: Expenditure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Audit Report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Final Exam</a:t>
            </a:r>
          </a:p>
        </p:txBody>
      </p:sp>
    </p:spTree>
    <p:extLst>
      <p:ext uri="{BB962C8B-B14F-4D97-AF65-F5344CB8AC3E}">
        <p14:creationId xmlns:p14="http://schemas.microsoft.com/office/powerpoint/2010/main" val="4030995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F8F37-A50D-160F-959B-451148F42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Aktivitas</a:t>
            </a:r>
            <a:r>
              <a:rPr lang="en-US" sz="4000" dirty="0"/>
              <a:t> </a:t>
            </a:r>
            <a:r>
              <a:rPr lang="en-US" sz="4000" dirty="0" err="1"/>
              <a:t>Kelas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9DAE2-B333-C41A-41EF-77E619569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Setiap slide </a:t>
            </a:r>
            <a:r>
              <a:rPr lang="en-US" dirty="0" err="1"/>
              <a:t>merah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ini berarti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mengharapkan</a:t>
            </a:r>
            <a:r>
              <a:rPr lang="en-US" dirty="0"/>
              <a:t> </a:t>
            </a:r>
            <a:r>
              <a:rPr lang="en-US" dirty="0" err="1"/>
              <a:t>partisipasi</a:t>
            </a:r>
            <a:r>
              <a:rPr lang="en-US" dirty="0"/>
              <a:t> </a:t>
            </a:r>
            <a:r>
              <a:rPr lang="en-US" dirty="0" err="1"/>
              <a:t>teman-teman</a:t>
            </a:r>
            <a:r>
              <a:rPr lang="en-US" dirty="0"/>
              <a:t> semua.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 err="1"/>
              <a:t>Silakan</a:t>
            </a:r>
            <a:r>
              <a:rPr lang="en-US" dirty="0"/>
              <a:t> </a:t>
            </a:r>
            <a:r>
              <a:rPr lang="en-US" dirty="0" err="1"/>
              <a:t>gunakan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apapun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berpartisipasi</a:t>
            </a:r>
            <a:r>
              <a:rPr lang="en-US" dirty="0"/>
              <a:t>, </a:t>
            </a:r>
            <a:r>
              <a:rPr lang="en-US" dirty="0" err="1"/>
              <a:t>termasuk</a:t>
            </a:r>
            <a:r>
              <a:rPr lang="en-US" dirty="0"/>
              <a:t> google, </a:t>
            </a:r>
            <a:r>
              <a:rPr lang="en-US" dirty="0" err="1"/>
              <a:t>buku</a:t>
            </a:r>
            <a:r>
              <a:rPr lang="en-US" dirty="0"/>
              <a:t>, ChatGPT, </a:t>
            </a:r>
            <a:r>
              <a:rPr lang="en-US" dirty="0" err="1"/>
              <a:t>dll</a:t>
            </a:r>
            <a:r>
              <a:rPr lang="en-US" dirty="0"/>
              <a:t>.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DAD7F-78E8-3D5C-5B0C-29E8CDE58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8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EAC256A-6413-5F5E-2CE2-AF1B8027625D}"/>
              </a:ext>
            </a:extLst>
          </p:cNvPr>
          <p:cNvSpPr/>
          <p:nvPr/>
        </p:nvSpPr>
        <p:spPr>
          <a:xfrm>
            <a:off x="9209057" y="2186359"/>
            <a:ext cx="2346960" cy="23469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Exclamation mark with solid fill">
            <a:extLst>
              <a:ext uri="{FF2B5EF4-FFF2-40B4-BE49-F238E27FC236}">
                <a16:creationId xmlns:a16="http://schemas.microsoft.com/office/drawing/2014/main" id="{C3D9E656-21FD-6FE4-2B5D-8ADE630113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09057" y="2248112"/>
            <a:ext cx="2361775" cy="236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91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0E0C2-4EB6-B44D-A82A-975037701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Logistic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4AC19-8D2D-CC67-D273-3E9E87038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Slides, data, and other logistics for this class can be accessed through:</a:t>
            </a:r>
          </a:p>
          <a:p>
            <a:r>
              <a:rPr lang="en-US" b="1" dirty="0"/>
              <a:t>audit-si</a:t>
            </a:r>
            <a:r>
              <a:rPr lang="en-US" dirty="0"/>
              <a:t>.irfanradarma.my.id</a:t>
            </a:r>
          </a:p>
          <a:p>
            <a:r>
              <a:rPr lang="en-US" dirty="0"/>
              <a:t>LMS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1AC5E-6C6F-80D5-9E0E-8A57E7BA5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15964-8A04-3382-4F60-8C8D2970FE74}"/>
              </a:ext>
            </a:extLst>
          </p:cNvPr>
          <p:cNvSpPr txBox="1"/>
          <p:nvPr/>
        </p:nvSpPr>
        <p:spPr>
          <a:xfrm>
            <a:off x="6481684" y="2733473"/>
            <a:ext cx="2128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Quick and updated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83D113-2DCB-E376-014A-89592D2EC1B5}"/>
              </a:ext>
            </a:extLst>
          </p:cNvPr>
          <p:cNvSpPr txBox="1"/>
          <p:nvPr/>
        </p:nvSpPr>
        <p:spPr>
          <a:xfrm>
            <a:off x="6481684" y="3237742"/>
            <a:ext cx="2773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Delayed and not updated</a:t>
            </a:r>
          </a:p>
        </p:txBody>
      </p:sp>
    </p:spTree>
    <p:extLst>
      <p:ext uri="{BB962C8B-B14F-4D97-AF65-F5344CB8AC3E}">
        <p14:creationId xmlns:p14="http://schemas.microsoft.com/office/powerpoint/2010/main" val="2281304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506D1-4832-687B-B73F-BE2288F7C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Do’s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DF102-24CE-8CB0-4A53-B82C23236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on time!</a:t>
            </a:r>
          </a:p>
          <a:p>
            <a:r>
              <a:rPr lang="en-US" dirty="0"/>
              <a:t>Use AI </a:t>
            </a:r>
            <a:r>
              <a:rPr lang="en-US" b="1" dirty="0"/>
              <a:t>RESPONSIBLY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A0CD0-67F7-244E-3BB4-31701B7E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33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67923-BC28-C375-B788-40C1DC0C0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Don’t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7A3F0-7E97-4C9C-2FE0-93C9DC8C7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CF772-4647-143F-EA1B-3F32C6D63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401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843BC-AC83-AD37-89B4-0A07E6B1A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IT Governance: Concept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0A835-689B-E9C9-06FC-F749493E6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#direction #control #accountability</a:t>
            </a:r>
          </a:p>
        </p:txBody>
      </p:sp>
    </p:spTree>
    <p:extLst>
      <p:ext uri="{BB962C8B-B14F-4D97-AF65-F5344CB8AC3E}">
        <p14:creationId xmlns:p14="http://schemas.microsoft.com/office/powerpoint/2010/main" val="57847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2FF7F-69D3-D5CB-BCE3-339D57D07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17386"/>
          </a:xfrm>
        </p:spPr>
        <p:txBody>
          <a:bodyPr>
            <a:normAutofit/>
          </a:bodyPr>
          <a:lstStyle/>
          <a:p>
            <a:r>
              <a:rPr lang="en-US" sz="6600" dirty="0"/>
              <a:t>What is the difference between Information Technology (IT) and Information System (IS)?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716A6D-4A9F-1EAD-CCC2-C58AE4C54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323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05A46C3-55A8-C595-5416-6EE728154EF7}"/>
              </a:ext>
            </a:extLst>
          </p:cNvPr>
          <p:cNvSpPr/>
          <p:nvPr/>
        </p:nvSpPr>
        <p:spPr>
          <a:xfrm>
            <a:off x="680936" y="1527243"/>
            <a:ext cx="5055565" cy="4056434"/>
          </a:xfrm>
          <a:prstGeom prst="rect">
            <a:avLst/>
          </a:prstGeom>
          <a:solidFill>
            <a:schemeClr val="bg2"/>
          </a:solidFill>
          <a:ln w="19050">
            <a:solidFill>
              <a:srgbClr val="0202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107E963-50C4-345A-8EED-896AE7CD9B90}"/>
              </a:ext>
            </a:extLst>
          </p:cNvPr>
          <p:cNvSpPr/>
          <p:nvPr/>
        </p:nvSpPr>
        <p:spPr>
          <a:xfrm>
            <a:off x="5308059" y="4314325"/>
            <a:ext cx="1085832" cy="749030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202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A06BF-B633-6CD4-FC96-764CA0AFB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14</a:t>
            </a:fld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0D59358-44BE-F538-3E43-A5A5956E59F2}"/>
              </a:ext>
            </a:extLst>
          </p:cNvPr>
          <p:cNvSpPr/>
          <p:nvPr/>
        </p:nvSpPr>
        <p:spPr>
          <a:xfrm>
            <a:off x="2502062" y="1788160"/>
            <a:ext cx="1361440" cy="1361440"/>
          </a:xfrm>
          <a:prstGeom prst="ellipse">
            <a:avLst/>
          </a:prstGeom>
          <a:solidFill>
            <a:schemeClr val="bg2"/>
          </a:solidFill>
          <a:ln w="38100">
            <a:solidFill>
              <a:srgbClr val="0202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20294"/>
                </a:solidFill>
              </a:rPr>
              <a:t>People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46FF60D-EE53-A250-2BBB-09D24DEB1F86}"/>
              </a:ext>
            </a:extLst>
          </p:cNvPr>
          <p:cNvSpPr/>
          <p:nvPr/>
        </p:nvSpPr>
        <p:spPr>
          <a:xfrm>
            <a:off x="4015902" y="4008120"/>
            <a:ext cx="1361440" cy="136144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0202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20294"/>
                </a:solidFill>
              </a:rPr>
              <a:t>Technology (Information Technology)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5AD254-476B-98F5-8F7F-7D7C312484E9}"/>
              </a:ext>
            </a:extLst>
          </p:cNvPr>
          <p:cNvSpPr/>
          <p:nvPr/>
        </p:nvSpPr>
        <p:spPr>
          <a:xfrm>
            <a:off x="1006002" y="4008120"/>
            <a:ext cx="1361440" cy="1361440"/>
          </a:xfrm>
          <a:prstGeom prst="ellipse">
            <a:avLst/>
          </a:prstGeom>
          <a:solidFill>
            <a:schemeClr val="bg2"/>
          </a:solidFill>
          <a:ln w="38100">
            <a:solidFill>
              <a:srgbClr val="0202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20294"/>
                </a:solidFill>
              </a:rPr>
              <a:t>Process</a:t>
            </a:r>
            <a:endParaRPr lang="en-US" sz="1100" dirty="0">
              <a:solidFill>
                <a:srgbClr val="020294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E410093-5DEA-0EF4-CE4F-713098B61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774" y="346959"/>
            <a:ext cx="10515600" cy="1325563"/>
          </a:xfrm>
        </p:spPr>
        <p:txBody>
          <a:bodyPr/>
          <a:lstStyle/>
          <a:p>
            <a:r>
              <a:rPr lang="en-US" dirty="0"/>
              <a:t>Information System &amp; Information Technology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E33AAF0-D790-DDB6-A773-720CCD44F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5500" y="1825625"/>
            <a:ext cx="4898300" cy="3863975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Information System </a:t>
            </a:r>
            <a:r>
              <a:rPr lang="en-US" dirty="0"/>
              <a:t>is a system that combines technology, people, and processes to collect, process, and deliver information for decision-making.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Information Technology </a:t>
            </a:r>
            <a:r>
              <a:rPr lang="en-US" dirty="0"/>
              <a:t>is the technology — hardware, software, and networks — used to </a:t>
            </a:r>
            <a:r>
              <a:rPr lang="en-US" b="1" dirty="0"/>
              <a:t>store, process, and transmit data</a:t>
            </a:r>
            <a:r>
              <a:rPr lang="en-US" dirty="0"/>
              <a:t>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98680D8-8A34-FEC3-6E57-BE431BB250CB}"/>
              </a:ext>
            </a:extLst>
          </p:cNvPr>
          <p:cNvSpPr/>
          <p:nvPr/>
        </p:nvSpPr>
        <p:spPr>
          <a:xfrm>
            <a:off x="2080422" y="2936240"/>
            <a:ext cx="2204720" cy="2204720"/>
          </a:xfrm>
          <a:prstGeom prst="ellipse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Information System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B1E4969-DD9C-A735-B8E2-6D77BDF4451E}"/>
              </a:ext>
            </a:extLst>
          </p:cNvPr>
          <p:cNvSpPr/>
          <p:nvPr/>
        </p:nvSpPr>
        <p:spPr>
          <a:xfrm>
            <a:off x="5734879" y="1788160"/>
            <a:ext cx="657390" cy="1432107"/>
          </a:xfrm>
          <a:prstGeom prst="rightArrow">
            <a:avLst/>
          </a:prstGeom>
          <a:solidFill>
            <a:schemeClr val="bg2"/>
          </a:solidFill>
          <a:ln w="19050">
            <a:solidFill>
              <a:srgbClr val="0202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583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F544D-8E93-0BD1-8798-43916B78A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D3E9F-B9B5-9BAA-B7BE-862BAA728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17386"/>
          </a:xfrm>
        </p:spPr>
        <p:txBody>
          <a:bodyPr>
            <a:normAutofit/>
          </a:bodyPr>
          <a:lstStyle/>
          <a:p>
            <a:r>
              <a:rPr lang="en-US" sz="6600" dirty="0"/>
              <a:t>What is Governance?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02FD8A-5B79-BAC2-6343-EC11E6F5A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938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4A117-9DA1-E38D-BA3F-7C0253D7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026" name="Picture 2" descr="Monkey D. Luffy - Wikipedia">
            <a:extLst>
              <a:ext uri="{FF2B5EF4-FFF2-40B4-BE49-F238E27FC236}">
                <a16:creationId xmlns:a16="http://schemas.microsoft.com/office/drawing/2014/main" id="{372EA6BF-1B7B-8CF8-FB59-2D6A7A76034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17" y="726400"/>
            <a:ext cx="224717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B76087-EBA3-ACB8-AFAB-61340E128679}"/>
              </a:ext>
            </a:extLst>
          </p:cNvPr>
          <p:cNvSpPr txBox="1"/>
          <p:nvPr/>
        </p:nvSpPr>
        <p:spPr>
          <a:xfrm>
            <a:off x="2929686" y="958175"/>
            <a:ext cx="77318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Luffy wants to find One Piece and become the Pirate 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wanting it isn’t enough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Grand Line is dangerous, unpredictable, and full of risks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Then he invites the best crews he can 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that enough to make sure he can overcome all challenge to achieve the goal? Nope!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 must be a leader who governs: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Set a clear goal for everyone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Distribute roles and responsibilities (who does what on the ship)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Make decision when there’s conflict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Maintain trust discipline among the crew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Adapt to risks and change in the Grand Line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9E28F12-E757-80CD-6269-ED78A29D0B7F}"/>
              </a:ext>
            </a:extLst>
          </p:cNvPr>
          <p:cNvSpPr/>
          <p:nvPr/>
        </p:nvSpPr>
        <p:spPr>
          <a:xfrm>
            <a:off x="9262313" y="1040702"/>
            <a:ext cx="671207" cy="272533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goal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6D09E8A8-0073-DFD2-FB02-33E7AA2F6E5B}"/>
              </a:ext>
            </a:extLst>
          </p:cNvPr>
          <p:cNvSpPr/>
          <p:nvPr/>
        </p:nvSpPr>
        <p:spPr>
          <a:xfrm>
            <a:off x="5029200" y="4445540"/>
            <a:ext cx="389106" cy="4182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707F8E-FB98-34F6-543F-8D15832D11F8}"/>
              </a:ext>
            </a:extLst>
          </p:cNvPr>
          <p:cNvSpPr txBox="1"/>
          <p:nvPr/>
        </p:nvSpPr>
        <p:spPr>
          <a:xfrm>
            <a:off x="5535039" y="4435812"/>
            <a:ext cx="2303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20294"/>
                </a:solidFill>
              </a:rPr>
              <a:t>That is governance!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AA9A34-5ED5-D88D-09B8-54371C074A50}"/>
              </a:ext>
            </a:extLst>
          </p:cNvPr>
          <p:cNvSpPr txBox="1"/>
          <p:nvPr/>
        </p:nvSpPr>
        <p:spPr>
          <a:xfrm>
            <a:off x="2737100" y="5042257"/>
            <a:ext cx="808387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not fighting the battles yourself, but ensuring everyone and everything works together toward the same goal.</a:t>
            </a:r>
          </a:p>
        </p:txBody>
      </p:sp>
    </p:spTree>
    <p:extLst>
      <p:ext uri="{BB962C8B-B14F-4D97-AF65-F5344CB8AC3E}">
        <p14:creationId xmlns:p14="http://schemas.microsoft.com/office/powerpoint/2010/main" val="575179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D1B69-045C-8B55-79E3-25A7FB23C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008"/>
          </a:xfrm>
        </p:spPr>
        <p:txBody>
          <a:bodyPr/>
          <a:lstStyle/>
          <a:p>
            <a:r>
              <a:rPr lang="en-US" dirty="0"/>
              <a:t>Governance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40B8D-1C3C-CDED-8B6D-3D55C9655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3074" name="Picture 2" descr="Lazy - Free people icons">
            <a:extLst>
              <a:ext uri="{FF2B5EF4-FFF2-40B4-BE49-F238E27FC236}">
                <a16:creationId xmlns:a16="http://schemas.microsoft.com/office/drawing/2014/main" id="{121E0314-F8E7-27DA-3908-4E441573D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44" y="3753924"/>
            <a:ext cx="1606684" cy="1606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Man in office desk with computer - Free People icons | Free icons, Icon  design, Computer icon">
            <a:extLst>
              <a:ext uri="{FF2B5EF4-FFF2-40B4-BE49-F238E27FC236}">
                <a16:creationId xmlns:a16="http://schemas.microsoft.com/office/drawing/2014/main" id="{AE2B2655-AB2F-1A7F-F871-95F8A6514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99227" y="1497392"/>
            <a:ext cx="1535519" cy="1535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973E0B-B83B-2E3D-DA86-6B324207386E}"/>
              </a:ext>
            </a:extLst>
          </p:cNvPr>
          <p:cNvSpPr txBox="1"/>
          <p:nvPr/>
        </p:nvSpPr>
        <p:spPr>
          <a:xfrm>
            <a:off x="2975852" y="1341822"/>
            <a:ext cx="817690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“Governance is the system by which organizations are directed and controlled to achieve objectives, manage risks, and use resources responsibly.”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72C079-C8FD-5D2C-25AE-EF4064DFBA51}"/>
              </a:ext>
            </a:extLst>
          </p:cNvPr>
          <p:cNvSpPr txBox="1"/>
          <p:nvPr/>
        </p:nvSpPr>
        <p:spPr>
          <a:xfrm>
            <a:off x="2975852" y="3651239"/>
            <a:ext cx="83779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Governance is about how things are directed and controlled.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It ensures everyone follows the same rules, works toward the same goals, and is accountable for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DCA893-4052-03B6-FF8B-43C0ECB760D5}"/>
              </a:ext>
            </a:extLst>
          </p:cNvPr>
          <p:cNvSpPr txBox="1"/>
          <p:nvPr/>
        </p:nvSpPr>
        <p:spPr>
          <a:xfrm>
            <a:off x="3047189" y="5751670"/>
            <a:ext cx="609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/>
              <a:t>Governance is about direction, control, and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2488047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9AC94-E1D7-8BFE-D73A-1064F8CA5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Governance Is About Decision Rights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9EDAC-957E-5B26-8CFF-6E06D6948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270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Governance defines:</a:t>
            </a:r>
          </a:p>
          <a:p>
            <a:r>
              <a:rPr lang="en-US" sz="2400" b="1" dirty="0"/>
              <a:t>Who</a:t>
            </a:r>
            <a:r>
              <a:rPr lang="en-US" sz="2400" dirty="0"/>
              <a:t> makes decisions</a:t>
            </a:r>
          </a:p>
          <a:p>
            <a:r>
              <a:rPr lang="en-US" sz="2400" b="1" dirty="0"/>
              <a:t>How</a:t>
            </a:r>
            <a:r>
              <a:rPr lang="en-US" sz="2400" dirty="0"/>
              <a:t> those decisions are made</a:t>
            </a:r>
          </a:p>
          <a:p>
            <a:r>
              <a:rPr lang="en-US" sz="2400" b="1" dirty="0"/>
              <a:t>What information</a:t>
            </a:r>
            <a:r>
              <a:rPr lang="en-US" sz="2400" dirty="0"/>
              <a:t> is needed to make them</a:t>
            </a:r>
          </a:p>
          <a:p>
            <a:r>
              <a:rPr lang="en-US" sz="2400" b="1" dirty="0"/>
              <a:t>Who is accountable</a:t>
            </a:r>
            <a:r>
              <a:rPr lang="en-US" sz="2400" dirty="0"/>
              <a:t> for the outcomes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In any organization, governance ensures </a:t>
            </a:r>
            <a:r>
              <a:rPr lang="en-US" sz="2400" b="1" dirty="0"/>
              <a:t>the right people</a:t>
            </a:r>
            <a:r>
              <a:rPr lang="en-US" sz="2400" dirty="0"/>
              <a:t> make </a:t>
            </a:r>
            <a:r>
              <a:rPr lang="en-US" sz="2400" b="1" dirty="0"/>
              <a:t>the right decisions</a:t>
            </a:r>
            <a:r>
              <a:rPr lang="en-US" sz="2400" dirty="0"/>
              <a:t> with </a:t>
            </a:r>
            <a:r>
              <a:rPr lang="en-US" sz="2400" b="1" dirty="0"/>
              <a:t>the right information</a:t>
            </a:r>
            <a:r>
              <a:rPr lang="en-US" sz="2400" dirty="0"/>
              <a:t>, at </a:t>
            </a:r>
            <a:r>
              <a:rPr lang="en-US" sz="2400" b="1" dirty="0"/>
              <a:t>the right time.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91AD8-0965-50FB-A17B-ADCB75E59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956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92FDC-0CFC-00D9-D4F6-5C010E87E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C6B35-2819-7D7A-0C24-FDDF1216B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Governance Exists Because Control Is Needed Without Constant Supervision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3266E-5B10-337B-9D0F-84E73A939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2237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In any organization, leaders can’t personally oversee every action.</a:t>
            </a:r>
          </a:p>
          <a:p>
            <a:pPr marL="0" indent="0">
              <a:buNone/>
            </a:pPr>
            <a:r>
              <a:rPr lang="en-US" sz="2000" dirty="0"/>
              <a:t>Governance creates a </a:t>
            </a:r>
            <a:r>
              <a:rPr lang="en-US" sz="2000" b="1" dirty="0"/>
              <a:t>system of delegation and oversight</a:t>
            </a:r>
            <a:r>
              <a:rPr lang="en-US" sz="2000" dirty="0"/>
              <a:t> — so the organization runs properly </a:t>
            </a:r>
            <a:r>
              <a:rPr lang="en-US" sz="2000" i="1" dirty="0"/>
              <a:t>even when the top leaders aren’t watching every move.</a:t>
            </a:r>
          </a:p>
          <a:p>
            <a:pPr marL="0" indent="0">
              <a:buNone/>
            </a:pPr>
            <a:r>
              <a:rPr lang="en-US" sz="2000" dirty="0"/>
              <a:t>It’s built on:</a:t>
            </a:r>
          </a:p>
          <a:p>
            <a:r>
              <a:rPr lang="en-US" sz="2000" b="1" dirty="0"/>
              <a:t>Structures</a:t>
            </a:r>
            <a:r>
              <a:rPr lang="en-US" sz="2000" dirty="0"/>
              <a:t> (like boards, committees, and policies)</a:t>
            </a:r>
          </a:p>
          <a:p>
            <a:r>
              <a:rPr lang="en-US" sz="2000" b="1" dirty="0"/>
              <a:t>Processes</a:t>
            </a:r>
            <a:r>
              <a:rPr lang="en-US" sz="2000" dirty="0"/>
              <a:t> (like planning, monitoring, and reporting)</a:t>
            </a:r>
          </a:p>
          <a:p>
            <a:r>
              <a:rPr lang="en-US" sz="2000" b="1" dirty="0"/>
              <a:t>Values and Principles</a:t>
            </a:r>
            <a:r>
              <a:rPr lang="en-US" sz="2000" dirty="0"/>
              <a:t> (like fairness, transparency, and responsibility)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Governance is both </a:t>
            </a:r>
            <a:r>
              <a:rPr lang="en-US" sz="2000" b="1" dirty="0"/>
              <a:t>formal</a:t>
            </a:r>
            <a:r>
              <a:rPr lang="en-US" sz="2000" dirty="0"/>
              <a:t> (rules, frameworks) and </a:t>
            </a:r>
            <a:r>
              <a:rPr lang="en-US" sz="2000" b="1" dirty="0"/>
              <a:t>cultural</a:t>
            </a:r>
            <a:r>
              <a:rPr lang="en-US" sz="2000" dirty="0"/>
              <a:t> (values, tone at the top).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50068-F7AD-4F9E-451C-95C1B5528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944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8A1EB-34CA-815B-DC67-A1D350F7A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1E385-3A34-3AB3-5CF0-379A771B4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Governance Is About Balancing Interests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9F2B0-CD4C-A6EA-93E1-4E39D2D36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223729"/>
          </a:xfrm>
        </p:spPr>
        <p:txBody>
          <a:bodyPr>
            <a:normAutofit/>
          </a:bodyPr>
          <a:lstStyle/>
          <a:p>
            <a:r>
              <a:rPr lang="en-US" sz="2000" dirty="0"/>
              <a:t>Organizations exist in a web of stakeholders — owners, employees, regulators, customers, society.</a:t>
            </a:r>
          </a:p>
          <a:p>
            <a:r>
              <a:rPr lang="en-US" sz="2000" dirty="0"/>
              <a:t>Governance ensures that </a:t>
            </a:r>
            <a:r>
              <a:rPr lang="en-US" sz="2000" b="1" dirty="0"/>
              <a:t>decisions serve the organization’s purpose without unfairly favoring one group.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81853-5F47-8968-2760-5B91EE4B1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EDF20B-B1DA-36AB-E3A8-01016F0F567E}"/>
              </a:ext>
            </a:extLst>
          </p:cNvPr>
          <p:cNvSpPr txBox="1"/>
          <p:nvPr/>
        </p:nvSpPr>
        <p:spPr>
          <a:xfrm>
            <a:off x="2482985" y="3782317"/>
            <a:ext cx="705012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1" dirty="0"/>
              <a:t>It’s not just about doing things right, but doing the right things, the right way, for the right reasons</a:t>
            </a:r>
          </a:p>
        </p:txBody>
      </p:sp>
    </p:spTree>
    <p:extLst>
      <p:ext uri="{BB962C8B-B14F-4D97-AF65-F5344CB8AC3E}">
        <p14:creationId xmlns:p14="http://schemas.microsoft.com/office/powerpoint/2010/main" val="1503412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74505-DBE3-374B-2D85-BE9F65CDE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8480"/>
            <a:ext cx="10515600" cy="1325563"/>
          </a:xfrm>
        </p:spPr>
        <p:txBody>
          <a:bodyPr/>
          <a:lstStyle/>
          <a:p>
            <a:r>
              <a:rPr lang="en-US" dirty="0"/>
              <a:t>Speaking About Balancing Interest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88663A2-E26A-614D-5B51-D7DE0106A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4043"/>
            <a:ext cx="10515600" cy="4060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That’s the core of IT Governance!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i="1" dirty="0"/>
              <a:t>balancing different interests, priorities, and risks to reach a common goal.</a:t>
            </a:r>
          </a:p>
        </p:txBody>
      </p:sp>
    </p:spTree>
    <p:extLst>
      <p:ext uri="{BB962C8B-B14F-4D97-AF65-F5344CB8AC3E}">
        <p14:creationId xmlns:p14="http://schemas.microsoft.com/office/powerpoint/2010/main" val="3704312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67EB4-669D-2964-CA9A-CE7628FEA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CFA84-3FFF-9272-C61F-103914FE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008"/>
          </a:xfrm>
        </p:spPr>
        <p:txBody>
          <a:bodyPr/>
          <a:lstStyle/>
          <a:p>
            <a:r>
              <a:rPr lang="en-US" dirty="0"/>
              <a:t>IT Governance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7DABD-CE1D-93D3-5553-476A19E9D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3074" name="Picture 2" descr="Lazy - Free people icons">
            <a:extLst>
              <a:ext uri="{FF2B5EF4-FFF2-40B4-BE49-F238E27FC236}">
                <a16:creationId xmlns:a16="http://schemas.microsoft.com/office/drawing/2014/main" id="{D86C48C6-F0EB-B8E4-EA12-097B2CBF3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44" y="3753924"/>
            <a:ext cx="1606684" cy="1606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Man in office desk with computer - Free People icons | Free icons, Icon  design, Computer icon">
            <a:extLst>
              <a:ext uri="{FF2B5EF4-FFF2-40B4-BE49-F238E27FC236}">
                <a16:creationId xmlns:a16="http://schemas.microsoft.com/office/drawing/2014/main" id="{493DAACE-89AD-ED7E-4527-02D55D7F7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99227" y="1497392"/>
            <a:ext cx="1535519" cy="1535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9DA1F1-AC87-B503-C5DB-E278FAF680CA}"/>
              </a:ext>
            </a:extLst>
          </p:cNvPr>
          <p:cNvSpPr txBox="1"/>
          <p:nvPr/>
        </p:nvSpPr>
        <p:spPr>
          <a:xfrm>
            <a:off x="2975852" y="1603431"/>
            <a:ext cx="81769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/>
              <a:t>“IT Governance ensures that IT supports and extends the organization’s strategies and objectives.”</a:t>
            </a:r>
            <a:br>
              <a:rPr lang="en-US" sz="2000" dirty="0"/>
            </a:br>
            <a:r>
              <a:rPr lang="en-US" sz="2000" dirty="0"/>
              <a:t>It focuses on value delivery, risk management, performance measurement, and resource optimization.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BF9804-6CC1-721B-3A74-ECDF4BAB1BAB}"/>
              </a:ext>
            </a:extLst>
          </p:cNvPr>
          <p:cNvSpPr txBox="1"/>
          <p:nvPr/>
        </p:nvSpPr>
        <p:spPr>
          <a:xfrm>
            <a:off x="2975852" y="4088983"/>
            <a:ext cx="83779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IT Governance is about how technology decisions and activities are guided and monitored so that IT supports the organization’s goals.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B0712C-D961-ED15-32E8-8895CDCD4091}"/>
              </a:ext>
            </a:extLst>
          </p:cNvPr>
          <p:cNvSpPr txBox="1"/>
          <p:nvPr/>
        </p:nvSpPr>
        <p:spPr>
          <a:xfrm>
            <a:off x="1857982" y="5751670"/>
            <a:ext cx="84727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IT Governance = making sure IT does the right things, the right way, for the right reasons.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3851724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1DA77-C9C9-5A83-BD49-9C9E38888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CF5EC-D2C8-1867-C390-BCE886E72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008"/>
          </a:xfrm>
        </p:spPr>
        <p:txBody>
          <a:bodyPr/>
          <a:lstStyle/>
          <a:p>
            <a:r>
              <a:rPr lang="en-US" dirty="0"/>
              <a:t>Suppose You are A Pirate Now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49ABE-4136-9DBB-7F02-C1A88480B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9" name="Picture 8" descr="A person in a pirate garment&#10;&#10;AI-generated content may be incorrect.">
            <a:extLst>
              <a:ext uri="{FF2B5EF4-FFF2-40B4-BE49-F238E27FC236}">
                <a16:creationId xmlns:a16="http://schemas.microsoft.com/office/drawing/2014/main" id="{D0ACA0C4-08DA-773A-DB43-8493B0CB5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146" y="1468876"/>
            <a:ext cx="2631399" cy="39202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234FD9-B966-9F28-EB68-4775AF2D4083}"/>
              </a:ext>
            </a:extLst>
          </p:cNvPr>
          <p:cNvSpPr txBox="1"/>
          <p:nvPr/>
        </p:nvSpPr>
        <p:spPr>
          <a:xfrm>
            <a:off x="4221804" y="1603431"/>
            <a:ext cx="693095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Now, the ship has a powerful engine room — that’s your IT function.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engineers maintain the engines, patch systems, and keep everything running — that’s IT operations.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But who decides: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What kind of engine the ship should use?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How much fuel to spend?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Which route is the safest or fastest?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That’s IT Governance — the guiding compass that ensures technology supports the ship’s journey, not distracts from it.</a:t>
            </a:r>
          </a:p>
        </p:txBody>
      </p:sp>
    </p:spTree>
    <p:extLst>
      <p:ext uri="{BB962C8B-B14F-4D97-AF65-F5344CB8AC3E}">
        <p14:creationId xmlns:p14="http://schemas.microsoft.com/office/powerpoint/2010/main" val="7362485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7641E-2258-A20F-59C6-E929E60C9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Governance Is About Decision Rights in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AD6AA-0AC6-569C-0CFF-B6897680B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 defines:</a:t>
            </a:r>
          </a:p>
          <a:p>
            <a:r>
              <a:rPr lang="en-US" b="1" dirty="0"/>
              <a:t>Who makes IT decisions</a:t>
            </a:r>
            <a:r>
              <a:rPr lang="en-US" dirty="0"/>
              <a:t> (CIO, business unit, board, etc.)</a:t>
            </a:r>
          </a:p>
          <a:p>
            <a:r>
              <a:rPr lang="en-US" b="1" dirty="0"/>
              <a:t>How IT priorities are set</a:t>
            </a:r>
            <a:endParaRPr lang="en-US" dirty="0"/>
          </a:p>
          <a:p>
            <a:r>
              <a:rPr lang="en-US" b="1" dirty="0"/>
              <a:t>How resources are allocated</a:t>
            </a:r>
            <a:endParaRPr lang="en-US" dirty="0"/>
          </a:p>
          <a:p>
            <a:r>
              <a:rPr lang="en-US" b="1" dirty="0"/>
              <a:t>How performance and risks are monitored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D14E4-DAD4-0098-1AAE-03A2DB22F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9346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46A99-F4FB-C491-9BAF-1AD11A70B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CE9D8-870A-A2C5-F5F1-6CE545DC9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IT Governance Exists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3982-91CA-A41F-B36C-4E4526C15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1889"/>
            <a:ext cx="10515600" cy="4351338"/>
          </a:xfrm>
        </p:spPr>
        <p:txBody>
          <a:bodyPr/>
          <a:lstStyle/>
          <a:p>
            <a:r>
              <a:rPr lang="en-US" dirty="0"/>
              <a:t>Technology now drives nearly every business process: </a:t>
            </a:r>
            <a:r>
              <a:rPr lang="en-US" b="1" dirty="0"/>
              <a:t>more complexity, more risk, and more cost</a:t>
            </a:r>
            <a:r>
              <a:rPr lang="en-US" dirty="0"/>
              <a:t>.</a:t>
            </a:r>
          </a:p>
          <a:p>
            <a:r>
              <a:rPr lang="en-US" dirty="0"/>
              <a:t>Leaders can’t oversee every system or project directly,</a:t>
            </a:r>
            <a:br>
              <a:rPr lang="en-US" dirty="0"/>
            </a:br>
            <a:r>
              <a:rPr lang="en-US" dirty="0"/>
              <a:t>so IT Governance provides a framework of </a:t>
            </a:r>
            <a:r>
              <a:rPr lang="en-US" b="1" dirty="0"/>
              <a:t>structures, processes, and accountability</a:t>
            </a:r>
            <a:r>
              <a:rPr lang="en-US" dirty="0"/>
              <a:t> — ensuring IT investments are controlled, justified, and aligned.</a:t>
            </a:r>
          </a:p>
          <a:p>
            <a:r>
              <a:rPr lang="en-US" dirty="0"/>
              <a:t>It turns IT from a cost center into a </a:t>
            </a:r>
            <a:r>
              <a:rPr lang="en-US" b="1" dirty="0"/>
              <a:t>strategic enabler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93E61-E9EF-2694-FA46-4A326EDC5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2457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C9662-722E-FE4C-A90E-967D55FDB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Governance vs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F8100-A923-9736-905B-633127B17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#alignment</a:t>
            </a:r>
          </a:p>
        </p:txBody>
      </p:sp>
    </p:spTree>
    <p:extLst>
      <p:ext uri="{BB962C8B-B14F-4D97-AF65-F5344CB8AC3E}">
        <p14:creationId xmlns:p14="http://schemas.microsoft.com/office/powerpoint/2010/main" val="28773624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342EC-4588-C624-D31A-348822516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Governance vs Management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CF157-A039-9514-1465-517702E02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Governance and management are closely connected, but they are </a:t>
            </a:r>
            <a:r>
              <a:rPr lang="en-US" i="1" dirty="0"/>
              <a:t>not the same thing.</a:t>
            </a:r>
          </a:p>
          <a:p>
            <a:r>
              <a:rPr lang="en-US" dirty="0"/>
              <a:t>At its core:</a:t>
            </a:r>
          </a:p>
          <a:p>
            <a:pPr lvl="1"/>
            <a:r>
              <a:rPr lang="en-US" dirty="0"/>
              <a:t>Governance is about direction, control, and accountability.</a:t>
            </a:r>
          </a:p>
          <a:p>
            <a:pPr lvl="1"/>
            <a:r>
              <a:rPr lang="en-US" dirty="0"/>
              <a:t>Management is about execution, coordination, and performance.</a:t>
            </a:r>
          </a:p>
          <a:p>
            <a:r>
              <a:rPr lang="en-US" dirty="0"/>
              <a:t>Governance decides </a:t>
            </a:r>
            <a:r>
              <a:rPr lang="en-US" b="1" dirty="0"/>
              <a:t>what</a:t>
            </a:r>
            <a:r>
              <a:rPr lang="en-US" dirty="0"/>
              <a:t> should be done and </a:t>
            </a:r>
            <a:r>
              <a:rPr lang="en-US" b="1" dirty="0"/>
              <a:t>why</a:t>
            </a:r>
            <a:r>
              <a:rPr lang="en-US" dirty="0"/>
              <a:t>.</a:t>
            </a:r>
          </a:p>
          <a:p>
            <a:r>
              <a:rPr lang="en-US" dirty="0"/>
              <a:t>Management decides </a:t>
            </a:r>
            <a:r>
              <a:rPr lang="en-US" b="1" dirty="0"/>
              <a:t>how</a:t>
            </a:r>
            <a:r>
              <a:rPr lang="en-US" dirty="0"/>
              <a:t> it should be done and </a:t>
            </a:r>
            <a:r>
              <a:rPr lang="en-US" b="1" dirty="0"/>
              <a:t>makes it happen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E651F-0FEB-B084-C7FE-046CE0DF8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566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98748-F65F-5E12-76F0-0BC4FEBA1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A7BB3-AB22-9602-7221-9BDA0F97E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8381"/>
          </a:xfrm>
        </p:spPr>
        <p:txBody>
          <a:bodyPr/>
          <a:lstStyle/>
          <a:p>
            <a:r>
              <a:rPr lang="en-US" dirty="0"/>
              <a:t>⚓ The Ship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5C394-7A67-46FB-4645-3114A305D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877"/>
            <a:ext cx="10515600" cy="4708086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Imagine again our ship on the Grand Line.</a:t>
            </a:r>
          </a:p>
          <a:p>
            <a:pPr>
              <a:lnSpc>
                <a:spcPct val="100000"/>
              </a:lnSpc>
            </a:pPr>
            <a:r>
              <a:rPr lang="en-US" dirty="0"/>
              <a:t>The Captain decides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where the ship is going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why that’s the goal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what rules everyone follows</a:t>
            </a:r>
          </a:p>
          <a:p>
            <a:pPr>
              <a:lnSpc>
                <a:spcPct val="100000"/>
              </a:lnSpc>
            </a:pPr>
            <a:r>
              <a:rPr lang="en-US" dirty="0"/>
              <a:t>The Crew: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adjusts the sails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keeps the engine running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navigates through storms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0763E-F511-9622-7C54-24BA3C0BD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4B7FD2-EAC5-45AC-7F39-4AE0D2507536}"/>
              </a:ext>
            </a:extLst>
          </p:cNvPr>
          <p:cNvSpPr txBox="1"/>
          <p:nvPr/>
        </p:nvSpPr>
        <p:spPr>
          <a:xfrm>
            <a:off x="6864485" y="2529192"/>
            <a:ext cx="34922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Stencil" panose="040409050D0802020404" pitchFamily="82" charset="0"/>
              </a:rPr>
              <a:t>Governance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3C8770-4AB8-83D5-BD60-64462BC5FBD4}"/>
              </a:ext>
            </a:extLst>
          </p:cNvPr>
          <p:cNvSpPr txBox="1"/>
          <p:nvPr/>
        </p:nvSpPr>
        <p:spPr>
          <a:xfrm>
            <a:off x="6864485" y="4523362"/>
            <a:ext cx="38553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Stencil" panose="040409050D0802020404" pitchFamily="82" charset="0"/>
              </a:rPr>
              <a:t>MANAGEMENT</a:t>
            </a:r>
          </a:p>
        </p:txBody>
      </p:sp>
    </p:spTree>
    <p:extLst>
      <p:ext uri="{BB962C8B-B14F-4D97-AF65-F5344CB8AC3E}">
        <p14:creationId xmlns:p14="http://schemas.microsoft.com/office/powerpoint/2010/main" val="42708692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1E1AF-B06B-0DDE-D883-F69546CA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8AA6C-975E-F017-3FB4-EABB82468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8381"/>
          </a:xfrm>
        </p:spPr>
        <p:txBody>
          <a:bodyPr/>
          <a:lstStyle/>
          <a:p>
            <a:r>
              <a:rPr lang="en-US" dirty="0"/>
              <a:t>How They Work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DC1A6-043C-E869-37A5-A6AC48B64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877"/>
            <a:ext cx="10515600" cy="4708086"/>
          </a:xfrm>
        </p:spPr>
        <p:txBody>
          <a:bodyPr/>
          <a:lstStyle/>
          <a:p>
            <a:r>
              <a:rPr lang="en-US" dirty="0"/>
              <a:t>Governance and management are </a:t>
            </a:r>
            <a:r>
              <a:rPr lang="en-US" b="1" dirty="0"/>
              <a:t>complementary</a:t>
            </a:r>
            <a:r>
              <a:rPr lang="en-US" dirty="0"/>
              <a:t>, not hierarchical.</a:t>
            </a:r>
          </a:p>
          <a:p>
            <a:r>
              <a:rPr lang="en-US" dirty="0"/>
              <a:t>Governance provides the </a:t>
            </a:r>
            <a:r>
              <a:rPr lang="en-US" b="1" dirty="0"/>
              <a:t>framework</a:t>
            </a:r>
            <a:r>
              <a:rPr lang="en-US" dirty="0"/>
              <a:t> — vision, boundaries, and accountability.</a:t>
            </a:r>
          </a:p>
          <a:p>
            <a:r>
              <a:rPr lang="en-US" dirty="0"/>
              <a:t>Management provides the </a:t>
            </a:r>
            <a:r>
              <a:rPr lang="en-US" b="1" dirty="0"/>
              <a:t>action</a:t>
            </a:r>
            <a:r>
              <a:rPr lang="en-US" dirty="0"/>
              <a:t> — turning governance decisions into results.</a:t>
            </a:r>
          </a:p>
          <a:p>
            <a:pPr lvl="1"/>
            <a:r>
              <a:rPr lang="en-US" dirty="0"/>
              <a:t>Governance says </a:t>
            </a:r>
            <a:r>
              <a:rPr lang="en-US" i="1" dirty="0"/>
              <a:t>“We will go north.”</a:t>
            </a:r>
          </a:p>
          <a:p>
            <a:pPr lvl="1"/>
            <a:r>
              <a:rPr lang="en-US" dirty="0"/>
              <a:t>Management figures out </a:t>
            </a:r>
            <a:r>
              <a:rPr lang="en-US" i="1" dirty="0"/>
              <a:t>“How do we get there safely, efficiently, and on time?”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1E04E-0E5F-0156-0F8E-7A3694A14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794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F64B-F0AA-AF94-FBBB-EACBF2E7F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2FE1B-F019-8176-DE71-B62B9D7C9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8381"/>
          </a:xfrm>
        </p:spPr>
        <p:txBody>
          <a:bodyPr/>
          <a:lstStyle/>
          <a:p>
            <a:r>
              <a:rPr lang="en-US" dirty="0"/>
              <a:t>How They Work Together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2DA9C-51B3-2827-43C8-B7E40B91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6150" name="Picture 6" descr="Top 10 des choses à savoir sur Nami | Gear5World">
            <a:extLst>
              <a:ext uri="{FF2B5EF4-FFF2-40B4-BE49-F238E27FC236}">
                <a16:creationId xmlns:a16="http://schemas.microsoft.com/office/drawing/2014/main" id="{958A3F0F-B156-3ADC-D3DD-C7C931FE2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583" y="2639235"/>
            <a:ext cx="3142034" cy="1767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what I think about whenever luffy says &quot;lets go&quot; - YouTube">
            <a:extLst>
              <a:ext uri="{FF2B5EF4-FFF2-40B4-BE49-F238E27FC236}">
                <a16:creationId xmlns:a16="http://schemas.microsoft.com/office/drawing/2014/main" id="{6FB0DF4B-A9DF-1BEE-6EF6-47C552C602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11" r="9010"/>
          <a:stretch>
            <a:fillRect/>
          </a:stretch>
        </p:blipFill>
        <p:spPr bwMode="auto">
          <a:xfrm>
            <a:off x="1566154" y="2470825"/>
            <a:ext cx="3345461" cy="2290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4386DF-5853-3CA7-EDC5-26CB0E457618}"/>
              </a:ext>
            </a:extLst>
          </p:cNvPr>
          <p:cNvSpPr txBox="1"/>
          <p:nvPr/>
        </p:nvSpPr>
        <p:spPr>
          <a:xfrm>
            <a:off x="1985231" y="1471667"/>
            <a:ext cx="25073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“We will go north.”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ED6771-7287-CA2B-AE09-91C0C69A531B}"/>
              </a:ext>
            </a:extLst>
          </p:cNvPr>
          <p:cNvSpPr txBox="1"/>
          <p:nvPr/>
        </p:nvSpPr>
        <p:spPr>
          <a:xfrm>
            <a:off x="7001888" y="1471667"/>
            <a:ext cx="32174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“How do we get there safely, efficiently, and on time?”</a:t>
            </a:r>
          </a:p>
        </p:txBody>
      </p:sp>
    </p:spTree>
    <p:extLst>
      <p:ext uri="{BB962C8B-B14F-4D97-AF65-F5344CB8AC3E}">
        <p14:creationId xmlns:p14="http://schemas.microsoft.com/office/powerpoint/2010/main" val="26710362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39D0A-4EDB-6E40-0EF5-A972FAFDD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881BC-3254-DC52-63D9-A35129872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18380"/>
          </a:xfrm>
        </p:spPr>
        <p:txBody>
          <a:bodyPr>
            <a:normAutofit/>
          </a:bodyPr>
          <a:lstStyle/>
          <a:p>
            <a:r>
              <a:rPr lang="en-US" dirty="0"/>
              <a:t>COBIT</a:t>
            </a:r>
            <a:br>
              <a:rPr lang="en-US" dirty="0"/>
            </a:br>
            <a:r>
              <a:rPr lang="en-US" dirty="0"/>
              <a:t>IT Governance and Management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C0443-7E25-6CAF-682D-E623A4A97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7170" name="Picture 2" descr="Industry News 2018 A New COBIT Is in Town and I Really Like How It Looks">
            <a:extLst>
              <a:ext uri="{FF2B5EF4-FFF2-40B4-BE49-F238E27FC236}">
                <a16:creationId xmlns:a16="http://schemas.microsoft.com/office/drawing/2014/main" id="{765E9312-4359-754D-74A0-D9309E201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16969"/>
            <a:ext cx="10186395" cy="3290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11475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AFCF4-BFAA-23DF-EB1D-E56AD6E07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Understanding COBIT Framework: Definition, Components, and Benefits -  CyberTalents">
            <a:extLst>
              <a:ext uri="{FF2B5EF4-FFF2-40B4-BE49-F238E27FC236}">
                <a16:creationId xmlns:a16="http://schemas.microsoft.com/office/drawing/2014/main" id="{97513380-5F0C-BA46-33D9-304554373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653" y="1484683"/>
            <a:ext cx="8529680" cy="472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44D2E5-8856-DBD5-D8A0-B5ED5DB32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18380"/>
          </a:xfrm>
        </p:spPr>
        <p:txBody>
          <a:bodyPr>
            <a:normAutofit/>
          </a:bodyPr>
          <a:lstStyle/>
          <a:p>
            <a:r>
              <a:rPr lang="en-US" dirty="0"/>
              <a:t>COBIT</a:t>
            </a:r>
            <a:br>
              <a:rPr lang="en-US" dirty="0"/>
            </a:br>
            <a:r>
              <a:rPr lang="en-US" dirty="0"/>
              <a:t>IT Governance and Management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8F327-5A65-2BA0-314E-A15114F38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7263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BDFF-B4B4-3CEB-104E-CD2180BE8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Serba-</a:t>
            </a:r>
            <a:r>
              <a:rPr lang="en-US" dirty="0" err="1"/>
              <a:t>Serbi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7977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17A95-73F5-59D1-BC02-89267215C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741"/>
            <a:ext cx="10515600" cy="987020"/>
          </a:xfrm>
        </p:spPr>
        <p:txBody>
          <a:bodyPr/>
          <a:lstStyle/>
          <a:p>
            <a:r>
              <a:rPr lang="en-US" dirty="0"/>
              <a:t>Governance in One Piece World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EFF2222-3083-4BD9-24E4-E47B92F8E0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4876238"/>
              </p:ext>
            </p:extLst>
          </p:nvPr>
        </p:nvGraphicFramePr>
        <p:xfrm>
          <a:off x="935868" y="1352145"/>
          <a:ext cx="9161442" cy="4661608"/>
        </p:xfrm>
        <a:graphic>
          <a:graphicData uri="http://schemas.openxmlformats.org/drawingml/2006/table">
            <a:tbl>
              <a:tblPr/>
              <a:tblGrid>
                <a:gridCol w="3053814">
                  <a:extLst>
                    <a:ext uri="{9D8B030D-6E8A-4147-A177-3AD203B41FA5}">
                      <a16:colId xmlns:a16="http://schemas.microsoft.com/office/drawing/2014/main" val="991434285"/>
                    </a:ext>
                  </a:extLst>
                </a:gridCol>
                <a:gridCol w="3053814">
                  <a:extLst>
                    <a:ext uri="{9D8B030D-6E8A-4147-A177-3AD203B41FA5}">
                      <a16:colId xmlns:a16="http://schemas.microsoft.com/office/drawing/2014/main" val="2952660928"/>
                    </a:ext>
                  </a:extLst>
                </a:gridCol>
                <a:gridCol w="3053814">
                  <a:extLst>
                    <a:ext uri="{9D8B030D-6E8A-4147-A177-3AD203B41FA5}">
                      <a16:colId xmlns:a16="http://schemas.microsoft.com/office/drawing/2014/main" val="3529510089"/>
                    </a:ext>
                  </a:extLst>
                </a:gridCol>
              </a:tblGrid>
              <a:tr h="461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Governance Element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One Piece Example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Explanation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447172"/>
                  </a:ext>
                </a:extLst>
              </a:tr>
              <a:tr h="544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Vision / Goal</a:t>
                      </a:r>
                      <a:endParaRPr lang="en-US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i="1"/>
                        <a:t>Find the One Piece and make Luffy the Pirate King</a:t>
                      </a:r>
                      <a:endParaRPr lang="en-US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/>
                        <a:t>Every organization needs a clear purpose and direction.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978765"/>
                  </a:ext>
                </a:extLst>
              </a:tr>
              <a:tr h="778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Governing Body</a:t>
                      </a:r>
                      <a:endParaRPr lang="en-US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i="1" dirty="0"/>
                        <a:t>Luffy (Captain) and core crew leaders (Zoro, Nami, Robin)</a:t>
                      </a:r>
                      <a:endParaRPr lang="en-US" sz="150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/>
                        <a:t>They set direction, make decisions, and ensure everyone stays aligned.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724735"/>
                  </a:ext>
                </a:extLst>
              </a:tr>
              <a:tr h="778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Structure &amp; Roles</a:t>
                      </a:r>
                      <a:endParaRPr lang="en-US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i="1"/>
                        <a:t>Each crew member has a defined role</a:t>
                      </a:r>
                      <a:r>
                        <a:rPr lang="en-US" sz="1500"/>
                        <a:t> — navigator (Nami), cook (Sanji), doctor (Chopper), etc.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/>
                        <a:t>Governance defines who does what — clear roles and responsibilities.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982391"/>
                  </a:ext>
                </a:extLst>
              </a:tr>
              <a:tr h="544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Rules &amp; Culture</a:t>
                      </a:r>
                      <a:endParaRPr lang="en-US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i="1"/>
                        <a:t>Crew’s code of loyalty, respect, and freedom</a:t>
                      </a:r>
                      <a:endParaRPr lang="en-US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/>
                        <a:t>Governance creates the values and rules that guide behavior.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2293004"/>
                  </a:ext>
                </a:extLst>
              </a:tr>
              <a:tr h="778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Accountability &amp; Oversight</a:t>
                      </a:r>
                      <a:endParaRPr lang="en-US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i="1"/>
                        <a:t>Luffy trusts his crew but steps in when something goes wrong</a:t>
                      </a:r>
                      <a:endParaRPr lang="en-US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/>
                        <a:t>Governance is about trust with accountability, not micromanagement.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641831"/>
                  </a:ext>
                </a:extLst>
              </a:tr>
              <a:tr h="778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Risk &amp; Change Management</a:t>
                      </a:r>
                      <a:endParaRPr lang="en-US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i="1"/>
                        <a:t>Adapting to new seas, Marines, or enemies</a:t>
                      </a:r>
                      <a:endParaRPr lang="en-US" sz="15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/>
                        <a:t>Governance ensures the crew anticipates risks and adapts responsibly.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2761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560F1-63C4-9B43-60E5-66657E6E5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62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ource Serif Pro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d6fb366-8322-46f3-915e-c4d037a454a9}" enabled="0" method="" siteId="{ed6fb366-8322-46f3-915e-c4d037a454a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3325</TotalTime>
  <Words>1430</Words>
  <Application>Microsoft Office PowerPoint</Application>
  <PresentationFormat>Widescreen</PresentationFormat>
  <Paragraphs>217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Batang</vt:lpstr>
      <vt:lpstr>Arial</vt:lpstr>
      <vt:lpstr>Britannic Bold</vt:lpstr>
      <vt:lpstr>Calibri</vt:lpstr>
      <vt:lpstr>Monotype Corsiva</vt:lpstr>
      <vt:lpstr>Segoe UI</vt:lpstr>
      <vt:lpstr>Source Serif Pro Black</vt:lpstr>
      <vt:lpstr>Stencil</vt:lpstr>
      <vt:lpstr>Office Theme</vt:lpstr>
      <vt:lpstr>IT Governance</vt:lpstr>
      <vt:lpstr>PowerPoint Presentation</vt:lpstr>
      <vt:lpstr>Getting To Know</vt:lpstr>
      <vt:lpstr>PowerPoint Presentation</vt:lpstr>
      <vt:lpstr>Now, Who Are you?</vt:lpstr>
      <vt:lpstr>Class Overview</vt:lpstr>
      <vt:lpstr>Class Roadmap</vt:lpstr>
      <vt:lpstr>Aktivitas Kelas</vt:lpstr>
      <vt:lpstr>Class Logistic</vt:lpstr>
      <vt:lpstr>Do’s </vt:lpstr>
      <vt:lpstr>Don’t</vt:lpstr>
      <vt:lpstr>IT Governance: Concept</vt:lpstr>
      <vt:lpstr>What is the difference between Information Technology (IT) and Information System (IS)?</vt:lpstr>
      <vt:lpstr>Information System &amp; Information Technology</vt:lpstr>
      <vt:lpstr>What is Governance?</vt:lpstr>
      <vt:lpstr>PowerPoint Presentation</vt:lpstr>
      <vt:lpstr>Governance</vt:lpstr>
      <vt:lpstr>Governance Is About Decision Rights</vt:lpstr>
      <vt:lpstr>Governance Exists Because Control Is Needed Without Constant Supervision</vt:lpstr>
      <vt:lpstr>Governance Is About Balancing Interests</vt:lpstr>
      <vt:lpstr>Speaking About Balancing Interest</vt:lpstr>
      <vt:lpstr>IT Governance</vt:lpstr>
      <vt:lpstr>Suppose You are A Pirate Now</vt:lpstr>
      <vt:lpstr>IT Governance Is About Decision Rights in IT</vt:lpstr>
      <vt:lpstr>Why IT Governance Exists</vt:lpstr>
      <vt:lpstr>Governance vs Management</vt:lpstr>
      <vt:lpstr>Governance vs Management</vt:lpstr>
      <vt:lpstr>⚓ The Ship Analogy</vt:lpstr>
      <vt:lpstr>How They Work Together</vt:lpstr>
      <vt:lpstr>How They Work Together</vt:lpstr>
      <vt:lpstr>COBIT IT Governance and Management Framework</vt:lpstr>
      <vt:lpstr>COBIT IT Governance and Management Framework</vt:lpstr>
      <vt:lpstr>Serba-Serbi</vt:lpstr>
      <vt:lpstr>Governance in One Piece World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dan Peran SI &amp; TI</dc:title>
  <dc:creator>Teuku Raja Irfan Radarma</dc:creator>
  <cp:lastModifiedBy>Teuku Raja Irfan Radarma</cp:lastModifiedBy>
  <cp:revision>1</cp:revision>
  <dcterms:created xsi:type="dcterms:W3CDTF">2023-09-18T04:21:25Z</dcterms:created>
  <dcterms:modified xsi:type="dcterms:W3CDTF">2026-06-03T04:00:23Z</dcterms:modified>
</cp:coreProperties>
</file>