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3"/>
  </p:notesMasterIdLst>
  <p:sldIdLst>
    <p:sldId id="262" r:id="rId5"/>
    <p:sldId id="260" r:id="rId6"/>
    <p:sldId id="508" r:id="rId7"/>
    <p:sldId id="304" r:id="rId8"/>
    <p:sldId id="263" r:id="rId9"/>
    <p:sldId id="264" r:id="rId10"/>
    <p:sldId id="463" r:id="rId11"/>
    <p:sldId id="479" r:id="rId12"/>
    <p:sldId id="464" r:id="rId13"/>
    <p:sldId id="465" r:id="rId14"/>
    <p:sldId id="466" r:id="rId15"/>
    <p:sldId id="467" r:id="rId16"/>
    <p:sldId id="473" r:id="rId17"/>
    <p:sldId id="474" r:id="rId18"/>
    <p:sldId id="478" r:id="rId19"/>
    <p:sldId id="480" r:id="rId20"/>
    <p:sldId id="477" r:id="rId21"/>
    <p:sldId id="476" r:id="rId22"/>
    <p:sldId id="481" r:id="rId23"/>
    <p:sldId id="482" r:id="rId24"/>
    <p:sldId id="509" r:id="rId25"/>
    <p:sldId id="483" r:id="rId26"/>
    <p:sldId id="468" r:id="rId27"/>
    <p:sldId id="484" r:id="rId28"/>
    <p:sldId id="488" r:id="rId29"/>
    <p:sldId id="485" r:id="rId30"/>
    <p:sldId id="486" r:id="rId31"/>
    <p:sldId id="469" r:id="rId32"/>
    <p:sldId id="487" r:id="rId33"/>
    <p:sldId id="490" r:id="rId34"/>
    <p:sldId id="491" r:id="rId35"/>
    <p:sldId id="470" r:id="rId36"/>
    <p:sldId id="489" r:id="rId37"/>
    <p:sldId id="492" r:id="rId38"/>
    <p:sldId id="493" r:id="rId39"/>
    <p:sldId id="471" r:id="rId40"/>
    <p:sldId id="494" r:id="rId41"/>
    <p:sldId id="495" r:id="rId42"/>
    <p:sldId id="496" r:id="rId43"/>
    <p:sldId id="497" r:id="rId44"/>
    <p:sldId id="498" r:id="rId45"/>
    <p:sldId id="499" r:id="rId46"/>
    <p:sldId id="507" r:id="rId47"/>
    <p:sldId id="472" r:id="rId48"/>
    <p:sldId id="500" r:id="rId49"/>
    <p:sldId id="501" r:id="rId50"/>
    <p:sldId id="502" r:id="rId51"/>
    <p:sldId id="503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0A7B0F1-F8DC-46E7-AE20-6D629E76D8DB}"/>
    <pc:docChg chg="addSld delSld modSld">
      <pc:chgData name="Teuku Raja Irfan Radarma" userId="cf428174-95ba-4576-8554-3a3b8ffa52b7" providerId="ADAL" clId="{60A7B0F1-F8DC-46E7-AE20-6D629E76D8DB}" dt="2026-08-24T03:19:03.122" v="177" actId="20577"/>
      <pc:docMkLst>
        <pc:docMk/>
      </pc:docMkLst>
      <pc:sldChg chg="del">
        <pc:chgData name="Teuku Raja Irfan Radarma" userId="cf428174-95ba-4576-8554-3a3b8ffa52b7" providerId="ADAL" clId="{60A7B0F1-F8DC-46E7-AE20-6D629E76D8DB}" dt="2026-08-23T01:01:47.632" v="4" actId="47"/>
        <pc:sldMkLst>
          <pc:docMk/>
          <pc:sldMk cId="4030995347" sldId="257"/>
        </pc:sldMkLst>
      </pc:sldChg>
      <pc:sldChg chg="modSp mod">
        <pc:chgData name="Teuku Raja Irfan Radarma" userId="cf428174-95ba-4576-8554-3a3b8ffa52b7" providerId="ADAL" clId="{60A7B0F1-F8DC-46E7-AE20-6D629E76D8DB}" dt="2026-08-24T03:19:03.122" v="17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0A7B0F1-F8DC-46E7-AE20-6D629E76D8DB}" dt="2026-08-24T03:19:03.122" v="17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del">
        <pc:chgData name="Teuku Raja Irfan Radarma" userId="cf428174-95ba-4576-8554-3a3b8ffa52b7" providerId="ADAL" clId="{60A7B0F1-F8DC-46E7-AE20-6D629E76D8DB}" dt="2026-08-23T01:02:06.297" v="5" actId="47"/>
        <pc:sldMkLst>
          <pc:docMk/>
          <pc:sldMk cId="3404562138" sldId="305"/>
        </pc:sldMkLst>
      </pc:sldChg>
      <pc:sldChg chg="modSp mod">
        <pc:chgData name="Teuku Raja Irfan Radarma" userId="cf428174-95ba-4576-8554-3a3b8ffa52b7" providerId="ADAL" clId="{60A7B0F1-F8DC-46E7-AE20-6D629E76D8DB}" dt="2026-08-23T01:43:50.844" v="167" actId="20577"/>
        <pc:sldMkLst>
          <pc:docMk/>
          <pc:sldMk cId="4265093686" sldId="489"/>
        </pc:sldMkLst>
        <pc:spChg chg="mod">
          <ac:chgData name="Teuku Raja Irfan Radarma" userId="cf428174-95ba-4576-8554-3a3b8ffa52b7" providerId="ADAL" clId="{60A7B0F1-F8DC-46E7-AE20-6D629E76D8DB}" dt="2026-08-23T01:43:50.844" v="167" actId="20577"/>
          <ac:spMkLst>
            <pc:docMk/>
            <pc:sldMk cId="4265093686" sldId="489"/>
            <ac:spMk id="7" creationId="{81A56C8A-449E-489D-B488-521BCB909B81}"/>
          </ac:spMkLst>
        </pc:spChg>
      </pc:sldChg>
      <pc:sldChg chg="modSp mod">
        <pc:chgData name="Teuku Raja Irfan Radarma" userId="cf428174-95ba-4576-8554-3a3b8ffa52b7" providerId="ADAL" clId="{60A7B0F1-F8DC-46E7-AE20-6D629E76D8DB}" dt="2026-08-23T01:45:36.638" v="174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60A7B0F1-F8DC-46E7-AE20-6D629E76D8DB}" dt="2026-08-23T01:45:36.638" v="174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60A7B0F1-F8DC-46E7-AE20-6D629E76D8DB}" dt="2026-08-23T01:45:39.264" v="175" actId="47"/>
        <pc:sldMkLst>
          <pc:docMk/>
          <pc:sldMk cId="118148788" sldId="504"/>
        </pc:sldMkLst>
      </pc:sldChg>
      <pc:sldChg chg="modSp add mod">
        <pc:chgData name="Teuku Raja Irfan Radarma" userId="cf428174-95ba-4576-8554-3a3b8ffa52b7" providerId="ADAL" clId="{60A7B0F1-F8DC-46E7-AE20-6D629E76D8DB}" dt="2026-08-23T01:01:45.196" v="3" actId="113"/>
        <pc:sldMkLst>
          <pc:docMk/>
          <pc:sldMk cId="83956211" sldId="508"/>
        </pc:sldMkLst>
        <pc:spChg chg="mod">
          <ac:chgData name="Teuku Raja Irfan Radarma" userId="cf428174-95ba-4576-8554-3a3b8ffa52b7" providerId="ADAL" clId="{60A7B0F1-F8DC-46E7-AE20-6D629E76D8DB}" dt="2026-08-23T01:01:45.196" v="3" actId="113"/>
          <ac:spMkLst>
            <pc:docMk/>
            <pc:sldMk cId="83956211" sldId="508"/>
            <ac:spMk id="4" creationId="{6C09DF7A-9B78-AB11-FA80-26BA72C3D29B}"/>
          </ac:spMkLst>
        </pc:spChg>
      </pc:sldChg>
      <pc:sldChg chg="modSp add mod">
        <pc:chgData name="Teuku Raja Irfan Radarma" userId="cf428174-95ba-4576-8554-3a3b8ffa52b7" providerId="ADAL" clId="{60A7B0F1-F8DC-46E7-AE20-6D629E76D8DB}" dt="2026-08-23T01:42:28.224" v="165" actId="20577"/>
        <pc:sldMkLst>
          <pc:docMk/>
          <pc:sldMk cId="2942660999" sldId="509"/>
        </pc:sldMkLst>
        <pc:spChg chg="mod">
          <ac:chgData name="Teuku Raja Irfan Radarma" userId="cf428174-95ba-4576-8554-3a3b8ffa52b7" providerId="ADAL" clId="{60A7B0F1-F8DC-46E7-AE20-6D629E76D8DB}" dt="2026-08-23T01:41:42.402" v="35" actId="20577"/>
          <ac:spMkLst>
            <pc:docMk/>
            <pc:sldMk cId="2942660999" sldId="509"/>
            <ac:spMk id="7" creationId="{22083510-85A6-49E2-BD19-7450D7D568A5}"/>
          </ac:spMkLst>
        </pc:spChg>
        <pc:spChg chg="mod">
          <ac:chgData name="Teuku Raja Irfan Radarma" userId="cf428174-95ba-4576-8554-3a3b8ffa52b7" providerId="ADAL" clId="{60A7B0F1-F8DC-46E7-AE20-6D629E76D8DB}" dt="2026-08-23T01:42:05.143" v="109" actId="20577"/>
          <ac:spMkLst>
            <pc:docMk/>
            <pc:sldMk cId="2942660999" sldId="509"/>
            <ac:spMk id="8" creationId="{EDAC17C3-0CA6-4166-A260-C3DB50C79D21}"/>
          </ac:spMkLst>
        </pc:spChg>
        <pc:spChg chg="mod">
          <ac:chgData name="Teuku Raja Irfan Radarma" userId="cf428174-95ba-4576-8554-3a3b8ffa52b7" providerId="ADAL" clId="{60A7B0F1-F8DC-46E7-AE20-6D629E76D8DB}" dt="2026-08-23T01:42:28.224" v="165" actId="20577"/>
          <ac:spMkLst>
            <pc:docMk/>
            <pc:sldMk cId="2942660999" sldId="509"/>
            <ac:spMk id="9" creationId="{11A4C905-2AE6-4086-8C1C-5EA05BD332E2}"/>
          </ac:spMkLst>
        </pc:spChg>
      </pc:sld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Information Asset Security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2050987-8CC6-442F-88E1-8386779A2F31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0" b="39442"/>
          <a:stretch/>
        </p:blipFill>
        <p:spPr bwMode="auto">
          <a:xfrm>
            <a:off x="0" y="0"/>
            <a:ext cx="12192000" cy="318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Practicum on Domain 3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Navigating International Standards (GTAG)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 Prep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Protection of Information Assets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Protection of Information Assets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 for Auditing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Case Study: 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 Prep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83956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and its audit concept through COBIT 2019 standard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  <a:p>
            <a:r>
              <a:rPr lang="en-US" sz="2000" dirty="0"/>
              <a:t>How to make sure the system is running well and prevented to have prolonged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908461" y="4027567"/>
            <a:ext cx="79802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Protection of Information and Assets</a:t>
            </a:r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</a:t>
            </a:r>
            <a:r>
              <a:rPr lang="en-ID" dirty="0"/>
              <a:t>The Big Story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Why and What We Protect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Trust and Responsibility Over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Access to the City: Who May Enter</a:t>
            </a:r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Defending the Infrastructure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Protecting the Data Itself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Modern Computing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#protect #control #trust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463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Before we go into details, this chapter answers one big question: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CA763A6-BCD0-4198-855E-C521C67F6F40}"/>
              </a:ext>
            </a:extLst>
          </p:cNvPr>
          <p:cNvSpPr txBox="1">
            <a:spLocks/>
          </p:cNvSpPr>
          <p:nvPr/>
        </p:nvSpPr>
        <p:spPr>
          <a:xfrm>
            <a:off x="1206335" y="2806885"/>
            <a:ext cx="9588335" cy="23841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4400" dirty="0"/>
              <a:t>How does an organization design and implement controls to protect information assets?</a:t>
            </a:r>
            <a:endParaRPr lang="en-ID" sz="4400" dirty="0"/>
          </a:p>
        </p:txBody>
      </p:sp>
    </p:spTree>
    <p:extLst>
      <p:ext uri="{BB962C8B-B14F-4D97-AF65-F5344CB8AC3E}">
        <p14:creationId xmlns:p14="http://schemas.microsoft.com/office/powerpoint/2010/main" val="212132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7A5FA-6A2A-454B-AFE1-267BB793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781"/>
            <a:ext cx="10515600" cy="1296988"/>
          </a:xfrm>
        </p:spPr>
        <p:txBody>
          <a:bodyPr/>
          <a:lstStyle/>
          <a:p>
            <a:r>
              <a:rPr lang="en-US" dirty="0"/>
              <a:t>Let’s Protect the City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F441-FCA5-4060-B93C-BB745E2B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01FA17-A283-4D87-B650-2D6EF447F6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3" r="223" b="8811"/>
          <a:stretch/>
        </p:blipFill>
        <p:spPr>
          <a:xfrm>
            <a:off x="6405250" y="782740"/>
            <a:ext cx="4948550" cy="490844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99956A-F09C-4790-B2DB-03681EE01DFD}"/>
              </a:ext>
            </a:extLst>
          </p:cNvPr>
          <p:cNvSpPr txBox="1">
            <a:spLocks/>
          </p:cNvSpPr>
          <p:nvPr/>
        </p:nvSpPr>
        <p:spPr>
          <a:xfrm>
            <a:off x="838201" y="1578769"/>
            <a:ext cx="5169694" cy="3888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dirty="0"/>
              <a:t>I recently have been playing Age of Empires II.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This game incorporates the skills on how to defend our base/city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Let’s see what we can do to protect the city</a:t>
            </a:r>
            <a:endParaRPr lang="en-ID" sz="2000" dirty="0"/>
          </a:p>
        </p:txBody>
      </p:sp>
    </p:spTree>
    <p:extLst>
      <p:ext uri="{BB962C8B-B14F-4D97-AF65-F5344CB8AC3E}">
        <p14:creationId xmlns:p14="http://schemas.microsoft.com/office/powerpoint/2010/main" val="387560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A vs Part B of Chapter 5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8197" y="1611868"/>
            <a:ext cx="6733310" cy="3910157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focusing on: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Design of protection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Preventive and foundational controls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Trust, access, and safeguarding mechanisms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NOT yet covering: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Attacks and hacking techniques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Security monitoring and testing tools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Incident response and forensics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2050" name="Picture 2" descr="Check ">
            <a:extLst>
              <a:ext uri="{FF2B5EF4-FFF2-40B4-BE49-F238E27FC236}">
                <a16:creationId xmlns:a16="http://schemas.microsoft.com/office/drawing/2014/main" id="{1CA06875-C040-4752-8762-DDD1A28E1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1690688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touch ">
            <a:extLst>
              <a:ext uri="{FF2B5EF4-FFF2-40B4-BE49-F238E27FC236}">
                <a16:creationId xmlns:a16="http://schemas.microsoft.com/office/drawing/2014/main" id="{EA462519-8909-4864-931A-F1D0EFDC0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398944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366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8657"/>
          </a:xfrm>
        </p:spPr>
        <p:txBody>
          <a:bodyPr/>
          <a:lstStyle/>
          <a:p>
            <a:r>
              <a:rPr lang="en-US" dirty="0"/>
              <a:t>Part A vs Part B Topics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BCCA4-2F0E-4658-A706-A2FBE16CD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98" y="1444778"/>
            <a:ext cx="5525530" cy="478161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dirty="0"/>
              <a:t>Part A: Information Asset Security and Control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Information Asset Security Frameworks, Standards, &amp; Guidelines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Privacy Principles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Physical Access and Environmental Controls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Identity and Access Management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Network and End-point Security 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Classification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Encryption and Encryption-related Techniques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Public Key Infrastructure (PKI)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Web-based Communication Technologies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 Virtualized Environments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Mobile, Wireless, and Internet-of-Things (IOT) Devices</a:t>
            </a:r>
            <a:endParaRPr lang="en-ID" sz="1600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5098EB1-A1AB-4306-8A19-B3F813C8EB57}"/>
              </a:ext>
            </a:extLst>
          </p:cNvPr>
          <p:cNvSpPr txBox="1">
            <a:spLocks/>
          </p:cNvSpPr>
          <p:nvPr/>
        </p:nvSpPr>
        <p:spPr>
          <a:xfrm>
            <a:off x="6546352" y="1399189"/>
            <a:ext cx="5100451" cy="478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ID" sz="2000" b="1" dirty="0"/>
              <a:t>Part B: Security Event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Awareness Training and Programs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Information System Attack Methods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Testing Tools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Monitoring Tools and Techniques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Incident Response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Evidence Collection and Forensics</a:t>
            </a:r>
            <a:endParaRPr lang="en-ID" sz="2400" dirty="0"/>
          </a:p>
        </p:txBody>
      </p:sp>
    </p:spTree>
    <p:extLst>
      <p:ext uri="{BB962C8B-B14F-4D97-AF65-F5344CB8AC3E}">
        <p14:creationId xmlns:p14="http://schemas.microsoft.com/office/powerpoint/2010/main" val="3204734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95542-24DB-4A94-A6A7-4DB7B1847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7391"/>
            <a:ext cx="10515600" cy="641951"/>
          </a:xfrm>
        </p:spPr>
        <p:txBody>
          <a:bodyPr/>
          <a:lstStyle/>
          <a:p>
            <a:r>
              <a:rPr lang="en-US" dirty="0"/>
              <a:t>Part A Topics’ Brief Explanation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11AD8-CD58-4D3E-B17E-3D4CA6187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7FDEDBC-53CE-4957-928C-122628A0C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76501"/>
              </p:ext>
            </p:extLst>
          </p:nvPr>
        </p:nvGraphicFramePr>
        <p:xfrm>
          <a:off x="838200" y="1119293"/>
          <a:ext cx="10778066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949">
                  <a:extLst>
                    <a:ext uri="{9D8B030D-6E8A-4147-A177-3AD203B41FA5}">
                      <a16:colId xmlns:a16="http://schemas.microsoft.com/office/drawing/2014/main" val="3896105164"/>
                    </a:ext>
                  </a:extLst>
                </a:gridCol>
                <a:gridCol w="3405869">
                  <a:extLst>
                    <a:ext uri="{9D8B030D-6E8A-4147-A177-3AD203B41FA5}">
                      <a16:colId xmlns:a16="http://schemas.microsoft.com/office/drawing/2014/main" val="1827471737"/>
                    </a:ext>
                  </a:extLst>
                </a:gridCol>
                <a:gridCol w="6777248">
                  <a:extLst>
                    <a:ext uri="{9D8B030D-6E8A-4147-A177-3AD203B41FA5}">
                      <a16:colId xmlns:a16="http://schemas.microsoft.com/office/drawing/2014/main" val="680779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Topics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Brief Explanation</a:t>
                      </a:r>
                      <a:endParaRPr lang="en-ID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646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Security 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Rules before tools</a:t>
                      </a:r>
                      <a:r>
                        <a:rPr lang="en-US" sz="1600" dirty="0"/>
                        <a:t>: protection must be structured and intentional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037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Privacy Principles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Respect the citizen</a:t>
                      </a:r>
                      <a:r>
                        <a:rPr lang="en-US" sz="1600" dirty="0"/>
                        <a:t>: personal data must be handled with care and purpose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872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Physical &amp; Environmental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Protect the buildings</a:t>
                      </a:r>
                      <a:r>
                        <a:rPr lang="en-US" sz="1600" dirty="0"/>
                        <a:t>: no digital security works if the room burns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007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Identity &amp; Access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Only the right people get the keys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77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Network &amp; 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Defend the walls and houses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2911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Data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Not all valuables need the same lock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492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Encryption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Even if stolen, it stays unreadable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49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Trust needs a trusted third party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993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Web-based Technologies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Public-facing systems need extra caution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72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10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Virtualized Environments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Shared buildings need strong separation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9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Mobile, Wireless &amp; IoT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Assets now move beyond the city walls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775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0170CC7-0871-4B34-AA67-7116A4ECE4BC}"/>
              </a:ext>
            </a:extLst>
          </p:cNvPr>
          <p:cNvSpPr txBox="1"/>
          <p:nvPr/>
        </p:nvSpPr>
        <p:spPr>
          <a:xfrm>
            <a:off x="660400" y="5660145"/>
            <a:ext cx="1087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Part A is about </a:t>
            </a:r>
            <a:r>
              <a:rPr lang="en-US" b="1" dirty="0"/>
              <a:t>building protection correctly</a:t>
            </a:r>
            <a:r>
              <a:rPr lang="en-US" dirty="0"/>
              <a:t>—before testing, monitoring, or responding to incidents.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40397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What and Why We Protect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2000" dirty="0"/>
              <a:t>Setting the rules and defining what matters</a:t>
            </a:r>
          </a:p>
        </p:txBody>
      </p:sp>
    </p:spTree>
    <p:extLst>
      <p:ext uri="{BB962C8B-B14F-4D97-AF65-F5344CB8AC3E}">
        <p14:creationId xmlns:p14="http://schemas.microsoft.com/office/powerpoint/2010/main" val="349334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81037"/>
          </a:xfrm>
        </p:spPr>
        <p:txBody>
          <a:bodyPr/>
          <a:lstStyle/>
          <a:p>
            <a:r>
              <a:rPr lang="en-US" dirty="0"/>
              <a:t>What Is an Information Asset?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64"/>
            <a:ext cx="5641181" cy="47656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An information asset is anything that supports business value through information.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Examples: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(customer, financial, employee)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Applications (ERP, HR, core systems)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Infrastructure (servers, networks)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Identities &amp; credentials</a:t>
            </a:r>
          </a:p>
          <a:p>
            <a:pPr marL="0" indent="0">
              <a:lnSpc>
                <a:spcPct val="100000"/>
              </a:lnSpc>
              <a:buNone/>
            </a:pP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95104A-DBF8-4FF1-A288-BE6407764EF5}"/>
              </a:ext>
            </a:extLst>
          </p:cNvPr>
          <p:cNvSpPr/>
          <p:nvPr/>
        </p:nvSpPr>
        <p:spPr>
          <a:xfrm>
            <a:off x="6618172" y="5496885"/>
            <a:ext cx="49695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Inside the city, not everything has the same value</a:t>
            </a:r>
            <a:endParaRPr lang="en-ID" sz="1400" dirty="0">
              <a:solidFill>
                <a:sysClr val="windowText" lastClr="0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6CA200-E3BA-43DF-90C3-C1ABC8A77D2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590" b="9063"/>
          <a:stretch/>
        </p:blipFill>
        <p:spPr>
          <a:xfrm>
            <a:off x="6618172" y="1178552"/>
            <a:ext cx="4735628" cy="428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164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4142"/>
          </a:xfrm>
        </p:spPr>
        <p:txBody>
          <a:bodyPr/>
          <a:lstStyle/>
          <a:p>
            <a:r>
              <a:rPr lang="en-US" dirty="0"/>
              <a:t>Why Knowing This Matters?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cannot protect what you do not recognize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Overprotection wastes resources; </a:t>
            </a:r>
            <a:r>
              <a:rPr lang="en-US" dirty="0" err="1"/>
              <a:t>underprotection</a:t>
            </a:r>
            <a:r>
              <a:rPr lang="en-US" dirty="0"/>
              <a:t> creates risk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Keywords: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Value</a:t>
            </a:r>
            <a:r>
              <a:rPr lang="en-US" dirty="0"/>
              <a:t> – Why does it matter?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Ownership</a:t>
            </a:r>
            <a:r>
              <a:rPr lang="en-US" dirty="0"/>
              <a:t> – Who is responsible?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Risk</a:t>
            </a:r>
            <a:r>
              <a:rPr lang="en-US" dirty="0"/>
              <a:t> – What happens if it fails?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Auditor lens: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Are information assets formally identified?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ownership clearly assigned?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protection aligned with business importance?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64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B5E95A-98D6-4069-8091-CE4BC529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083510-85A6-49E2-BD19-7450D7D5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Then What is “Secure”?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17C3-0CA6-4166-A260-C3DB50C79D21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chemeClr val="bg1">
                  <a:alpha val="0"/>
                </a:schemeClr>
              </a:gs>
              <a:gs pos="61000">
                <a:schemeClr val="bg1">
                  <a:alpha val="61000"/>
                </a:schemeClr>
              </a:gs>
              <a:gs pos="99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1A4C905-2AE6-4086-8C1C-5EA05BD3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43138"/>
            <a:ext cx="9355931" cy="3312088"/>
          </a:xfrm>
        </p:spPr>
        <p:txBody>
          <a:bodyPr/>
          <a:lstStyle/>
          <a:p>
            <a:r>
              <a:rPr lang="en-ID" dirty="0"/>
              <a:t>What “secure” means</a:t>
            </a:r>
          </a:p>
          <a:p>
            <a:r>
              <a:rPr lang="en-US" dirty="0"/>
              <a:t>If I say a system is secure, what do I actually mean?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23553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5EF4-0B6C-47D5-B67B-974801D96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“Secure” City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FBFC-0B7E-456A-BB8B-2B429C2E5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city is not safe just because it has walls.</a:t>
            </a:r>
          </a:p>
          <a:p>
            <a:pPr marL="0" indent="0">
              <a:buNone/>
            </a:pPr>
            <a:endParaRPr lang="en-ID" dirty="0"/>
          </a:p>
          <a:p>
            <a:pPr marL="0" indent="0">
              <a:buNone/>
            </a:pPr>
            <a:r>
              <a:rPr lang="en-US" dirty="0"/>
              <a:t>A city is safe when: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the </a:t>
            </a:r>
            <a:r>
              <a:rPr lang="en-US" b="1" dirty="0"/>
              <a:t>right people</a:t>
            </a:r>
            <a:r>
              <a:rPr lang="en-US" dirty="0"/>
              <a:t> can access restricted 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Official records are </a:t>
            </a:r>
            <a:r>
              <a:rPr lang="en-US" b="1" dirty="0"/>
              <a:t>not secretly altered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Essential services </a:t>
            </a:r>
            <a:r>
              <a:rPr lang="en-US" b="1" dirty="0"/>
              <a:t>keep running</a:t>
            </a:r>
            <a:r>
              <a:rPr lang="en-US" dirty="0"/>
              <a:t>, even during problems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128B1-F6D2-4EF4-8D97-0E78E55AC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B0CCCC-7EB8-4F40-8555-7B52532DFF27}"/>
              </a:ext>
            </a:extLst>
          </p:cNvPr>
          <p:cNvSpPr txBox="1"/>
          <p:nvPr/>
        </p:nvSpPr>
        <p:spPr>
          <a:xfrm>
            <a:off x="2405657" y="5406123"/>
            <a:ext cx="7524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“In information security, we summarize all of that into three words.”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3994387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Security Objectives (CIA Triad)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69D64-7AA5-4088-A8EB-6B8925F394DF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rgbClr val="FFC000">
                  <a:alpha val="3922"/>
                </a:srgbClr>
              </a:gs>
              <a:gs pos="61000">
                <a:schemeClr val="accent4">
                  <a:alpha val="42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F73A7C-0D71-4277-9FE0-5AA09DB1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265" y="2805643"/>
            <a:ext cx="2675467" cy="26754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081D626-CB93-4EF6-B5AA-BA2FAA4417C2}"/>
              </a:ext>
            </a:extLst>
          </p:cNvPr>
          <p:cNvSpPr txBox="1"/>
          <p:nvPr/>
        </p:nvSpPr>
        <p:spPr>
          <a:xfrm>
            <a:off x="7679267" y="4559829"/>
            <a:ext cx="26356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Availability</a:t>
            </a:r>
            <a:endParaRPr lang="en-US" b="1" dirty="0"/>
          </a:p>
          <a:p>
            <a:r>
              <a:rPr lang="en-ID" dirty="0"/>
              <a:t>accessible when needed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AE3A53-C5B8-4DFB-9724-E75B1D64B44B}"/>
              </a:ext>
            </a:extLst>
          </p:cNvPr>
          <p:cNvSpPr txBox="1"/>
          <p:nvPr/>
        </p:nvSpPr>
        <p:spPr>
          <a:xfrm>
            <a:off x="1376936" y="4559829"/>
            <a:ext cx="31357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b="1" dirty="0"/>
              <a:t>Confidentiality</a:t>
            </a:r>
            <a:endParaRPr lang="en-US" b="1" dirty="0"/>
          </a:p>
          <a:p>
            <a:pPr algn="r"/>
            <a:r>
              <a:rPr lang="en-US" dirty="0"/>
              <a:t>only the right people can see</a:t>
            </a:r>
            <a:endParaRPr lang="en-ID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EE56B-DF6B-4BD5-9172-521F1138AE41}"/>
              </a:ext>
            </a:extLst>
          </p:cNvPr>
          <p:cNvSpPr txBox="1"/>
          <p:nvPr/>
        </p:nvSpPr>
        <p:spPr>
          <a:xfrm>
            <a:off x="4622798" y="1804240"/>
            <a:ext cx="31327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Integrity</a:t>
            </a:r>
            <a:endParaRPr lang="en-US" sz="2800" b="1" dirty="0"/>
          </a:p>
          <a:p>
            <a:pPr algn="ctr"/>
            <a:r>
              <a:rPr lang="en-ID" dirty="0"/>
              <a:t>nothing is altered improperly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E6D29D-E789-4EAC-B632-8D331FB17D14}"/>
              </a:ext>
            </a:extLst>
          </p:cNvPr>
          <p:cNvSpPr txBox="1"/>
          <p:nvPr/>
        </p:nvSpPr>
        <p:spPr>
          <a:xfrm>
            <a:off x="4817645" y="4827215"/>
            <a:ext cx="377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A08BC-0C22-4CF5-9357-A5EBB708AD1A}"/>
              </a:ext>
            </a:extLst>
          </p:cNvPr>
          <p:cNvSpPr txBox="1"/>
          <p:nvPr/>
        </p:nvSpPr>
        <p:spPr>
          <a:xfrm>
            <a:off x="5954773" y="2967335"/>
            <a:ext cx="282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0B2F5-24A3-4E4E-A6B2-539E0F3F2B7F}"/>
              </a:ext>
            </a:extLst>
          </p:cNvPr>
          <p:cNvSpPr txBox="1"/>
          <p:nvPr/>
        </p:nvSpPr>
        <p:spPr>
          <a:xfrm>
            <a:off x="6997330" y="4827215"/>
            <a:ext cx="401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8AC78-021A-4CB8-9918-575E3758502C}"/>
              </a:ext>
            </a:extLst>
          </p:cNvPr>
          <p:cNvSpPr txBox="1"/>
          <p:nvPr/>
        </p:nvSpPr>
        <p:spPr>
          <a:xfrm>
            <a:off x="5454472" y="4236663"/>
            <a:ext cx="1307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InfoSec</a:t>
            </a:r>
          </a:p>
          <a:p>
            <a:pPr algn="ctr"/>
            <a:r>
              <a:rPr lang="en-US" b="1" dirty="0"/>
              <a:t>Objectives</a:t>
            </a:r>
            <a:endParaRPr lang="en-ID" b="1" dirty="0"/>
          </a:p>
        </p:txBody>
      </p:sp>
    </p:spTree>
    <p:extLst>
      <p:ext uri="{BB962C8B-B14F-4D97-AF65-F5344CB8AC3E}">
        <p14:creationId xmlns:p14="http://schemas.microsoft.com/office/powerpoint/2010/main" val="3999253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ID" dirty="0"/>
              <a:t>Information Asset Security Frameworks, Standards &amp;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If CIA tells us what security must achieve,</a:t>
            </a:r>
            <a:br>
              <a:rPr lang="en-US" dirty="0"/>
            </a:br>
            <a:r>
              <a:rPr lang="en-US" dirty="0"/>
              <a:t>frameworks tell us how to organize controls to achieve it.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CIA = What the city wants (safety goals)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Frameworks = City laws and building codes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= Locks, guards, alarms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city without laws may still have guards, but: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consistency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accountability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common standard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341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US" dirty="0"/>
              <a:t>What Is a Security Framework?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4469"/>
            <a:ext cx="10515600" cy="4712494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A security framework is a </a:t>
            </a:r>
            <a:r>
              <a:rPr lang="en-US" b="1" dirty="0"/>
              <a:t>structured way to organize security controls</a:t>
            </a:r>
            <a:r>
              <a:rPr lang="en-US" dirty="0"/>
              <a:t> so they consistently support business objectives.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Frameworks provide: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Common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Defined domains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Clear responsibility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answer: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controls should exist?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 they relate to each other?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Who is accountable?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87E7F4-102D-49F5-BEB5-43C2E6DED61B}"/>
              </a:ext>
            </a:extLst>
          </p:cNvPr>
          <p:cNvSpPr/>
          <p:nvPr/>
        </p:nvSpPr>
        <p:spPr>
          <a:xfrm>
            <a:off x="6972300" y="3257552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2 about </a:t>
            </a:r>
            <a:r>
              <a:rPr lang="en-US" b="1" dirty="0"/>
              <a:t>criteria</a:t>
            </a:r>
            <a:endParaRPr lang="en-ID" dirty="0"/>
          </a:p>
        </p:txBody>
      </p:sp>
      <p:pic>
        <p:nvPicPr>
          <p:cNvPr id="10242" name="Picture 2" descr="Alert ">
            <a:extLst>
              <a:ext uri="{FF2B5EF4-FFF2-40B4-BE49-F238E27FC236}">
                <a16:creationId xmlns:a16="http://schemas.microsoft.com/office/drawing/2014/main" id="{C657A743-CFEE-4B60-8E29-45C7E5B00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18272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8129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B02-A4A4-41D0-9A65-5FA3A4E15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 vs Standards vs Guidelines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0885-3377-49DE-BE71-7B4FAEF3F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00A9AF6-149C-410B-923D-8C55C2607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231302"/>
              </p:ext>
            </p:extLst>
          </p:nvPr>
        </p:nvGraphicFramePr>
        <p:xfrm>
          <a:off x="838199" y="1855523"/>
          <a:ext cx="7012782" cy="338084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992">
                  <a:extLst>
                    <a:ext uri="{9D8B030D-6E8A-4147-A177-3AD203B41FA5}">
                      <a16:colId xmlns:a16="http://schemas.microsoft.com/office/drawing/2014/main" val="3009703922"/>
                    </a:ext>
                  </a:extLst>
                </a:gridCol>
                <a:gridCol w="5271790">
                  <a:extLst>
                    <a:ext uri="{9D8B030D-6E8A-4147-A177-3AD203B41FA5}">
                      <a16:colId xmlns:a16="http://schemas.microsoft.com/office/drawing/2014/main" val="255157138"/>
                    </a:ext>
                  </a:extLst>
                </a:gridCol>
              </a:tblGrid>
              <a:tr h="1090595">
                <a:tc>
                  <a:txBody>
                    <a:bodyPr/>
                    <a:lstStyle/>
                    <a:p>
                      <a:r>
                        <a:rPr lang="en-ID" b="1" dirty="0"/>
                        <a:t>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High-level structure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Organizes control areas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Used for governance and audit alignment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4247103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Mandatory requirements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Must be complied with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340996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Guidelines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Recommended practices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Flexible, context-based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99675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Procedures (Preview)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Step-by-step execution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Operational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3703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7DD55-8A14-4D9A-A32E-DD88F21ECC30}"/>
              </a:ext>
            </a:extLst>
          </p:cNvPr>
          <p:cNvSpPr txBox="1"/>
          <p:nvPr/>
        </p:nvSpPr>
        <p:spPr>
          <a:xfrm>
            <a:off x="7943851" y="221984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Map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EFE1B-6752-480E-9659-4E5D58DA9673}"/>
              </a:ext>
            </a:extLst>
          </p:cNvPr>
          <p:cNvSpPr txBox="1"/>
          <p:nvPr/>
        </p:nvSpPr>
        <p:spPr>
          <a:xfrm>
            <a:off x="7943851" y="3176614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Rules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D87707-0436-48A0-83E5-231EE6517E0E}"/>
              </a:ext>
            </a:extLst>
          </p:cNvPr>
          <p:cNvSpPr txBox="1"/>
          <p:nvPr/>
        </p:nvSpPr>
        <p:spPr>
          <a:xfrm>
            <a:off x="7943851" y="3890433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Advices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64E13-52B1-4C3B-A262-C5410A4FB6E8}"/>
              </a:ext>
            </a:extLst>
          </p:cNvPr>
          <p:cNvSpPr txBox="1"/>
          <p:nvPr/>
        </p:nvSpPr>
        <p:spPr>
          <a:xfrm>
            <a:off x="7943851" y="4650342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Daily Instruction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135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B5E95A-98D6-4069-8091-CE4BC529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083510-85A6-49E2-BD19-7450D7D5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Create Your Own Analogy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17C3-0CA6-4166-A260-C3DB50C79D21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chemeClr val="bg1">
                  <a:alpha val="0"/>
                </a:schemeClr>
              </a:gs>
              <a:gs pos="61000">
                <a:schemeClr val="bg1">
                  <a:alpha val="61000"/>
                </a:schemeClr>
              </a:gs>
              <a:gs pos="99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Framework -&gt; Standards -&gt; Guidelines -&gt; Procedures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1A4C905-2AE6-4086-8C1C-5EA05BD3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43138"/>
            <a:ext cx="9355931" cy="3312088"/>
          </a:xfrm>
        </p:spPr>
        <p:txBody>
          <a:bodyPr/>
          <a:lstStyle/>
          <a:p>
            <a:r>
              <a:rPr lang="en-ID" dirty="0"/>
              <a:t>Use AI to help</a:t>
            </a:r>
          </a:p>
        </p:txBody>
      </p:sp>
    </p:spTree>
    <p:extLst>
      <p:ext uri="{BB962C8B-B14F-4D97-AF65-F5344CB8AC3E}">
        <p14:creationId xmlns:p14="http://schemas.microsoft.com/office/powerpoint/2010/main" val="2942660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37B5-0C41-43BD-8CF8-8FCF7EF42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/>
          <a:lstStyle/>
          <a:p>
            <a:r>
              <a:rPr lang="en-ID" dirty="0"/>
              <a:t>Why Auditors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65D00-23ED-4926-9AFC-62B930BC2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193006"/>
            <a:ext cx="6305550" cy="498395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Auditors do not audit tools first. They audit: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a framework is adopted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controls align with it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it is applied consistently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Frameworks exist to ensure CIA objectives are achieved </a:t>
            </a:r>
            <a:r>
              <a:rPr lang="en-US" sz="2000" b="1" dirty="0"/>
              <a:t>consistently</a:t>
            </a:r>
            <a:r>
              <a:rPr lang="en-US" sz="2000" dirty="0"/>
              <a:t>, not accidentally.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Without frameworks: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Confidentiality depends on individuals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Integrity depends on trust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Availability depends on luck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F4A22-3295-466F-BB5A-311E08433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9DB9C4-1E0B-4539-91E8-69A1D706DA10}"/>
              </a:ext>
            </a:extLst>
          </p:cNvPr>
          <p:cNvSpPr/>
          <p:nvPr/>
        </p:nvSpPr>
        <p:spPr>
          <a:xfrm>
            <a:off x="7065169" y="2058591"/>
            <a:ext cx="4200525" cy="23348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dirty="0"/>
              <a:t>Typical audit red flags: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Controls exist, but no framework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Policies exist, but no procedures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Inconsistent implementation across units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Procedures exist, but are outdated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Guidelines are treated as standards (over-control)</a:t>
            </a:r>
          </a:p>
        </p:txBody>
      </p:sp>
      <p:pic>
        <p:nvPicPr>
          <p:cNvPr id="11266" name="Picture 2" descr="Point ">
            <a:extLst>
              <a:ext uri="{FF2B5EF4-FFF2-40B4-BE49-F238E27FC236}">
                <a16:creationId xmlns:a16="http://schemas.microsoft.com/office/drawing/2014/main" id="{61BB30DF-0846-471E-8E21-BFB5A6168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4629" y="1638299"/>
            <a:ext cx="676276" cy="676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955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Trust and Responsibility Over Data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When information represents people, not just systems</a:t>
            </a:r>
          </a:p>
        </p:txBody>
      </p:sp>
    </p:spTree>
    <p:extLst>
      <p:ext uri="{BB962C8B-B14F-4D97-AF65-F5344CB8AC3E}">
        <p14:creationId xmlns:p14="http://schemas.microsoft.com/office/powerpoint/2010/main" val="1512773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 City”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42782" cy="4351338"/>
          </a:xfrm>
        </p:spPr>
        <p:txBody>
          <a:bodyPr/>
          <a:lstStyle/>
          <a:p>
            <a:r>
              <a:rPr lang="en-US" dirty="0"/>
              <a:t>Imagine a city where the guards know everything about every citizen: where they live, where they go, how much they earn</a:t>
            </a:r>
          </a:p>
          <a:p>
            <a:r>
              <a:rPr lang="en-US" dirty="0"/>
              <a:t>Even if the city is safe from enemies, would you want to live there?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7FADF-1E39-4DEB-B77F-4228CD34F7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1" r="6751" b="7315"/>
          <a:stretch/>
        </p:blipFill>
        <p:spPr>
          <a:xfrm>
            <a:off x="6409456" y="618008"/>
            <a:ext cx="5002073" cy="52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1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vs Privacy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084150" cy="435133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Security → Protecting the city from outsiders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 → Protecting citizens from misuse by city authorities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 organization can be: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Secure but not privacy-respecting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Privacy-aware but technically weak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ID" dirty="0"/>
              <a:t>Both must coexist.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1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US" dirty="0"/>
              <a:t>Privacy Principles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7313"/>
            <a:ext cx="10515600" cy="385048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security, we don’t only protect the city infrastructure.</a:t>
            </a:r>
          </a:p>
          <a:p>
            <a:r>
              <a:rPr lang="en-US" dirty="0"/>
              <a:t>We also protect the citizens who live inside the city.</a:t>
            </a:r>
          </a:p>
          <a:p>
            <a:r>
              <a:rPr lang="en-US" dirty="0"/>
              <a:t>Privacy principles define how the city treats its citizens’ personal information.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City → Organization</a:t>
            </a:r>
          </a:p>
          <a:p>
            <a:r>
              <a:rPr lang="en-US" dirty="0"/>
              <a:t>Citizens → Individuals (employees, customers)</a:t>
            </a:r>
          </a:p>
          <a:p>
            <a:r>
              <a:rPr lang="en-US" dirty="0"/>
              <a:t>Citizen records → Personal data</a:t>
            </a:r>
          </a:p>
          <a:p>
            <a:r>
              <a:rPr lang="en-US" dirty="0"/>
              <a:t>City authorities → Organization insiders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D7DCA-15E7-4292-A6A2-433428B2CD71}"/>
              </a:ext>
            </a:extLst>
          </p:cNvPr>
          <p:cNvSpPr txBox="1"/>
          <p:nvPr/>
        </p:nvSpPr>
        <p:spPr>
          <a:xfrm>
            <a:off x="838201" y="551576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Privacy controls protect citizens </a:t>
            </a:r>
            <a:r>
              <a:rPr lang="en-US" b="1" i="1" dirty="0"/>
              <a:t>from misuse of power inside the city</a:t>
            </a:r>
            <a:r>
              <a:rPr lang="en-US" i="1" dirty="0"/>
              <a:t>, not just from outsiders.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59287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ID" dirty="0"/>
              <a:t>Core Privacy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C156CED-BFB4-4310-BDF7-ED8F880C0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08014"/>
              </p:ext>
            </p:extLst>
          </p:nvPr>
        </p:nvGraphicFramePr>
        <p:xfrm>
          <a:off x="919304" y="1475740"/>
          <a:ext cx="10353391" cy="390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0517">
                  <a:extLst>
                    <a:ext uri="{9D8B030D-6E8A-4147-A177-3AD203B41FA5}">
                      <a16:colId xmlns:a16="http://schemas.microsoft.com/office/drawing/2014/main" val="1473068038"/>
                    </a:ext>
                  </a:extLst>
                </a:gridCol>
                <a:gridCol w="4026634">
                  <a:extLst>
                    <a:ext uri="{9D8B030D-6E8A-4147-A177-3AD203B41FA5}">
                      <a16:colId xmlns:a16="http://schemas.microsoft.com/office/drawing/2014/main" val="3344597273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1796899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Principle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Brief Definition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Audit Perspective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14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Collection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collected lawfully, fairly, and only to the extent necessary for specified purposes.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each data element clearly justified?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excessive personal data being collected?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34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Purpose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used only for the specific, explicit purposes for which it was collected, unless further consent or legal basis exists.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data reused across processes?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reuse formally approved and communicated?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119087"/>
                  </a:ext>
                </a:extLst>
              </a:tr>
              <a:tr h="502688">
                <a:tc>
                  <a:txBody>
                    <a:bodyPr/>
                    <a:lstStyle/>
                    <a:p>
                      <a:r>
                        <a:rPr lang="en-ID" sz="1600" b="0" dirty="0"/>
                        <a:t>Data Minimization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adequate, relevant, and limited, and retained only for as long as necessary.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retention periods defined?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old records securely disposed of?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63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Transparency and Consent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Individuals should be informed about data collection and usage, and consent should be obtained where required.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privacy notices clear and accessible?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consent documented and auditable?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9146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490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Access to the City: Who May Enter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Controlling entry points before defending the inside</a:t>
            </a:r>
          </a:p>
        </p:txBody>
      </p:sp>
    </p:spTree>
    <p:extLst>
      <p:ext uri="{BB962C8B-B14F-4D97-AF65-F5344CB8AC3E}">
        <p14:creationId xmlns:p14="http://schemas.microsoft.com/office/powerpoint/2010/main" val="3919236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7880959-D833-47D2-B2F8-4742593DC3EF}"/>
              </a:ext>
            </a:extLst>
          </p:cNvPr>
          <p:cNvSpPr/>
          <p:nvPr/>
        </p:nvSpPr>
        <p:spPr>
          <a:xfrm>
            <a:off x="897059" y="1020826"/>
            <a:ext cx="5610945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gates and buildings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Physical Access Control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8826"/>
            <a:ext cx="5423863" cy="4418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Before securing systems and data, we must first secure its physical access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If attackers can: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Enter the city freely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Access buildings without restriction</a:t>
            </a:r>
          </a:p>
          <a:p>
            <a:pPr marL="0" indent="0">
              <a:buNone/>
            </a:pPr>
            <a:r>
              <a:rPr lang="en-US" sz="2000" dirty="0"/>
              <a:t>Then all logical controls become meaningless.</a:t>
            </a:r>
          </a:p>
          <a:p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9032FA-D057-40DB-A5B5-747DA90316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402" b="9170"/>
          <a:stretch/>
        </p:blipFill>
        <p:spPr>
          <a:xfrm>
            <a:off x="6510105" y="998918"/>
            <a:ext cx="5061784" cy="48601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54238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/>
              <a:t>Physical access controls are safeguards designed to </a:t>
            </a:r>
            <a:r>
              <a:rPr lang="en-US" sz="1600" b="1" i="1" dirty="0"/>
              <a:t>prevent unauthorized physical access</a:t>
            </a:r>
            <a:r>
              <a:rPr lang="en-US" sz="1600" i="1" dirty="0"/>
              <a:t> to facilities, systems, equipment, and resources.</a:t>
            </a:r>
            <a:endParaRPr lang="en-ID" sz="1600" i="1" dirty="0"/>
          </a:p>
        </p:txBody>
      </p:sp>
    </p:spTree>
    <p:extLst>
      <p:ext uri="{BB962C8B-B14F-4D97-AF65-F5344CB8AC3E}">
        <p14:creationId xmlns:p14="http://schemas.microsoft.com/office/powerpoint/2010/main" val="40223359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73C84-1072-461D-8EE9-AB39B8495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2061"/>
          </a:xfrm>
        </p:spPr>
        <p:txBody>
          <a:bodyPr/>
          <a:lstStyle/>
          <a:p>
            <a:r>
              <a:rPr lang="en-US" dirty="0"/>
              <a:t>Identity and Access Management (IAM)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FBD39-7ABC-4FAA-BD98-3C9CAF316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city is not protected by walls alone, but by controlling who is allowed to do what inside the city.</a:t>
            </a:r>
          </a:p>
          <a:p>
            <a:r>
              <a:rPr lang="en-US" dirty="0"/>
              <a:t>IAM ensures that only the right people can access the right resources, in the right way, at the right time.</a:t>
            </a:r>
          </a:p>
          <a:p>
            <a:r>
              <a:rPr lang="en-US" dirty="0"/>
              <a:t>IAM defines identity, authority, and responsibility inside the city.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99BA0-822D-446F-8BB8-F915BFE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ADF79-1FE1-45E3-B693-21E1E4B5CBD9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Identity and Access Management is a framework of policies, processes, and technologies used to </a:t>
            </a:r>
            <a:r>
              <a:rPr lang="en-US" sz="1600" b="1" i="1" dirty="0"/>
              <a:t>identify users</a:t>
            </a:r>
            <a:r>
              <a:rPr lang="en-US" sz="1600" i="1" dirty="0"/>
              <a:t>, </a:t>
            </a:r>
            <a:r>
              <a:rPr lang="en-US" sz="1600" b="1" i="1" dirty="0"/>
              <a:t>authenticate their identities</a:t>
            </a:r>
            <a:r>
              <a:rPr lang="en-US" sz="1600" i="1" dirty="0"/>
              <a:t>, and </a:t>
            </a:r>
            <a:r>
              <a:rPr lang="en-US" sz="1600" b="1" i="1" dirty="0"/>
              <a:t>authorize access</a:t>
            </a:r>
            <a:r>
              <a:rPr lang="en-US" sz="1600" i="1" dirty="0"/>
              <a:t> to resources.</a:t>
            </a:r>
            <a:endParaRPr lang="en-ID" sz="1600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2DEDA-E9C2-4C1B-B1B7-02004D7DE050}"/>
              </a:ext>
            </a:extLst>
          </p:cNvPr>
          <p:cNvSpPr/>
          <p:nvPr/>
        </p:nvSpPr>
        <p:spPr>
          <a:xfrm>
            <a:off x="966428" y="1184623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Who gets the city keys, and what they can do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7498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US" dirty="0"/>
              <a:t>IAM Pillars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8630"/>
            <a:ext cx="10515600" cy="4928334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Identification</a:t>
            </a:r>
            <a:r>
              <a:rPr lang="en-ID" dirty="0"/>
              <a:t> (</a:t>
            </a:r>
            <a:r>
              <a:rPr lang="en-ID" i="1" dirty="0"/>
              <a:t>Who are you?)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Identification is the process of claiming an identity, typically via a user ID or account.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US" dirty="0"/>
              <a:t>The city records who you are before issuing any keys.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Authentication</a:t>
            </a:r>
            <a:r>
              <a:rPr lang="en-ID" dirty="0"/>
              <a:t> (</a:t>
            </a:r>
            <a:r>
              <a:rPr lang="en-ID" i="1" dirty="0"/>
              <a:t>Prove it!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Authentication verifies that the claimed identity is valid.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Common methods: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know (password)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have (card, token)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are (biometrics)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Authorization</a:t>
            </a:r>
            <a:r>
              <a:rPr lang="en-ID" dirty="0"/>
              <a:t> (</a:t>
            </a:r>
            <a:r>
              <a:rPr lang="en-US" i="1" dirty="0"/>
              <a:t>What Are You Allowed to Do?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Authorization defines what actions and resources an authenticated user is permitted to access.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Key principles: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Least privilege: To give every user, process, or system the bare minimum permissions needed to perform its job and </a:t>
            </a:r>
            <a:r>
              <a:rPr lang="en-US" i="1" dirty="0"/>
              <a:t>nothing more</a:t>
            </a:r>
            <a:endParaRPr lang="en-US" dirty="0"/>
          </a:p>
          <a:p>
            <a:pPr lvl="2">
              <a:lnSpc>
                <a:spcPct val="120000"/>
              </a:lnSpc>
            </a:pPr>
            <a:r>
              <a:rPr lang="en-US" dirty="0"/>
              <a:t>Role-based access: To simplify management by assigning permissions to </a:t>
            </a:r>
            <a:r>
              <a:rPr lang="en-US" b="1" dirty="0"/>
              <a:t>defined roles</a:t>
            </a:r>
            <a:r>
              <a:rPr lang="en-US" dirty="0"/>
              <a:t> (e.g., "Developer," "Manager," "Auditor") rather than to individual users. Users inherit the permissions of the role(s) they are assigned.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66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Defending the Infrastructure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Protecting networks and devices that process data</a:t>
            </a:r>
          </a:p>
        </p:txBody>
      </p:sp>
    </p:spTree>
    <p:extLst>
      <p:ext uri="{BB962C8B-B14F-4D97-AF65-F5344CB8AC3E}">
        <p14:creationId xmlns:p14="http://schemas.microsoft.com/office/powerpoint/2010/main" val="454483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4351"/>
          </a:xfrm>
        </p:spPr>
        <p:txBody>
          <a:bodyPr/>
          <a:lstStyle/>
          <a:p>
            <a:r>
              <a:rPr lang="en-ID" dirty="0"/>
              <a:t>Environmental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164"/>
            <a:ext cx="10456741" cy="4587799"/>
          </a:xfrm>
        </p:spPr>
        <p:txBody>
          <a:bodyPr>
            <a:normAutofit/>
          </a:bodyPr>
          <a:lstStyle/>
          <a:p>
            <a:r>
              <a:rPr lang="en-US" sz="2000" dirty="0"/>
              <a:t>Even a well-guarded city can fall if nature or infrastructure fails.</a:t>
            </a:r>
          </a:p>
          <a:p>
            <a:r>
              <a:rPr lang="en-US" sz="2000" dirty="0"/>
              <a:t>Environmental controls protect the </a:t>
            </a:r>
            <a:r>
              <a:rPr lang="en-US" sz="2000" b="1" dirty="0"/>
              <a:t>availability and integrity</a:t>
            </a:r>
            <a:r>
              <a:rPr lang="en-US" sz="2000" dirty="0"/>
              <a:t> of information assets against </a:t>
            </a:r>
            <a:r>
              <a:rPr lang="en-US" sz="2000" b="1" dirty="0"/>
              <a:t>non-human threats</a:t>
            </a:r>
            <a:r>
              <a:rPr lang="en-US" sz="2000" dirty="0"/>
              <a:t>.</a:t>
            </a:r>
          </a:p>
          <a:p>
            <a:r>
              <a:rPr lang="en-US" sz="2000" dirty="0"/>
              <a:t>Environmental controls ensure the city </a:t>
            </a:r>
            <a:r>
              <a:rPr lang="en-US" sz="2000" b="1" dirty="0"/>
              <a:t>continues to function</a:t>
            </a:r>
            <a:r>
              <a:rPr lang="en-US" sz="2000" dirty="0"/>
              <a:t> even under adverse conditions.</a:t>
            </a:r>
            <a:endParaRPr lang="en-ID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Environmental controls are safeguards designed to </a:t>
            </a:r>
            <a:r>
              <a:rPr lang="en-US" sz="1600" b="1" i="1" dirty="0"/>
              <a:t>protect information assets from physical and environmental threats</a:t>
            </a:r>
            <a:r>
              <a:rPr lang="en-US" sz="1600" i="1" dirty="0"/>
              <a:t>, including fire, power failure, temperature, humidity, and natural disasters.</a:t>
            </a:r>
            <a:endParaRPr lang="en-ID" sz="1600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A56C8A-449E-489D-B488-521BCB909B81}"/>
              </a:ext>
            </a:extLst>
          </p:cNvPr>
          <p:cNvSpPr/>
          <p:nvPr/>
        </p:nvSpPr>
        <p:spPr>
          <a:xfrm>
            <a:off x="4033608" y="3610699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10 about business resilience</a:t>
            </a:r>
            <a:endParaRPr lang="en-ID" dirty="0"/>
          </a:p>
        </p:txBody>
      </p:sp>
      <p:pic>
        <p:nvPicPr>
          <p:cNvPr id="8" name="Picture 2" descr="Alert ">
            <a:extLst>
              <a:ext uri="{FF2B5EF4-FFF2-40B4-BE49-F238E27FC236}">
                <a16:creationId xmlns:a16="http://schemas.microsoft.com/office/drawing/2014/main" id="{1EAA3EF4-9A0D-4FE3-8883-CE1DD83A2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308" y="3671419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87894F2-04E2-42D3-A1F3-F85C05A4B47D}"/>
              </a:ext>
            </a:extLst>
          </p:cNvPr>
          <p:cNvSpPr/>
          <p:nvPr/>
        </p:nvSpPr>
        <p:spPr>
          <a:xfrm>
            <a:off x="953816" y="1026671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from fire, flood, and power failure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093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9131"/>
            <a:ext cx="10515600" cy="4669781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2400" dirty="0"/>
              <a:t>Even with strong gates and trusted citizens, a city collapses if its roads are unsafe and homes are unprotected.</a:t>
            </a:r>
          </a:p>
          <a:p>
            <a:r>
              <a:rPr lang="en-US" sz="2400" dirty="0"/>
              <a:t>Network and endpoint security protect:</a:t>
            </a:r>
          </a:p>
          <a:p>
            <a:pPr lvl="1"/>
            <a:r>
              <a:rPr lang="en-US" sz="2000" dirty="0"/>
              <a:t>Data in transit</a:t>
            </a:r>
          </a:p>
          <a:p>
            <a:pPr lvl="1"/>
            <a:r>
              <a:rPr lang="en-US" sz="2000" dirty="0"/>
              <a:t>Devices that access the city</a:t>
            </a:r>
          </a:p>
          <a:p>
            <a:pPr>
              <a:lnSpc>
                <a:spcPct val="120000"/>
              </a:lnSpc>
            </a:pPr>
            <a:r>
              <a:rPr lang="en-US" sz="2400" dirty="0"/>
              <a:t>This layer controls how traffic flows and where it is allowed to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roads and individual homes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3460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Control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7678855A-E3B0-4D6A-AD61-289CE3595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9650"/>
              </p:ext>
            </p:extLst>
          </p:nvPr>
        </p:nvGraphicFramePr>
        <p:xfrm>
          <a:off x="928414" y="1369206"/>
          <a:ext cx="10425387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732">
                  <a:extLst>
                    <a:ext uri="{9D8B030D-6E8A-4147-A177-3AD203B41FA5}">
                      <a16:colId xmlns:a16="http://schemas.microsoft.com/office/drawing/2014/main" val="2090090506"/>
                    </a:ext>
                  </a:extLst>
                </a:gridCol>
                <a:gridCol w="4244077">
                  <a:extLst>
                    <a:ext uri="{9D8B030D-6E8A-4147-A177-3AD203B41FA5}">
                      <a16:colId xmlns:a16="http://schemas.microsoft.com/office/drawing/2014/main" val="2244491488"/>
                    </a:ext>
                  </a:extLst>
                </a:gridCol>
                <a:gridCol w="3811578">
                  <a:extLst>
                    <a:ext uri="{9D8B030D-6E8A-4147-A177-3AD203B41FA5}">
                      <a16:colId xmlns:a16="http://schemas.microsoft.com/office/drawing/2014/main" val="20723548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Explanation/Examples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7717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Network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Firewalls (traffic control)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Network segmentation (zoning)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Intrusion detection/prevention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Roads must allow legitimate traffic while stopping smugglers.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507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Anti-malware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Host firewalls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Patch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Device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Each house must lock its doors, not rely only on city guards.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Remote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Remote access should be authenticated, encrypted, and monitored.</a:t>
                      </a:r>
                    </a:p>
                    <a:p>
                      <a:r>
                        <a:rPr lang="en-US" dirty="0"/>
                        <a:t>Common controls: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VPN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Strong 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Merchants entering from outside must pass controlled gates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742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5435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Protecting the Data Itself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Assume systems may be compromised,</a:t>
            </a:r>
          </a:p>
          <a:p>
            <a:r>
              <a:rPr lang="en-US" sz="1800" dirty="0"/>
              <a:t>protect the asset directly</a:t>
            </a:r>
          </a:p>
        </p:txBody>
      </p:sp>
    </p:spTree>
    <p:extLst>
      <p:ext uri="{BB962C8B-B14F-4D97-AF65-F5344CB8AC3E}">
        <p14:creationId xmlns:p14="http://schemas.microsoft.com/office/powerpoint/2010/main" val="29374513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Data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859"/>
            <a:ext cx="10515600" cy="495605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/>
              <a:t>Not everything in the city deserves the same level of protection.</a:t>
            </a:r>
          </a:p>
          <a:p>
            <a:r>
              <a:rPr lang="en-US" dirty="0"/>
              <a:t>Data classification helps the organization:</a:t>
            </a:r>
          </a:p>
          <a:p>
            <a:pPr lvl="1"/>
            <a:r>
              <a:rPr lang="en-US" sz="2000" dirty="0"/>
              <a:t>Focus controls where they matter most</a:t>
            </a:r>
          </a:p>
          <a:p>
            <a:pPr lvl="1"/>
            <a:r>
              <a:rPr lang="en-US" sz="2000" dirty="0"/>
              <a:t>Avoid over- or under-protection</a:t>
            </a:r>
          </a:p>
          <a:p>
            <a:r>
              <a:rPr lang="en-US" sz="2400" dirty="0"/>
              <a:t>Data classification defines </a:t>
            </a:r>
            <a:r>
              <a:rPr lang="en-US" sz="2400" b="1" dirty="0"/>
              <a:t>how valuable and sensitive each asset is</a:t>
            </a:r>
            <a:r>
              <a:rPr lang="en-US" sz="2400" dirty="0"/>
              <a:t>.</a:t>
            </a:r>
            <a:endParaRPr lang="en-US" sz="4000" dirty="0"/>
          </a:p>
          <a:p>
            <a:r>
              <a:rPr lang="en-US" sz="2400" dirty="0"/>
              <a:t>Classification drives:</a:t>
            </a:r>
          </a:p>
          <a:p>
            <a:pPr lvl="1"/>
            <a:r>
              <a:rPr lang="en-US" sz="2000" dirty="0"/>
              <a:t>Access controls</a:t>
            </a:r>
          </a:p>
          <a:p>
            <a:pPr lvl="1"/>
            <a:r>
              <a:rPr lang="en-US" sz="2000" dirty="0"/>
              <a:t>Encryption</a:t>
            </a:r>
          </a:p>
          <a:p>
            <a:pPr lvl="1"/>
            <a:r>
              <a:rPr lang="en-US" sz="2000" dirty="0"/>
              <a:t>Retention</a:t>
            </a:r>
          </a:p>
          <a:p>
            <a:pPr lvl="1"/>
            <a:r>
              <a:rPr lang="en-US" sz="2000" dirty="0"/>
              <a:t>Handling procedures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Identifying the city’s ordinary assets and crown jewels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765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Typical Classification Levels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2B871463-CD01-4D05-B038-9B223931E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850622"/>
              </p:ext>
            </p:extLst>
          </p:nvPr>
        </p:nvGraphicFramePr>
        <p:xfrm>
          <a:off x="991476" y="1325062"/>
          <a:ext cx="10290327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461">
                  <a:extLst>
                    <a:ext uri="{9D8B030D-6E8A-4147-A177-3AD203B41FA5}">
                      <a16:colId xmlns:a16="http://schemas.microsoft.com/office/drawing/2014/main" val="549103917"/>
                    </a:ext>
                  </a:extLst>
                </a:gridCol>
                <a:gridCol w="4969757">
                  <a:extLst>
                    <a:ext uri="{9D8B030D-6E8A-4147-A177-3AD203B41FA5}">
                      <a16:colId xmlns:a16="http://schemas.microsoft.com/office/drawing/2014/main" val="3551328820"/>
                    </a:ext>
                  </a:extLst>
                </a:gridCol>
                <a:gridCol w="3430109">
                  <a:extLst>
                    <a:ext uri="{9D8B030D-6E8A-4147-A177-3AD203B41FA5}">
                      <a16:colId xmlns:a16="http://schemas.microsoft.com/office/drawing/2014/main" val="559406837"/>
                    </a:ext>
                  </a:extLst>
                </a:gridCol>
              </a:tblGrid>
              <a:tr h="247329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699177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Low risk if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announcements posted on walls.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391753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Limited exposure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operations known to officials.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944136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Confidential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High impact if leaked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Tax records, employee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937175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Restricted / Secret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Severe impact if compromised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Crown jewels, military plans.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368832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158E580-737A-45BA-A886-E36E3097E2EB}"/>
              </a:ext>
            </a:extLst>
          </p:cNvPr>
          <p:cNvSpPr txBox="1"/>
          <p:nvPr/>
        </p:nvSpPr>
        <p:spPr>
          <a:xfrm>
            <a:off x="991476" y="3739217"/>
            <a:ext cx="60949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Controls must be </a:t>
            </a:r>
            <a:r>
              <a:rPr lang="en-US" b="1" dirty="0"/>
              <a:t>risk-based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Misclassification leads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Waste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Exposure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Audit findings</a:t>
            </a:r>
          </a:p>
        </p:txBody>
      </p:sp>
    </p:spTree>
    <p:extLst>
      <p:ext uri="{BB962C8B-B14F-4D97-AF65-F5344CB8AC3E}">
        <p14:creationId xmlns:p14="http://schemas.microsoft.com/office/powerpoint/2010/main" val="16214638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CFBC-1627-482C-BEC4-DA65E0CB5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Data Encryption &amp; Encryption-related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12BE5-519F-4C2C-AF17-D22DEA75C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Once the city knows which assets are valuable, it must decide how to lock them properly.</a:t>
            </a:r>
          </a:p>
          <a:p>
            <a:r>
              <a:rPr lang="en-US" sz="2400" dirty="0"/>
              <a:t>Encryption protects data even when other controls fail.</a:t>
            </a:r>
          </a:p>
          <a:p>
            <a:r>
              <a:rPr lang="en-US" sz="2400" dirty="0"/>
              <a:t>Encryption ensures that even if thieves enter the city, they cannot use what they steal.</a:t>
            </a:r>
          </a:p>
          <a:p>
            <a:r>
              <a:rPr lang="en-US" sz="2400" dirty="0"/>
              <a:t>Encryption is the process of transforming data into an unreadable format using cryptographic algorithms, so that only authorized parties can access it.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7B0FA-FF00-4316-9D59-2EBFEF27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44FA5A-D3D9-4726-8418-C4524E7BC73B}"/>
              </a:ext>
            </a:extLst>
          </p:cNvPr>
          <p:cNvSpPr txBox="1"/>
          <p:nvPr/>
        </p:nvSpPr>
        <p:spPr>
          <a:xfrm>
            <a:off x="1746819" y="5353969"/>
            <a:ext cx="2320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data </a:t>
            </a:r>
            <a:r>
              <a:rPr lang="en-US" i="1" dirty="0" err="1"/>
              <a:t>awal</a:t>
            </a:r>
            <a:r>
              <a:rPr lang="en-US" i="1" dirty="0"/>
              <a:t> -&gt; </a:t>
            </a:r>
            <a:r>
              <a:rPr lang="en-US" i="1" dirty="0" err="1"/>
              <a:t>fsys</a:t>
            </a:r>
            <a:r>
              <a:rPr lang="en-US" i="1" dirty="0"/>
              <a:t> </a:t>
            </a:r>
            <a:r>
              <a:rPr lang="en-US" i="1" dirty="0" err="1"/>
              <a:t>ses</a:t>
            </a:r>
            <a:r>
              <a:rPr lang="en-US" i="1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9B17A-0A9C-4B75-B5DB-59D4233E2559}"/>
              </a:ext>
            </a:extLst>
          </p:cNvPr>
          <p:cNvSpPr txBox="1"/>
          <p:nvPr/>
        </p:nvSpPr>
        <p:spPr>
          <a:xfrm>
            <a:off x="6688717" y="5353969"/>
            <a:ext cx="1807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mhsmyil</a:t>
            </a:r>
            <a:r>
              <a:rPr lang="en-US" i="1" dirty="0"/>
              <a:t> -&gt; ????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D7C47B-E9BD-4DF5-904C-9AEAB65E1193}"/>
              </a:ext>
            </a:extLst>
          </p:cNvPr>
          <p:cNvSpPr txBox="1"/>
          <p:nvPr/>
        </p:nvSpPr>
        <p:spPr>
          <a:xfrm>
            <a:off x="2451304" y="4974398"/>
            <a:ext cx="99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encrypt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1633D7-F624-4422-8B0F-9724A906964D}"/>
              </a:ext>
            </a:extLst>
          </p:cNvPr>
          <p:cNvSpPr txBox="1"/>
          <p:nvPr/>
        </p:nvSpPr>
        <p:spPr>
          <a:xfrm>
            <a:off x="7137618" y="4974398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decrypt</a:t>
            </a:r>
          </a:p>
        </p:txBody>
      </p:sp>
    </p:spTree>
    <p:extLst>
      <p:ext uri="{BB962C8B-B14F-4D97-AF65-F5344CB8AC3E}">
        <p14:creationId xmlns:p14="http://schemas.microsoft.com/office/powerpoint/2010/main" val="1806752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3BC66-22F8-46D5-B2FD-441ABB53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01" y="264226"/>
            <a:ext cx="10515600" cy="725849"/>
          </a:xfrm>
        </p:spPr>
        <p:txBody>
          <a:bodyPr/>
          <a:lstStyle/>
          <a:p>
            <a:r>
              <a:rPr lang="en-US" dirty="0"/>
              <a:t>Symmetric vs Asymmetric Encryption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7D912-3E98-464B-AABA-C7820906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5122" name="Picture 2" descr="Difference Between Symmetric and Asymmetric Cryptography">
            <a:extLst>
              <a:ext uri="{FF2B5EF4-FFF2-40B4-BE49-F238E27FC236}">
                <a16:creationId xmlns:a16="http://schemas.microsoft.com/office/drawing/2014/main" id="{FBED01AD-1714-4865-BC6E-8B7FC3ADDFF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66" y="1295386"/>
            <a:ext cx="5974119" cy="4267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685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656B2-C67A-4187-92FF-4A6923F81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080"/>
          </a:xfrm>
        </p:spPr>
        <p:txBody>
          <a:bodyPr/>
          <a:lstStyle/>
          <a:p>
            <a:r>
              <a:rPr lang="en-ID" dirty="0"/>
              <a:t>Public Key Infrastructure (PKI)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A7863-E51A-457F-A642-259B98399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8532"/>
            <a:ext cx="10515600" cy="439244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Encryption works only if the city can </a:t>
            </a:r>
            <a:r>
              <a:rPr lang="en-US" b="1" dirty="0"/>
              <a:t>trust who owns which key</a:t>
            </a:r>
          </a:p>
          <a:p>
            <a:pPr>
              <a:lnSpc>
                <a:spcPct val="120000"/>
              </a:lnSpc>
            </a:pPr>
            <a:r>
              <a:rPr lang="en-ID" dirty="0"/>
              <a:t>PKI provides: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Trust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Identity verification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Secure communication at scale</a:t>
            </a:r>
          </a:p>
          <a:p>
            <a:pPr>
              <a:lnSpc>
                <a:spcPct val="120000"/>
              </a:lnSpc>
            </a:pPr>
            <a:r>
              <a:rPr lang="en-US" dirty="0"/>
              <a:t>PKI answers the question: </a:t>
            </a:r>
            <a:r>
              <a:rPr lang="en-US" b="1" dirty="0"/>
              <a:t>“Whose key is this?”</a:t>
            </a:r>
          </a:p>
          <a:p>
            <a:pPr>
              <a:lnSpc>
                <a:spcPct val="120000"/>
              </a:lnSpc>
            </a:pPr>
            <a:r>
              <a:rPr lang="en-US" dirty="0"/>
              <a:t>Public Key Infrastructure (PKI) is a framework of </a:t>
            </a:r>
            <a:r>
              <a:rPr lang="en-US" b="1" dirty="0"/>
              <a:t>policies, processes, and technologies</a:t>
            </a:r>
            <a:r>
              <a:rPr lang="en-US" dirty="0"/>
              <a:t> used to manage digital certificates and public-key encryption.</a:t>
            </a:r>
          </a:p>
          <a:p>
            <a:pPr>
              <a:lnSpc>
                <a:spcPct val="120000"/>
              </a:lnSpc>
            </a:pPr>
            <a:r>
              <a:rPr lang="en-US" dirty="0"/>
              <a:t>This prevents: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Impersonation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Man-in-the-middle attacks</a:t>
            </a:r>
          </a:p>
          <a:p>
            <a:pPr>
              <a:lnSpc>
                <a:spcPct val="120000"/>
              </a:lnSpc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18BCA-F892-4B92-B5DD-2FAEE1C86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10B0AA-1F17-47B2-8C76-C38657349CB7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city’s trusted key authority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747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7A65-EFF8-4D5E-BCC3-7871BAEE7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217"/>
          </a:xfrm>
        </p:spPr>
        <p:txBody>
          <a:bodyPr/>
          <a:lstStyle/>
          <a:p>
            <a:r>
              <a:rPr lang="en-US" dirty="0"/>
              <a:t>Core PKI Components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23EFB-51A1-4DEF-86C3-47DF2F39A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0610"/>
            <a:ext cx="4881530" cy="4846353"/>
          </a:xfrm>
        </p:spPr>
        <p:txBody>
          <a:bodyPr>
            <a:normAutofit fontScale="92500" lnSpcReduction="10000"/>
          </a:bodyPr>
          <a:lstStyle/>
          <a:p>
            <a:r>
              <a:rPr lang="en-ID" sz="2400" dirty="0"/>
              <a:t>Certificate Authority (CA)</a:t>
            </a:r>
          </a:p>
          <a:p>
            <a:pPr lvl="1"/>
            <a:r>
              <a:rPr lang="en-ID" sz="2000" dirty="0"/>
              <a:t>Issues and signs certificates</a:t>
            </a:r>
          </a:p>
          <a:p>
            <a:pPr lvl="1"/>
            <a:r>
              <a:rPr lang="en-ID" sz="2000" dirty="0"/>
              <a:t>Establishes trust</a:t>
            </a:r>
          </a:p>
          <a:p>
            <a:r>
              <a:rPr lang="en-ID" sz="2400" dirty="0"/>
              <a:t>Registration Authority (RA)</a:t>
            </a:r>
          </a:p>
          <a:p>
            <a:pPr lvl="1"/>
            <a:r>
              <a:rPr lang="en-US" sz="2000" dirty="0"/>
              <a:t>Verifies identity before certificate issuance</a:t>
            </a:r>
            <a:endParaRPr lang="en-ID" sz="2000" dirty="0"/>
          </a:p>
          <a:p>
            <a:r>
              <a:rPr lang="en-ID" sz="2400" dirty="0"/>
              <a:t>Digital Certificates</a:t>
            </a:r>
          </a:p>
          <a:p>
            <a:pPr lvl="1"/>
            <a:r>
              <a:rPr lang="en-ID" sz="2000" dirty="0"/>
              <a:t>Bind public key to identity</a:t>
            </a:r>
          </a:p>
          <a:p>
            <a:pPr lvl="1"/>
            <a:r>
              <a:rPr lang="en-ID" sz="2000" dirty="0"/>
              <a:t>Have expiration dates</a:t>
            </a:r>
          </a:p>
          <a:p>
            <a:pPr marL="457200" lvl="1" indent="0">
              <a:buNone/>
            </a:pPr>
            <a:endParaRPr lang="en-ID" sz="2000" dirty="0"/>
          </a:p>
          <a:p>
            <a:pPr marL="0" indent="0">
              <a:buNone/>
            </a:pPr>
            <a:r>
              <a:rPr lang="en-ID" sz="2400" dirty="0"/>
              <a:t>(additional)</a:t>
            </a:r>
          </a:p>
          <a:p>
            <a:r>
              <a:rPr lang="en-ID" sz="2400" dirty="0"/>
              <a:t>Verification Authority</a:t>
            </a:r>
          </a:p>
          <a:p>
            <a:pPr lvl="1"/>
            <a:r>
              <a:rPr lang="en-ID" sz="1600" dirty="0"/>
              <a:t>verifies certificate </a:t>
            </a:r>
            <a:r>
              <a:rPr lang="en-ID" sz="1600" b="1" dirty="0"/>
              <a:t>after issuance</a:t>
            </a:r>
            <a:r>
              <a:rPr lang="en-ID" sz="1600" dirty="0"/>
              <a:t>.</a:t>
            </a:r>
          </a:p>
          <a:p>
            <a:pPr lvl="1"/>
            <a:r>
              <a:rPr lang="en-US" sz="1600" dirty="0"/>
              <a:t>Is the certificate still valid?</a:t>
            </a:r>
          </a:p>
          <a:p>
            <a:pPr lvl="1"/>
            <a:r>
              <a:rPr lang="en-US" sz="1600" dirty="0"/>
              <a:t>Has it been revoked?</a:t>
            </a:r>
          </a:p>
          <a:p>
            <a:pPr lvl="1"/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B0E54-9F2B-4E73-B1C2-A9003C7E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pic>
        <p:nvPicPr>
          <p:cNvPr id="7174" name="Picture 6" descr="Public Key Infrastructure (PKI) — MCSI Library">
            <a:extLst>
              <a:ext uri="{FF2B5EF4-FFF2-40B4-BE49-F238E27FC236}">
                <a16:creationId xmlns:a16="http://schemas.microsoft.com/office/drawing/2014/main" id="{D436FC3D-4DF1-44EB-8C6C-C65D4AEF4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5008" y="1256741"/>
            <a:ext cx="6162824" cy="4674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02099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8F27-4A40-40BA-AB27-6CD2B5477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6775"/>
          </a:xfrm>
        </p:spPr>
        <p:txBody>
          <a:bodyPr/>
          <a:lstStyle/>
          <a:p>
            <a:r>
              <a:rPr lang="en-ID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16A02-8D5C-40B6-8DEB-36BFC0A1B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2700"/>
            <a:ext cx="5568950" cy="4894263"/>
          </a:xfrm>
        </p:spPr>
        <p:txBody>
          <a:bodyPr>
            <a:normAutofit/>
          </a:bodyPr>
          <a:lstStyle/>
          <a:p>
            <a:r>
              <a:rPr lang="en-US" sz="2000" dirty="0"/>
              <a:t>Encryption is </a:t>
            </a:r>
            <a:r>
              <a:rPr lang="en-US" sz="2000" b="1" dirty="0"/>
              <a:t>locking a message in a box</a:t>
            </a:r>
            <a:r>
              <a:rPr lang="en-US" sz="2000" dirty="0"/>
              <a:t> so only someone with a key can open it.</a:t>
            </a:r>
          </a:p>
          <a:p>
            <a:r>
              <a:rPr lang="en-US" sz="2000" dirty="0"/>
              <a:t>Hashing is </a:t>
            </a:r>
            <a:r>
              <a:rPr lang="en-US" sz="2000" b="1" dirty="0"/>
              <a:t>melting the message into wax</a:t>
            </a:r>
            <a:r>
              <a:rPr lang="en-US" sz="2000" dirty="0"/>
              <a:t> — you can check the seal, but you can’t get the letter back.</a:t>
            </a:r>
          </a:p>
          <a:p>
            <a:r>
              <a:rPr lang="en-US" sz="2000" b="1" dirty="0"/>
              <a:t>Hashing</a:t>
            </a:r>
            <a:r>
              <a:rPr lang="en-US" sz="2000" dirty="0"/>
              <a:t> is a one-way cryptographic function that converts data into a fixed-length value, used to </a:t>
            </a:r>
            <a:r>
              <a:rPr lang="en-US" sz="2000" b="1" dirty="0"/>
              <a:t>verify integrity</a:t>
            </a:r>
            <a:r>
              <a:rPr lang="en-US" sz="2000" dirty="0"/>
              <a:t>, not to restore original data.</a:t>
            </a:r>
          </a:p>
          <a:p>
            <a:r>
              <a:rPr lang="en-US" sz="2000" dirty="0"/>
              <a:t>Hashing is a standard way to securely store password data</a:t>
            </a: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5A39-5324-415C-ACBD-01A3A722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9A859D-27EE-4E5A-95DC-6CCAC0832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2750" y="4900502"/>
            <a:ext cx="34671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Encryption → reversible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Hashing →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one-way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1" name="Picture 7" descr="Hashing vs Encryption vs Salting – What's The Difference? 🤷🏽‍♂️">
            <a:extLst>
              <a:ext uri="{FF2B5EF4-FFF2-40B4-BE49-F238E27FC236}">
                <a16:creationId xmlns:a16="http://schemas.microsoft.com/office/drawing/2014/main" id="{3DBF2AB9-DB2F-4340-943C-5C614E0E7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300" y="1371025"/>
            <a:ext cx="5188891" cy="33662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81424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Modern Computing Environments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Protection in distributed, shared, and mobile systems</a:t>
            </a:r>
          </a:p>
          <a:p>
            <a:r>
              <a:rPr lang="en-US" sz="1800" dirty="0"/>
              <a:t>17-19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3904752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Web-based Communication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Once the city can trust identities and keys, it can safely communicate beyond its walls.</a:t>
            </a:r>
          </a:p>
          <a:p>
            <a:pPr>
              <a:lnSpc>
                <a:spcPct val="100000"/>
              </a:lnSpc>
            </a:pPr>
            <a:r>
              <a:rPr lang="en-US" dirty="0"/>
              <a:t>Web-based communication technologies define how data is exchanged between: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Users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Systems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Internal and external parties</a:t>
            </a:r>
          </a:p>
          <a:p>
            <a:pPr>
              <a:lnSpc>
                <a:spcPct val="100000"/>
              </a:lnSpc>
            </a:pPr>
            <a:r>
              <a:rPr lang="en-ID" dirty="0"/>
              <a:t>HTTP vs HTTPS</a:t>
            </a:r>
            <a:r>
              <a:rPr lang="en-US" dirty="0"/>
              <a:t> (</a:t>
            </a:r>
            <a:r>
              <a:rPr lang="en-ID" dirty="0"/>
              <a:t>No encryption</a:t>
            </a:r>
            <a:r>
              <a:rPr lang="en-US" dirty="0"/>
              <a:t> vs </a:t>
            </a:r>
            <a:r>
              <a:rPr lang="en-ID" dirty="0"/>
              <a:t>Encryption </a:t>
            </a:r>
            <a:r>
              <a:rPr lang="en-US" dirty="0"/>
              <a:t>)</a:t>
            </a:r>
          </a:p>
          <a:p>
            <a:pPr>
              <a:lnSpc>
                <a:spcPct val="100000"/>
              </a:lnSpc>
            </a:pPr>
            <a:r>
              <a:rPr lang="en-ID" dirty="0"/>
              <a:t>API (Application Program Interface) enables system-to-system communication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How the city talks to the outside world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11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Virtualized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Modern cities no longer build one building per function.</a:t>
            </a:r>
          </a:p>
          <a:p>
            <a:pPr>
              <a:lnSpc>
                <a:spcPct val="100000"/>
              </a:lnSpc>
            </a:pPr>
            <a:r>
              <a:rPr lang="en-US" dirty="0"/>
              <a:t>They build </a:t>
            </a:r>
            <a:r>
              <a:rPr lang="en-US" b="1" dirty="0"/>
              <a:t>many virtual cities on top of the same land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changes </a:t>
            </a:r>
            <a:r>
              <a:rPr lang="en-US" b="1" dirty="0"/>
              <a:t>how assets are isolated, shared, and protected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allows multiple cities to coexist </a:t>
            </a:r>
            <a:r>
              <a:rPr lang="en-US" b="1" dirty="0"/>
              <a:t>without seeing each other</a:t>
            </a:r>
            <a:r>
              <a:rPr lang="en-US" dirty="0"/>
              <a:t> — if designed correctly.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is the technology that enables </a:t>
            </a:r>
            <a:r>
              <a:rPr lang="en-US" b="1" dirty="0"/>
              <a:t>multiple logical computing environments</a:t>
            </a:r>
            <a:r>
              <a:rPr lang="en-US" dirty="0"/>
              <a:t> to run on a </a:t>
            </a:r>
            <a:r>
              <a:rPr lang="en-US" b="1" dirty="0"/>
              <a:t>single physical infrastructure</a:t>
            </a:r>
            <a:r>
              <a:rPr lang="en-US" dirty="0"/>
              <a:t>, managed by a hypervisor.</a:t>
            </a:r>
          </a:p>
          <a:p>
            <a:pPr>
              <a:lnSpc>
                <a:spcPct val="100000"/>
              </a:lnSpc>
            </a:pPr>
            <a:r>
              <a:rPr lang="en-US" dirty="0"/>
              <a:t>New Risks Introduced by Virtualization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Single point of failure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High-value attack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Many cities built on the same land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0022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US" dirty="0"/>
              <a:t>Mobile, Wireless, and IoT Devices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935"/>
            <a:ext cx="10515600" cy="492202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Information assets are no longer accessed </a:t>
            </a:r>
            <a:r>
              <a:rPr lang="en-US" sz="2000" b="1" dirty="0"/>
              <a:t>inside the city walls</a:t>
            </a:r>
            <a:r>
              <a:rPr lang="en-US" sz="2000" dirty="0"/>
              <a:t>.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They are accessed: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Anywhere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Anytime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By many small, weak devices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Convenience vs control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ID" sz="2000" dirty="0"/>
              <a:t>Risks: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Lost or stolen devices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Unsecured apps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Weak authentication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Core controls: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Strong authentication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Device encryption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Remote wipe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ADD05-E84C-403F-8A2F-EC1D52A0C517}"/>
              </a:ext>
            </a:extLst>
          </p:cNvPr>
          <p:cNvSpPr txBox="1"/>
          <p:nvPr/>
        </p:nvSpPr>
        <p:spPr>
          <a:xfrm>
            <a:off x="5361853" y="2974981"/>
            <a:ext cx="4368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When access becomes mobile and invisible, control must become deliberate and disciplined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3287374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A816-7CAB-4E88-83D8-BB1EC8C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Next Week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BAAC1-CCFD-4C30-96A5-4BE6B88F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C7E4A-597D-4324-BC93-3257388D6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771528" cy="3864538"/>
          </a:xfrm>
        </p:spPr>
        <p:txBody>
          <a:bodyPr/>
          <a:lstStyle/>
          <a:p>
            <a:r>
              <a:rPr lang="en-US" dirty="0"/>
              <a:t>Let’s stress test ourselves before deployment </a:t>
            </a:r>
          </a:p>
          <a:p>
            <a:r>
              <a:rPr lang="en-ID" dirty="0"/>
              <a:t>It’ll cover Domain 5</a:t>
            </a:r>
          </a:p>
        </p:txBody>
      </p:sp>
    </p:spTree>
    <p:extLst>
      <p:ext uri="{BB962C8B-B14F-4D97-AF65-F5344CB8AC3E}">
        <p14:creationId xmlns:p14="http://schemas.microsoft.com/office/powerpoint/2010/main" val="3933856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2754</Words>
  <Application>Microsoft Office PowerPoint</Application>
  <PresentationFormat>Widescreen</PresentationFormat>
  <Paragraphs>496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Information Asset Security and Control</vt:lpstr>
      <vt:lpstr>Class Recap</vt:lpstr>
      <vt:lpstr>Class Roadmap</vt:lpstr>
      <vt:lpstr>Covered So Far</vt:lpstr>
      <vt:lpstr>PowerPoint Presentation</vt:lpstr>
      <vt:lpstr>Intro</vt:lpstr>
      <vt:lpstr>What This Chapter is About?</vt:lpstr>
      <vt:lpstr>Let’s Protect the City</vt:lpstr>
      <vt:lpstr>Part A vs Part B of Chapter 5</vt:lpstr>
      <vt:lpstr>Part A vs Part B Topics</vt:lpstr>
      <vt:lpstr>Part A Topics’ Brief Explanation</vt:lpstr>
      <vt:lpstr>What and Why We Protect</vt:lpstr>
      <vt:lpstr>What Is an Information Asset?</vt:lpstr>
      <vt:lpstr>Why Knowing This Matters?</vt:lpstr>
      <vt:lpstr>Then What is “Secure”?</vt:lpstr>
      <vt:lpstr>The “Secure” City</vt:lpstr>
      <vt:lpstr>Security Objectives (CIA Triad)</vt:lpstr>
      <vt:lpstr>Information Asset Security Frameworks, Standards &amp; Guidelines</vt:lpstr>
      <vt:lpstr>What Is a Security Framework?</vt:lpstr>
      <vt:lpstr>Frameworks vs Standards vs Guidelines</vt:lpstr>
      <vt:lpstr>Create Your Own Analogy</vt:lpstr>
      <vt:lpstr>Why Auditors Care</vt:lpstr>
      <vt:lpstr>Trust and Responsibility Over Data</vt:lpstr>
      <vt:lpstr>The “Secure City”</vt:lpstr>
      <vt:lpstr>Security vs Privacy</vt:lpstr>
      <vt:lpstr>Privacy Principles</vt:lpstr>
      <vt:lpstr>Core Privacy Principles</vt:lpstr>
      <vt:lpstr>Access to the City: Who May Enter</vt:lpstr>
      <vt:lpstr>Physical Access Control</vt:lpstr>
      <vt:lpstr>Identity and Access Management (IAM)</vt:lpstr>
      <vt:lpstr>IAM Pillars</vt:lpstr>
      <vt:lpstr>Defending the Infrastructure</vt:lpstr>
      <vt:lpstr>Environmental Controls</vt:lpstr>
      <vt:lpstr>Network and Endpoint Security</vt:lpstr>
      <vt:lpstr>Network and Endpoint Control Examples</vt:lpstr>
      <vt:lpstr>Protecting the Data Itself</vt:lpstr>
      <vt:lpstr>Data Classification</vt:lpstr>
      <vt:lpstr>Typical Classification Levels</vt:lpstr>
      <vt:lpstr>Data Encryption &amp; Encryption-related Techniques</vt:lpstr>
      <vt:lpstr>Symmetric vs Asymmetric Encryption</vt:lpstr>
      <vt:lpstr>Public Key Infrastructure (PKI)</vt:lpstr>
      <vt:lpstr>Core PKI Components</vt:lpstr>
      <vt:lpstr>Hashing</vt:lpstr>
      <vt:lpstr>Modern Computing Environments</vt:lpstr>
      <vt:lpstr>Web-based Communication Technologies</vt:lpstr>
      <vt:lpstr>Virtualized Environments</vt:lpstr>
      <vt:lpstr>Mobile, Wireless, and IoT Devices</vt:lpstr>
      <vt:lpstr>Quiz Next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36</cp:revision>
  <dcterms:created xsi:type="dcterms:W3CDTF">2023-09-18T04:21:25Z</dcterms:created>
  <dcterms:modified xsi:type="dcterms:W3CDTF">2026-08-24T03:19:26Z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