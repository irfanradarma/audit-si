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62" r:id="rId5"/>
    <p:sldId id="260" r:id="rId6"/>
    <p:sldId id="542" r:id="rId7"/>
    <p:sldId id="304" r:id="rId8"/>
    <p:sldId id="263" r:id="rId9"/>
    <p:sldId id="264" r:id="rId10"/>
    <p:sldId id="463" r:id="rId11"/>
    <p:sldId id="508" r:id="rId12"/>
    <p:sldId id="467" r:id="rId13"/>
    <p:sldId id="509" r:id="rId14"/>
    <p:sldId id="511" r:id="rId15"/>
    <p:sldId id="512" r:id="rId16"/>
    <p:sldId id="513" r:id="rId17"/>
    <p:sldId id="541" r:id="rId18"/>
    <p:sldId id="510" r:id="rId19"/>
    <p:sldId id="514" r:id="rId20"/>
    <p:sldId id="515" r:id="rId21"/>
    <p:sldId id="516" r:id="rId22"/>
    <p:sldId id="517" r:id="rId23"/>
    <p:sldId id="518" r:id="rId24"/>
    <p:sldId id="519" r:id="rId25"/>
    <p:sldId id="520" r:id="rId26"/>
    <p:sldId id="521" r:id="rId27"/>
    <p:sldId id="522" r:id="rId28"/>
    <p:sldId id="523" r:id="rId29"/>
    <p:sldId id="524" r:id="rId30"/>
    <p:sldId id="525" r:id="rId31"/>
    <p:sldId id="526" r:id="rId32"/>
    <p:sldId id="527" r:id="rId33"/>
    <p:sldId id="528" r:id="rId34"/>
    <p:sldId id="529" r:id="rId35"/>
    <p:sldId id="530" r:id="rId36"/>
    <p:sldId id="531" r:id="rId37"/>
    <p:sldId id="532" r:id="rId38"/>
    <p:sldId id="533" r:id="rId39"/>
    <p:sldId id="534" r:id="rId40"/>
    <p:sldId id="535" r:id="rId41"/>
    <p:sldId id="536" r:id="rId42"/>
    <p:sldId id="537" r:id="rId43"/>
    <p:sldId id="538" r:id="rId44"/>
    <p:sldId id="539" r:id="rId45"/>
    <p:sldId id="503" r:id="rId46"/>
    <p:sldId id="540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F3173CF-43E0-447D-91E8-6743822B86BC}"/>
    <pc:docChg chg="addSld delSld modSld">
      <pc:chgData name="Teuku Raja Irfan Radarma" userId="cf428174-95ba-4576-8554-3a3b8ffa52b7" providerId="ADAL" clId="{6F3173CF-43E0-447D-91E8-6743822B86BC}" dt="2026-08-23T00:58:37.434" v="6" actId="113"/>
      <pc:docMkLst>
        <pc:docMk/>
      </pc:docMkLst>
      <pc:sldChg chg="del">
        <pc:chgData name="Teuku Raja Irfan Radarma" userId="cf428174-95ba-4576-8554-3a3b8ffa52b7" providerId="ADAL" clId="{6F3173CF-43E0-447D-91E8-6743822B86BC}" dt="2026-08-23T00:58:30.885" v="3" actId="47"/>
        <pc:sldMkLst>
          <pc:docMk/>
          <pc:sldMk cId="4030995347" sldId="257"/>
        </pc:sldMkLst>
      </pc:sldChg>
      <pc:sldChg chg="modSp mod">
        <pc:chgData name="Teuku Raja Irfan Radarma" userId="cf428174-95ba-4576-8554-3a3b8ffa52b7" providerId="ADAL" clId="{6F3173CF-43E0-447D-91E8-6743822B86BC}" dt="2026-08-23T00:58:20.806" v="1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F3173CF-43E0-447D-91E8-6743822B86BC}" dt="2026-08-23T00:58:20.806" v="1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add mod">
        <pc:chgData name="Teuku Raja Irfan Radarma" userId="cf428174-95ba-4576-8554-3a3b8ffa52b7" providerId="ADAL" clId="{6F3173CF-43E0-447D-91E8-6743822B86BC}" dt="2026-08-23T00:58:37.434" v="6" actId="113"/>
        <pc:sldMkLst>
          <pc:docMk/>
          <pc:sldMk cId="83956211" sldId="542"/>
        </pc:sldMkLst>
        <pc:spChg chg="mod">
          <ac:chgData name="Teuku Raja Irfan Radarma" userId="cf428174-95ba-4576-8554-3a3b8ffa52b7" providerId="ADAL" clId="{6F3173CF-43E0-447D-91E8-6743822B86BC}" dt="2026-08-23T00:58:37.434" v="6" actId="113"/>
          <ac:spMkLst>
            <pc:docMk/>
            <pc:sldMk cId="83956211" sldId="542"/>
            <ac:spMk id="4" creationId="{6C09DF7A-9B78-AB11-FA80-26BA72C3D29B}"/>
          </ac:spMkLst>
        </pc:spChg>
      </pc:sld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wSvXuQTEnVVMYnZ3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Security Event Management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54AE87D0-7797-4862-92AB-F7908B657C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47" b="877"/>
          <a:stretch/>
        </p:blipFill>
        <p:spPr>
          <a:xfrm>
            <a:off x="0" y="0"/>
            <a:ext cx="12192000" cy="3181350"/>
          </a:xfrm>
        </p:spPr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Practicum on Domain 3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Navigating International Standards (GTAG)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 Prep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Protection of Information Assets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Protection of Information Assets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 for Auditing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Case Study: 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 Prep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83956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and its audit concept through COBIT 2019 standard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  <a:p>
            <a:r>
              <a:rPr lang="en-US" sz="2000" dirty="0"/>
              <a:t>How to make sure the system is running well and prevented to have prolonged downtime</a:t>
            </a:r>
          </a:p>
          <a:p>
            <a:r>
              <a:rPr lang="en-US" sz="2000" dirty="0"/>
              <a:t>Basic rule of thumb to protect information and assets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908461" y="4027567"/>
            <a:ext cx="79802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Protection of Information and Assets</a:t>
            </a:r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Security Awareness Programs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Information System Attack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Testing Tools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Incident Response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#detection #response #human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63916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/>
              <a:t>While Part A covers the </a:t>
            </a:r>
            <a:r>
              <a:rPr lang="en-US" sz="3200" i="1" dirty="0"/>
              <a:t>prevention</a:t>
            </a:r>
            <a:r>
              <a:rPr lang="en-US" sz="3200" dirty="0"/>
              <a:t> and </a:t>
            </a:r>
            <a:r>
              <a:rPr lang="en-US" sz="3200" i="1" dirty="0"/>
              <a:t>architecture</a:t>
            </a:r>
            <a:r>
              <a:rPr lang="en-US" sz="3200" dirty="0"/>
              <a:t> (like cryptography and access control), Part B shifts focus to </a:t>
            </a:r>
            <a:r>
              <a:rPr lang="en-US" sz="3200" b="1" i="1" dirty="0"/>
              <a:t>detection</a:t>
            </a:r>
            <a:r>
              <a:rPr lang="en-US" sz="3200" i="1" dirty="0"/>
              <a:t>, </a:t>
            </a:r>
            <a:r>
              <a:rPr lang="en-US" sz="3200" b="1" i="1" dirty="0"/>
              <a:t>response</a:t>
            </a:r>
            <a:r>
              <a:rPr lang="en-US" sz="3200" i="1" dirty="0"/>
              <a:t>, and the </a:t>
            </a:r>
            <a:r>
              <a:rPr lang="en-US" sz="3200" b="1" i="1" dirty="0"/>
              <a:t>human element</a:t>
            </a:r>
            <a:r>
              <a:rPr lang="en-US" sz="3200" dirty="0"/>
              <a:t>.</a:t>
            </a:r>
            <a:endParaRPr lang="en-ID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32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425645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Evaluate the effectiveness of </a:t>
            </a:r>
            <a:r>
              <a:rPr lang="en-US" sz="2400" b="1" dirty="0"/>
              <a:t>Security Awareness Programs</a:t>
            </a:r>
            <a:r>
              <a:rPr lang="en-US" sz="2400" dirty="0"/>
              <a:t> (the “Human Firewall”)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Identify common </a:t>
            </a:r>
            <a:r>
              <a:rPr lang="en-US" sz="2400" b="1" dirty="0"/>
              <a:t>Information System Attack</a:t>
            </a:r>
            <a:r>
              <a:rPr lang="en-US" sz="2400" dirty="0"/>
              <a:t> methods (how the bad guys get in)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Distinguish between various </a:t>
            </a:r>
            <a:r>
              <a:rPr lang="en-US" sz="2400" b="1" dirty="0"/>
              <a:t>Security Testing Tools </a:t>
            </a:r>
            <a:r>
              <a:rPr lang="en-US" sz="2400" dirty="0"/>
              <a:t>(penetration testing vs. vulnerability scanning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Understand </a:t>
            </a:r>
            <a:r>
              <a:rPr lang="en-US" sz="2400" b="1" dirty="0"/>
              <a:t>Security Monitoring </a:t>
            </a:r>
            <a:r>
              <a:rPr lang="en-US" sz="2400" dirty="0"/>
              <a:t>techniques (IDS, IPS, SIEM)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Audit the </a:t>
            </a:r>
            <a:r>
              <a:rPr lang="en-US" sz="2400" b="1" dirty="0"/>
              <a:t>Incident Response</a:t>
            </a:r>
            <a:r>
              <a:rPr lang="en-US" sz="2400" dirty="0"/>
              <a:t> process and </a:t>
            </a:r>
            <a:r>
              <a:rPr lang="en-US" sz="2400" b="1" dirty="0"/>
              <a:t>Forensics</a:t>
            </a:r>
            <a:r>
              <a:rPr lang="en-US" sz="2400" dirty="0"/>
              <a:t> procedures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49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Security Awareness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2000" dirty="0"/>
              <a:t>People are often the weakest link</a:t>
            </a:r>
          </a:p>
        </p:txBody>
      </p:sp>
    </p:spTree>
    <p:extLst>
      <p:ext uri="{BB962C8B-B14F-4D97-AF65-F5344CB8AC3E}">
        <p14:creationId xmlns:p14="http://schemas.microsoft.com/office/powerpoint/2010/main" val="349334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43EB8-4892-44AF-9B44-964D1F7B3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0532"/>
          </a:xfrm>
        </p:spPr>
        <p:txBody>
          <a:bodyPr/>
          <a:lstStyle/>
          <a:p>
            <a:r>
              <a:rPr lang="en-US" dirty="0"/>
              <a:t>Why Technology Isn’t Enough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EA912-00A5-406D-9EDF-75CE771BE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070" y="5663170"/>
            <a:ext cx="6241869" cy="4995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D" sz="1800" dirty="0"/>
              <a:t>https://netwrix.com/en/resources/blog/mgm-cyber-attack/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6DE3B-161A-4A9C-8BF6-1D96F4C1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E67A07-B4A2-455D-8C44-95673F0D0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70" y="1325458"/>
            <a:ext cx="5142090" cy="27161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077DD7-7249-4568-9D4E-F9032B2FF8FA}"/>
              </a:ext>
            </a:extLst>
          </p:cNvPr>
          <p:cNvSpPr txBox="1"/>
          <p:nvPr/>
        </p:nvSpPr>
        <p:spPr>
          <a:xfrm>
            <a:off x="6096000" y="1180680"/>
            <a:ext cx="572588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The Attack: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Attackers found an employee's information on LinkedIn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They called the </a:t>
            </a:r>
            <a:r>
              <a:rPr lang="en-US" b="1" dirty="0"/>
              <a:t>IT Help Desk</a:t>
            </a:r>
            <a:r>
              <a:rPr lang="en-US" dirty="0"/>
              <a:t>, pretending to be that employee who "lost their phone.”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The Human Failure:</a:t>
            </a:r>
            <a:r>
              <a:rPr lang="en-US" dirty="0"/>
              <a:t> The Help Desk agent reset the credentials and gave them to the attacker over the phone.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9AC6AE-624E-4D3C-94B3-B05423B6B2A5}"/>
              </a:ext>
            </a:extLst>
          </p:cNvPr>
          <p:cNvSpPr txBox="1"/>
          <p:nvPr/>
        </p:nvSpPr>
        <p:spPr>
          <a:xfrm>
            <a:off x="6096000" y="3698924"/>
            <a:ext cx="572588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The Consequence: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Attackers gained "Super Admin" access.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 days of chaos: Slot machines went dark, hotel room keys stopped working, guests were locked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Financial Loss:</a:t>
            </a:r>
            <a:r>
              <a:rPr lang="en-US" dirty="0"/>
              <a:t> Approx. </a:t>
            </a:r>
            <a:r>
              <a:rPr lang="en-US" b="1" dirty="0"/>
              <a:t>$100 Million</a:t>
            </a:r>
            <a:r>
              <a:rPr lang="en-US" dirty="0"/>
              <a:t> in lost revenue</a:t>
            </a:r>
          </a:p>
        </p:txBody>
      </p:sp>
    </p:spTree>
    <p:extLst>
      <p:ext uri="{BB962C8B-B14F-4D97-AF65-F5344CB8AC3E}">
        <p14:creationId xmlns:p14="http://schemas.microsoft.com/office/powerpoint/2010/main" val="855949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4FDB2-D8ED-4930-8297-BDAE5A72F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4136"/>
          </a:xfrm>
        </p:spPr>
        <p:txBody>
          <a:bodyPr/>
          <a:lstStyle/>
          <a:p>
            <a:r>
              <a:rPr lang="en-ID" dirty="0"/>
              <a:t>Social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61A2-D8D3-4384-88A9-332CD72F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6018"/>
            <a:ext cx="10515600" cy="4609836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The psychological manipulation of people into performing actions or divulging confidential information.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/>
              <a:t>Why it works:</a:t>
            </a:r>
            <a:r>
              <a:rPr lang="en-US" dirty="0"/>
              <a:t> Exploits basic human nature.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Trust:</a:t>
            </a:r>
            <a:r>
              <a:rPr lang="en-US" dirty="0"/>
              <a:t> Desire to be helpful.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Fear/Urgency:</a:t>
            </a:r>
            <a:r>
              <a:rPr lang="en-US" dirty="0"/>
              <a:t> "Your account will be suspended!"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Curiosity:</a:t>
            </a:r>
            <a:r>
              <a:rPr lang="en-US" dirty="0"/>
              <a:t> "Salary_Report_2025.pdf" on a lost USB drive.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Authority:</a:t>
            </a:r>
            <a:r>
              <a:rPr lang="en-US" dirty="0"/>
              <a:t> "This is the CEO, do this now."</a:t>
            </a:r>
          </a:p>
          <a:p>
            <a:pPr marL="0" indent="0">
              <a:lnSpc>
                <a:spcPct val="110000"/>
              </a:lnSpc>
              <a:buNone/>
            </a:pPr>
            <a:endParaRPr lang="en-US" b="1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/>
              <a:t>The Impact:</a:t>
            </a:r>
            <a:endParaRPr lang="en-US" dirty="0"/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Bypasses technical perimeter defenses.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Harder to detect than malware (looks like legitimate user activity).</a:t>
            </a:r>
          </a:p>
          <a:p>
            <a:pPr>
              <a:lnSpc>
                <a:spcPct val="110000"/>
              </a:lnSpc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09715-81C5-41AD-A2D7-463BACF0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32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D7388-10BC-41E4-A032-8D6DBE76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Common Attack Vector (1/2)</a:t>
            </a:r>
            <a:br>
              <a:rPr lang="en-ID" dirty="0"/>
            </a:br>
            <a:r>
              <a:rPr lang="en-US" sz="2000" dirty="0">
                <a:latin typeface="+mn-lt"/>
              </a:rPr>
              <a:t>Attack Methods: Electronic &amp; Voice Content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B4D0B-26F0-4845-8FCC-6F981583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B3A5359-A09E-4A25-AE75-A4C8B34A96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84157"/>
            <a:ext cx="10418379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Phishing: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Mass emails sent to many, low customization (e.g., "Reset your Netflix password").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Spear Phishing: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Targeted emails to a specific individual/team using gathered intel.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Whaling: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Spear phishing targeting C-Suite (CEO, CFO) for high-value data/wire transfers.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Vishing (Voice Phishing):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Attacks via phone.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Example: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Fake IT support calling to "fix" a virus.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Call-back verification policy.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Smishing: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Phishing via SMS/Text messages (often delivery scams or 2FA codes).</a:t>
            </a:r>
          </a:p>
        </p:txBody>
      </p:sp>
    </p:spTree>
    <p:extLst>
      <p:ext uri="{BB962C8B-B14F-4D97-AF65-F5344CB8AC3E}">
        <p14:creationId xmlns:p14="http://schemas.microsoft.com/office/powerpoint/2010/main" val="3257704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D7388-10BC-41E4-A032-8D6DBE76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Common Attack Vector (2/2)</a:t>
            </a:r>
            <a:br>
              <a:rPr lang="en-ID" dirty="0"/>
            </a:br>
            <a:r>
              <a:rPr lang="en-US" sz="2000" dirty="0">
                <a:latin typeface="+mn-lt"/>
              </a:rPr>
              <a:t>Attack Methods: Physical &amp; Presence Content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B4D0B-26F0-4845-8FCC-6F981583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B3A5359-A09E-4A25-AE75-A4C8B34A96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87948"/>
            <a:ext cx="10418379" cy="3347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Tailgating:</a:t>
            </a:r>
            <a:r>
              <a:rPr lang="en-US" sz="2000" dirty="0"/>
              <a:t> Following an authorized person into a secure area without them knowing.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Piggybacking:</a:t>
            </a:r>
            <a:r>
              <a:rPr lang="en-US" sz="2000" dirty="0"/>
              <a:t> An authorized person </a:t>
            </a:r>
            <a:r>
              <a:rPr lang="en-US" sz="2000" i="1" dirty="0"/>
              <a:t>knowingly</a:t>
            </a:r>
            <a:r>
              <a:rPr lang="en-US" sz="2000" dirty="0"/>
              <a:t> allows an unauthorized person to follow (holding the door).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Audit Check:</a:t>
            </a:r>
            <a:r>
              <a:rPr lang="en-US" sz="1800" dirty="0"/>
              <a:t> Do employees challenge strangers?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Dumpster Diving:</a:t>
            </a:r>
            <a:r>
              <a:rPr lang="en-US" sz="2000" dirty="0"/>
              <a:t> Searching trash for sensitive documents (invoices, sticky notes with passwords).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Control:</a:t>
            </a:r>
            <a:r>
              <a:rPr lang="en-US" sz="1800" dirty="0"/>
              <a:t> Cross-cut shredders and secure disposal bins.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Shoulder Surfing:</a:t>
            </a:r>
            <a:r>
              <a:rPr lang="en-US" sz="2000" dirty="0"/>
              <a:t> Viewing screens/keyboards from a distance.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Control:</a:t>
            </a:r>
            <a:r>
              <a:rPr lang="en-US" sz="1800" dirty="0"/>
              <a:t> Privacy screen filters.</a:t>
            </a:r>
          </a:p>
        </p:txBody>
      </p:sp>
    </p:spTree>
    <p:extLst>
      <p:ext uri="{BB962C8B-B14F-4D97-AF65-F5344CB8AC3E}">
        <p14:creationId xmlns:p14="http://schemas.microsoft.com/office/powerpoint/2010/main" val="228243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D80A9-3EA1-4E65-9641-193AEBDC2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Open Question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E2640A-0203-4A7B-92CE-3D4587367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EE387-489D-4554-A4A5-DAD5FE51D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062545" cy="3864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Once you know the common attack vector mentioned before, what would you do to defend against that?</a:t>
            </a:r>
          </a:p>
          <a:p>
            <a:r>
              <a:rPr lang="en-ID" dirty="0"/>
              <a:t>Tailgating?</a:t>
            </a:r>
          </a:p>
          <a:p>
            <a:r>
              <a:rPr lang="en-ID" dirty="0"/>
              <a:t>Piggybacking?</a:t>
            </a:r>
          </a:p>
          <a:p>
            <a:r>
              <a:rPr lang="en-ID" dirty="0"/>
              <a:t>Dumpster Diving?</a:t>
            </a:r>
          </a:p>
          <a:p>
            <a:r>
              <a:rPr lang="en-ID" dirty="0"/>
              <a:t>Shoulder Surfing?</a:t>
            </a:r>
          </a:p>
          <a:p>
            <a:r>
              <a:rPr lang="en-ID" dirty="0" err="1"/>
              <a:t>Phising</a:t>
            </a:r>
            <a:r>
              <a:rPr lang="en-ID" dirty="0"/>
              <a:t>?</a:t>
            </a:r>
          </a:p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28198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98C14-FC7B-4B1E-AC0F-C08273A0D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031"/>
          </a:xfrm>
        </p:spPr>
        <p:txBody>
          <a:bodyPr/>
          <a:lstStyle/>
          <a:p>
            <a:r>
              <a:rPr lang="en-US" dirty="0"/>
              <a:t>The Human Firewall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BC2B8-B2F6-401A-834B-BD3A1C667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4052953-DAEF-4455-BCA5-3CA7F9704E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074509"/>
            <a:ext cx="1061387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Reality: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Information security is not just a technical issue; it is a "people" issue.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controls (Firewalls, IDS) handle predictable logic. Humans are unpredictable.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"Weakest Link" Principle: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 organization is only as secure as its least informed employee.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 of Awareness: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modify behavior and reduce risk.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ensure employees understand their responsibilities (Due Care).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align individual actions with the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Acceptable Use Policy (AUP)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Awareness vs. Training vs. Education: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Awareness: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"What" (Attention grabbing, posters, login banners).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Training: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"How" (Skill development, e.g., how to encrypt a file).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Education: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"Why" (Deep understanding, certification).</a:t>
            </a:r>
          </a:p>
        </p:txBody>
      </p:sp>
    </p:spTree>
    <p:extLst>
      <p:ext uri="{BB962C8B-B14F-4D97-AF65-F5344CB8AC3E}">
        <p14:creationId xmlns:p14="http://schemas.microsoft.com/office/powerpoint/2010/main" val="2571980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FA79-67D5-4E97-8CB1-83780DFD1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Designing an Effective Program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6B3CF-F897-4ED7-B54F-D9706CD8F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203CBD5-1029-40A3-8727-14723341B1A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20840"/>
            <a:ext cx="1038054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Role-Based Content: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One size does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fit all.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General Staff: Phishing, passwords, clean desk policy.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Developers: OWASP Top 10, secure coding practices.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Management: Business Impact Analysis, approval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workflows.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Frequency:</a:t>
            </a:r>
            <a:endParaRPr lang="en-US" altLang="en-US" sz="20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Onboarding: Day 1 requirement.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Periodic Refresh: Annual (minimum) or Quarterly (preferred).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Just-in-Time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Triggered training immediately after a user fails a phishing test.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Executive Support: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Tone at the top matters. If the CEO ignores security, so will the staff.</a:t>
            </a:r>
          </a:p>
        </p:txBody>
      </p:sp>
    </p:spTree>
    <p:extLst>
      <p:ext uri="{BB962C8B-B14F-4D97-AF65-F5344CB8AC3E}">
        <p14:creationId xmlns:p14="http://schemas.microsoft.com/office/powerpoint/2010/main" val="1329398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0FD7A-9174-4688-9E56-D3CCB561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0958"/>
          </a:xfrm>
        </p:spPr>
        <p:txBody>
          <a:bodyPr/>
          <a:lstStyle/>
          <a:p>
            <a:r>
              <a:rPr lang="en-US" dirty="0"/>
              <a:t>Auditing Awareness Program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C2320-0F23-4391-8A21-82240D00C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6084"/>
            <a:ext cx="10515600" cy="4593731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Document Review: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Review the training curriculum against the current security policy.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Verify attendance records (look for gaps: contractors, temp staff).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Interview Process: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Interview random staff members.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Ask:</a:t>
            </a:r>
            <a:r>
              <a:rPr lang="en-US" sz="1800" dirty="0"/>
              <a:t> "What do you do if you receive a suspicious email?" (Test their knowledge).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Social Engineering Testing: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The Auditor may perform (or oversee) a controlled phishing campaign.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Physical walkthroughs (try to tailgate, look for passwords under keyboards).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Review of Remediation: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What happens when an employee fails a test repeatedly? Is there a formal process?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C77DA-ADA0-4CFA-91A2-CABE50FC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73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Information System Attack Methods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600" dirty="0"/>
              <a:t>Understand what we are defending against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42938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1F7A-83F2-4AE6-AE78-A6ECA76D3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7016"/>
          </a:xfrm>
        </p:spPr>
        <p:txBody>
          <a:bodyPr>
            <a:normAutofit/>
          </a:bodyPr>
          <a:lstStyle/>
          <a:p>
            <a:r>
              <a:rPr lang="en-ID" sz="3200" dirty="0"/>
              <a:t>The Attack Landscape: Passive vs. Active </a:t>
            </a:r>
            <a:r>
              <a:rPr lang="en-ID" sz="3200" b="1" dirty="0"/>
              <a:t>Content</a:t>
            </a:r>
            <a:endParaRPr lang="en-ID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4951C-89EF-4255-A049-2D404044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041"/>
            <a:ext cx="10515600" cy="5990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Attacks are generally classified by how they interact with the system.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4DB97-757A-45C7-A12E-3BF682C5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1539299-D5D5-415D-A5F3-59C072852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052504"/>
              </p:ext>
            </p:extLst>
          </p:nvPr>
        </p:nvGraphicFramePr>
        <p:xfrm>
          <a:off x="838200" y="2182320"/>
          <a:ext cx="10515600" cy="2560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55450">
                  <a:extLst>
                    <a:ext uri="{9D8B030D-6E8A-4147-A177-3AD203B41FA5}">
                      <a16:colId xmlns:a16="http://schemas.microsoft.com/office/drawing/2014/main" val="1131656277"/>
                    </a:ext>
                  </a:extLst>
                </a:gridCol>
                <a:gridCol w="3991829">
                  <a:extLst>
                    <a:ext uri="{9D8B030D-6E8A-4147-A177-3AD203B41FA5}">
                      <a16:colId xmlns:a16="http://schemas.microsoft.com/office/drawing/2014/main" val="1431983632"/>
                    </a:ext>
                  </a:extLst>
                </a:gridCol>
                <a:gridCol w="4568321">
                  <a:extLst>
                    <a:ext uri="{9D8B030D-6E8A-4147-A177-3AD203B41FA5}">
                      <a16:colId xmlns:a16="http://schemas.microsoft.com/office/drawing/2014/main" val="2360380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Passive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(Espionage)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Active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(Sabotage/Manipulation)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35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Goal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Steal information without altering it.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Modify data, disrupt service, or gain unauthorized access.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4025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Examples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Network sniffing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Traffic analysis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Wiretapping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Malware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Denial of Service (DoS)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modifying database records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999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Audit Difficulty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Very hard to detect because data is not changed.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Easier to detect (logs, changed hashes) but damage is immediate.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4209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6900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0420E-64FD-4DDC-A051-D878CC464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1074"/>
          </a:xfrm>
        </p:spPr>
        <p:txBody>
          <a:bodyPr/>
          <a:lstStyle/>
          <a:p>
            <a:r>
              <a:rPr lang="en-ID" dirty="0"/>
              <a:t>Malware (Malicious Software)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71331-AD5D-4CC5-9606-D886CEDAA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C3BACD3-5B41-4430-A85A-2910503BC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145556"/>
              </p:ext>
            </p:extLst>
          </p:nvPr>
        </p:nvGraphicFramePr>
        <p:xfrm>
          <a:off x="947333" y="1237410"/>
          <a:ext cx="9798444" cy="48006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953522">
                  <a:extLst>
                    <a:ext uri="{9D8B030D-6E8A-4147-A177-3AD203B41FA5}">
                      <a16:colId xmlns:a16="http://schemas.microsoft.com/office/drawing/2014/main" val="1546796491"/>
                    </a:ext>
                  </a:extLst>
                </a:gridCol>
                <a:gridCol w="7844922">
                  <a:extLst>
                    <a:ext uri="{9D8B030D-6E8A-4147-A177-3AD203B41FA5}">
                      <a16:colId xmlns:a16="http://schemas.microsoft.com/office/drawing/2014/main" val="75517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Virus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Needs a "host" file (like a .docx or .exe) to spread.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User action required (opening the file).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856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Worm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Standalone program.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/>
                        <a:t>Self-replicating</a:t>
                      </a:r>
                      <a:r>
                        <a:rPr lang="en-US" sz="1600" dirty="0"/>
                        <a:t>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Does </a:t>
                      </a:r>
                      <a:r>
                        <a:rPr lang="en-US" sz="1600" i="1" dirty="0"/>
                        <a:t>not</a:t>
                      </a:r>
                      <a:r>
                        <a:rPr lang="en-US" sz="1600" dirty="0"/>
                        <a:t> need a host or user action.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It crawls across the network automatically.</a:t>
                      </a:r>
                    </a:p>
                    <a:p>
                      <a:pPr marL="742950" lvl="1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i="1" dirty="0"/>
                        <a:t>Famous Case:</a:t>
                      </a:r>
                      <a:r>
                        <a:rPr lang="en-ID" sz="1600" dirty="0"/>
                        <a:t> WannaCry, </a:t>
                      </a:r>
                      <a:r>
                        <a:rPr lang="en-ID" sz="1600" dirty="0" err="1"/>
                        <a:t>Brontok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134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Trojan Horse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Looks legitimate (e.g., "Free_Screensaver.exe") but hides malicious code.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Does not replicate; relies on tricking the user.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9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Ransomware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Encrypts data and demands payment.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US" sz="1600" i="1" dirty="0"/>
                        <a:t>Audit focus:</a:t>
                      </a:r>
                      <a:r>
                        <a:rPr lang="en-US" sz="1600" dirty="0"/>
                        <a:t> Availability backup testing is the #1 defense here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ID" sz="1600" i="1" dirty="0"/>
                        <a:t>Remember the recent PDNS II case in Indonesia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598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Logic Bomb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Dormant code triggered by a specific event (e.g., "If employee ID is removed from payroll, delete the database").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ID" sz="1600" i="1" dirty="0"/>
                        <a:t>Audit focus:</a:t>
                      </a:r>
                      <a:r>
                        <a:rPr lang="en-ID" sz="1600" dirty="0"/>
                        <a:t> Source code review and change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6759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258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364A0-F558-4131-B50F-F5F5EE0E2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Network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6D1A8-2611-41A7-A9B9-9EE2077A2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D090CC9-EA6B-4A10-9ADB-C0C6B9A9C99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7011" y="1600045"/>
            <a:ext cx="10253894" cy="41088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Man-in-the-Middle (MitM):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Attacker intercepts communication between two parties (User-Bank).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Technique: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Session Hijacking or Replay Attacks.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Encryption (TLS/HTTPS) and Mutual Authentication.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DoS vs. DDoS: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DoS (Denial of Service): One attacker floods a server to crash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DDoS (Distributed DoS): Attacker uses a "Botnet" (thousands of infected zombie computers) to flood the target.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Impact: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Compromises Availability.</a:t>
            </a:r>
          </a:p>
        </p:txBody>
      </p:sp>
    </p:spTree>
    <p:extLst>
      <p:ext uri="{BB962C8B-B14F-4D97-AF65-F5344CB8AC3E}">
        <p14:creationId xmlns:p14="http://schemas.microsoft.com/office/powerpoint/2010/main" val="1023774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03632-9784-48C6-87B6-C6799C21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Application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FCA7C-7F37-4408-872D-614A25BA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7B1FA-3B19-43C5-8644-43AB23EC53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3768" y="1492720"/>
            <a:ext cx="1005200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SQL Injection (SQLi):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Attacker enters database commands into a web form (e.g., username field) to trick the backend database.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Example: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Entering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</a:rPr>
              <a:t>' OR '1'=‘1’</a:t>
            </a:r>
            <a:r>
              <a:rPr lang="en-US" altLang="en-US" sz="1800" dirty="0"/>
              <a:t> to bypass password checks.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Audit Check: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Input validation controls.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Cross-Site Scripting (XSS):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Injecting malicious scripts into trusted websites. When other users view the page, the script steals their session cookies.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Buffer Overflow: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Sending more data than a program's memory buffer can hold. The excess data spills over and crashes the system or executes malicious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458960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A29-D971-418F-9C80-2E7915AB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Advanced Threats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E6D2D-1D99-4B7E-B10D-187AA63A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D368B0-CAD5-4158-8FA4-754E0FAF33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95481" y="1640583"/>
            <a:ext cx="10354792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Zero-Day Exploit: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 attack that targets a vulnerability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unknown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the software vendor.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Why "Zero-Day"?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developers have had "zero days" to fix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Defense-in-depth (because you can't patch what you don't know exists).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APT (Advanced Persistent Threat):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Who: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Nation-states or organized crime.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Characteristics: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Stealthy, long-term presence (months/years) in a network.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Goal: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exfiltration over time, not immediate destruction.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6161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052AC-8E2F-4D3A-BA08-9B7A787A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The 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C27B1-5973-47DC-BF2A-25B51C49B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F2868BE-B073-4D3E-BB0D-1D6AEF546C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71156" y="1690688"/>
            <a:ext cx="9423022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What are we testing?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Antivirus/Anti-malware: Is it installed on </a:t>
            </a:r>
            <a:r>
              <a:rPr kumimoji="0" lang="en-US" altLang="en-US" sz="20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endpoints? Is it auto-updating?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Patch Management: Are known vulnerabilities patched within policy timeframes (e.g., Critical = 48 hours)?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Input Validation: Do applications sanitize user input (stops SQLi/XSS)?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Network Segmentation: If a Worm infects HR, can it spread to Finance? (It shouldn't).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Key Question: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"Do we have a defense for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each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layer?" (The Onion Approach).</a:t>
            </a:r>
          </a:p>
        </p:txBody>
      </p:sp>
    </p:spTree>
    <p:extLst>
      <p:ext uri="{BB962C8B-B14F-4D97-AF65-F5344CB8AC3E}">
        <p14:creationId xmlns:p14="http://schemas.microsoft.com/office/powerpoint/2010/main" val="4258412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7178-5555-495B-8378-A53C8D19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Security Testing Tools &amp; Techniques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E491B-61F7-42A9-8E6E-574EE63949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Vulnerability Scan vs Penetration Test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122227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4487D-FA63-4AF2-8491-76DA5D8CB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6752"/>
          </a:xfrm>
        </p:spPr>
        <p:txBody>
          <a:bodyPr/>
          <a:lstStyle/>
          <a:p>
            <a:r>
              <a:rPr lang="en-ID" dirty="0"/>
              <a:t>The Testing Spectrum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BBD88-B0D6-4CC2-8657-3DB9AAF2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9130798-0DBC-4F86-BA23-B436D135A9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511877"/>
            <a:ext cx="10380542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 cannot secure what we do not 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Two Main Approaches: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Vulnerability Scanning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Automated, broad, and non-intrusive. (Like walking around a house checking if windows are unlocked).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Penetration Testing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(Ethical Hacking): Manual, targeted, and intrusive. (Like actually climbing through the window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and trying to open the safe).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"Kill Chain":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Testing helps break the attacker's path before they complete their objective.</a:t>
            </a:r>
          </a:p>
        </p:txBody>
      </p:sp>
    </p:spTree>
    <p:extLst>
      <p:ext uri="{BB962C8B-B14F-4D97-AF65-F5344CB8AC3E}">
        <p14:creationId xmlns:p14="http://schemas.microsoft.com/office/powerpoint/2010/main" val="305907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6A5-B2D7-4692-9B41-B4D40CA7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Vulnerability Scanning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D132F-1C23-4A34-85A6-F864640BD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C8463CF-8605-4A8B-B7D9-DBE2D11C1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342096"/>
              </p:ext>
            </p:extLst>
          </p:nvPr>
        </p:nvGraphicFramePr>
        <p:xfrm>
          <a:off x="991476" y="1690688"/>
          <a:ext cx="9886731" cy="27178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218384">
                  <a:extLst>
                    <a:ext uri="{9D8B030D-6E8A-4147-A177-3AD203B41FA5}">
                      <a16:colId xmlns:a16="http://schemas.microsoft.com/office/drawing/2014/main" val="2043440938"/>
                    </a:ext>
                  </a:extLst>
                </a:gridCol>
                <a:gridCol w="7668347">
                  <a:extLst>
                    <a:ext uri="{9D8B030D-6E8A-4147-A177-3AD203B41FA5}">
                      <a16:colId xmlns:a16="http://schemas.microsoft.com/office/drawing/2014/main" val="42106049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What it is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Automated software (e.g., Nessus, Qualys) that scans IPs and ports against a database of known vulnerabilities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5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Characteristics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Frequency: High (Weekly/Monthly).</a:t>
                      </a:r>
                    </a:p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Cost: Low.</a:t>
                      </a:r>
                    </a:p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Depth: Shallow (Identifies potential issues but does not exploit them).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73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Risk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High rate of False Positives (reporting a bug that doesn't exist) or False Negatives.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5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Audit Check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Are scans run after every major system change?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27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1E928E2-3164-413E-9C1E-71285C672EBA}"/>
              </a:ext>
            </a:extLst>
          </p:cNvPr>
          <p:cNvSpPr txBox="1"/>
          <p:nvPr/>
        </p:nvSpPr>
        <p:spPr>
          <a:xfrm>
            <a:off x="991476" y="4844136"/>
            <a:ext cx="988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Vulnerability Scanning</a:t>
            </a:r>
            <a:r>
              <a:rPr lang="en-US" dirty="0"/>
              <a:t> is like walking around your house to check if the windows are closed. You simply look and report: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628511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20C8E-5FF0-4840-8654-AEFEF9A5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174"/>
            <a:ext cx="10515600" cy="839361"/>
          </a:xfrm>
        </p:spPr>
        <p:txBody>
          <a:bodyPr/>
          <a:lstStyle/>
          <a:p>
            <a:r>
              <a:rPr lang="en-ID" dirty="0"/>
              <a:t>Penetration Testing (Pen Test)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AF1F9-CD58-4C0B-A61A-930342F3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80565F-3CF7-4551-9546-5395DA1A0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442140"/>
              </p:ext>
            </p:extLst>
          </p:nvPr>
        </p:nvGraphicFramePr>
        <p:xfrm>
          <a:off x="966251" y="1143645"/>
          <a:ext cx="10271410" cy="40386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031354">
                  <a:extLst>
                    <a:ext uri="{9D8B030D-6E8A-4147-A177-3AD203B41FA5}">
                      <a16:colId xmlns:a16="http://schemas.microsoft.com/office/drawing/2014/main" val="2043440938"/>
                    </a:ext>
                  </a:extLst>
                </a:gridCol>
                <a:gridCol w="8240056">
                  <a:extLst>
                    <a:ext uri="{9D8B030D-6E8A-4147-A177-3AD203B41FA5}">
                      <a16:colId xmlns:a16="http://schemas.microsoft.com/office/drawing/2014/main" val="42106049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What it is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dirty="0"/>
                        <a:t>A skilled human (Ethical Hacker) attempts to breach defenses to prove a risk exists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5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Characteristics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Manual: Uses human creativity, not just scripts.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Deep: Exploits vulnerabilities to see how far they can get.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Goal-Oriented: Focuses on a specific objective (e.g., "Steal the CEO's password").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73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Risk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Disruption: Real attacks can crash live servers or corrupt data.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Scope Issues: Testers might accidentally target the wrong system.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5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Audit Check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Rules of Engagement (</a:t>
                      </a:r>
                      <a:r>
                        <a:rPr lang="en-US" b="0" dirty="0" err="1"/>
                        <a:t>RoE</a:t>
                      </a:r>
                      <a:r>
                        <a:rPr lang="en-US" b="0" dirty="0"/>
                        <a:t>): Must have a signed contract defining "Safe" times and boundaries.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Independence: Should be done by a third party, not the internal admin.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Clean Up: Verify testers removed their backdoors after the test.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27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CCED2D-DF18-409A-A469-AFA8718D18C8}"/>
              </a:ext>
            </a:extLst>
          </p:cNvPr>
          <p:cNvSpPr txBox="1"/>
          <p:nvPr/>
        </p:nvSpPr>
        <p:spPr>
          <a:xfrm>
            <a:off x="915977" y="5391189"/>
            <a:ext cx="10044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Penetration Testing</a:t>
            </a:r>
            <a:r>
              <a:rPr lang="en-US" dirty="0"/>
              <a:t> is hiring a professional thief to actually climb through the window and see if they can steal the jewelry.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46841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9F4FB-D89D-4C25-AF78-39E9EC30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Pen-Test Methodologies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6B89B-A53F-467F-B7DF-74F1C7414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78BAA63-93FD-401D-98B5-AAA206AF8A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36174"/>
            <a:ext cx="10121988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Black Box (Zero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knows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nothing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(acts like an external hacker).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an outside attack. Time-consuming.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White Box (Full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has full access to network maps, source code, and configs.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an insider threat or allows for a thorough audit of logic. Fastest method.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Gray Box (Partial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has user-level access.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 compromised employee account.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96058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F4BB6-89BE-44E8-995B-883C2EBDB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Advanced Testing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C8628-1F30-48DC-81BD-32E6C68EE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0CE3FF6-F490-423D-8478-12C27B1262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82340"/>
            <a:ext cx="8763938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Fuzzing (Fuzz Testing):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Automated input of invalid, random, or unexpected data into a program to crash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Purpose: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Finds memory leaks and buffer overflows.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Static Application Security Testing (SAST):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Scanning source code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at rest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(white box).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Dynamic Application Security Testing (DAST):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Testing the application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while it is running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(black box).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Social Engineering Tests: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Testing the "Human Firewall" (as discussed before).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66036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10434-1A8B-446A-AC95-36D9397A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The IS Auditor’s Role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7A111-85BE-4960-B5F0-2523909F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E9683E4-48C4-4983-99E5-0DAA035956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1036793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Independence is Key: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person who built the system should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be the one testing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External 3rd parties are often required for Pen Tests to ensure objectivity.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Scope Management: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Did the test cover the whole environment or just "safe" non-critical servers?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Remediation (The most important part):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Finding bugs is useless if you don't fix them.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Audit Question: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"Show me the tracking ticket for the Critical finding from last year's Pen Test." If it's still open, that is a failed control.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60246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138A4-2E30-4B9F-952C-8A7EF2E89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Security Monitoring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C6A81-1F69-4686-B13D-5C315DC4F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"Burglar Alarms" of the IT world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021528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9DBB-25F2-4EB9-9E53-572CEEF7D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Monitor?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8961FD-836D-42BC-B567-8E259514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A7080AF-43FF-439B-817C-C203DB08BC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7750" y="1853053"/>
            <a:ext cx="10367930" cy="17235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Problem: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Prevention eventually fails. Firewalls can be bypassed.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Solution: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If you can't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stop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them, you must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them immediately.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Reduce "Dwell Time" (the time an attacker sits inside your network before being noticed).</a:t>
            </a:r>
          </a:p>
        </p:txBody>
      </p:sp>
    </p:spTree>
    <p:extLst>
      <p:ext uri="{BB962C8B-B14F-4D97-AF65-F5344CB8AC3E}">
        <p14:creationId xmlns:p14="http://schemas.microsoft.com/office/powerpoint/2010/main" val="13093447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IDS (Intrusion Detection System)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2877556"/>
              </p:ext>
            </p:extLst>
          </p:nvPr>
        </p:nvGraphicFramePr>
        <p:xfrm>
          <a:off x="838200" y="1732439"/>
          <a:ext cx="10216581" cy="229108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 that analyzes network traffic looking for attack signatures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If someone breaks the window, the alarm screams.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alerts the police, but it does </a:t>
                      </a:r>
                      <a:r>
                        <a:rPr lang="en-US" i="1" dirty="0"/>
                        <a:t>not</a:t>
                      </a:r>
                      <a:r>
                        <a:rPr lang="en-US" dirty="0"/>
                        <a:t> physically grab the burglar.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detects and alerts only.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does not alter traffic.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If the alarm rings all day (False Positives), the security team will turn it off or ignore it.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4728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162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IPS  (Intrusion Prevention  System)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752754"/>
              </p:ext>
            </p:extLst>
          </p:nvPr>
        </p:nvGraphicFramePr>
        <p:xfrm>
          <a:off x="838200" y="1732439"/>
          <a:ext cx="10216581" cy="236728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device that sits </a:t>
                      </a:r>
                      <a:r>
                        <a:rPr lang="en-US" i="1" dirty="0"/>
                        <a:t>inline</a:t>
                      </a:r>
                      <a:r>
                        <a:rPr lang="en-US" dirty="0"/>
                        <a:t> with traffic. It inspects packets and blocks them if they look malicious.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guard standing at the entrance.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If you are on the "banned list," he physically stops you from entering.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It detects, alerts, </a:t>
                      </a:r>
                      <a:r>
                        <a:rPr lang="en-US" i="1" dirty="0"/>
                        <a:t>and</a:t>
                      </a:r>
                      <a:r>
                        <a:rPr lang="en-US" dirty="0"/>
                        <a:t> blocks.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If the Guard mistakenly thinks the CEO is a hacker, the CEO gets locked out of the building. This disrupts business.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4728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648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SIEM (Security Information and Event Management)</a:t>
            </a:r>
            <a:endParaRPr lang="en-ID" sz="32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2036395"/>
              </p:ext>
            </p:extLst>
          </p:nvPr>
        </p:nvGraphicFramePr>
        <p:xfrm>
          <a:off x="838200" y="1732439"/>
          <a:ext cx="10216581" cy="26263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43882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central platform that collects logs from </a:t>
                      </a:r>
                      <a:r>
                        <a:rPr lang="en-US" i="1" dirty="0"/>
                        <a:t>everywhere</a:t>
                      </a:r>
                      <a:r>
                        <a:rPr lang="en-US" dirty="0"/>
                        <a:t> (Firewall, IDS, Servers, Database) to find patterns.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The Detective's Puzzle Board</a:t>
                      </a:r>
                      <a:endParaRPr lang="en-US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Firewall has one clue. The Server has another clue. The ID badge reader has a third.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Separately, they look innocent. Together, the SIEM realizes: "John badged in at 2 AM </a:t>
                      </a:r>
                      <a:r>
                        <a:rPr lang="en-US" i="1" dirty="0"/>
                        <a:t>and</a:t>
                      </a:r>
                      <a:r>
                        <a:rPr lang="en-US" dirty="0"/>
                        <a:t> copied the database."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Correlation. Turning millions of logs into one meaningful alert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9721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sz="3200" dirty="0"/>
              <a:t>Honeypots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740648"/>
              </p:ext>
            </p:extLst>
          </p:nvPr>
        </p:nvGraphicFramePr>
        <p:xfrm>
          <a:off x="838200" y="1732439"/>
          <a:ext cx="10216581" cy="21945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43882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decoy system designed to look vulnerable and valuable, but contains no real data.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Bait Car.</a:t>
                      </a:r>
                    </a:p>
                    <a:p>
                      <a:r>
                        <a:rPr lang="en-US" dirty="0"/>
                        <a:t>Police leave a car unlocked with keys in it. If anyone enters, the doors lock and the police are alerted.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Distraction: Wastes the hacker's time.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Intelligence: Lets </a:t>
                      </a:r>
                      <a:r>
                        <a:rPr lang="en-US" dirty="0"/>
                        <a:t>us study </a:t>
                      </a:r>
                      <a:r>
                        <a:rPr lang="en-US" i="1" dirty="0"/>
                        <a:t>how</a:t>
                      </a:r>
                      <a:r>
                        <a:rPr lang="en-US" dirty="0"/>
                        <a:t> they attack.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3305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10870-ED31-4007-81E0-7BA305CC6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Incident Response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D3A7F-A8D1-473B-9DB7-B02285896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/>
              <a:t>"Emergency Room"</a:t>
            </a:r>
          </a:p>
        </p:txBody>
      </p:sp>
    </p:spTree>
    <p:extLst>
      <p:ext uri="{BB962C8B-B14F-4D97-AF65-F5344CB8AC3E}">
        <p14:creationId xmlns:p14="http://schemas.microsoft.com/office/powerpoint/2010/main" val="36717808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B628-6111-41EE-921B-8F3F9BD0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Reality – "Not If, But When"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9586-F4EE-4D64-AE8E-F3129844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482AE7B-83F4-4F6D-903C-58FFE77379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9174" y="1520420"/>
            <a:ext cx="10121463" cy="4149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Mindset: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Security prevents 99% of attacks. IR handles the 1% that get through.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Analogy: The Fire Station. You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have smoke detectors (IDS) and sprinklers (IPS), but you still need firefighters (IR Team) when the building is actually burning.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Objective</a:t>
            </a:r>
            <a:r>
              <a:rPr lang="en-US" sz="1600" b="1" dirty="0"/>
              <a:t>:</a:t>
            </a:r>
            <a:r>
              <a:rPr lang="en-US" sz="1600" dirty="0"/>
              <a:t> To effectively identify, manage, and recover from security incidents while minimizing impact.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Key Definition</a:t>
            </a:r>
            <a:r>
              <a:rPr lang="en-US" sz="1600" b="1" dirty="0"/>
              <a:t>:</a:t>
            </a:r>
            <a:r>
              <a:rPr lang="en-US" sz="1600" dirty="0"/>
              <a:t> An Incident is any adverse event that compromises the confidentiality, integrity, or availability of an information asset (e.g., malware infection, DoS, unauthorized access).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The IRP (Incident Response Plan):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 formally documented procedure.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Must define roles and responsibilities (CSIRT - Computer Security Incident Response Team).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Must align with Business Continuity Planning (BCP) and Disaster Recovery (DR).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Audit Objective:</a:t>
            </a:r>
            <a:r>
              <a:rPr lang="en-US" sz="1800" dirty="0"/>
              <a:t> </a:t>
            </a:r>
            <a:r>
              <a:rPr lang="en-US" sz="1600" dirty="0"/>
              <a:t>Verify that the IRP is documented, tested annually (Tabletop Exercise), and updated based on test results.</a:t>
            </a:r>
          </a:p>
        </p:txBody>
      </p:sp>
    </p:spTree>
    <p:extLst>
      <p:ext uri="{BB962C8B-B14F-4D97-AF65-F5344CB8AC3E}">
        <p14:creationId xmlns:p14="http://schemas.microsoft.com/office/powerpoint/2010/main" val="1415328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A7EF-F74C-4E29-A857-8708ABEB5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ID" dirty="0"/>
              <a:t>The Incident Response Lifecycle</a:t>
            </a:r>
            <a:br>
              <a:rPr lang="en-ID" dirty="0"/>
            </a:br>
            <a:r>
              <a:rPr lang="en-ID" sz="2000" dirty="0">
                <a:latin typeface="+mn-lt"/>
              </a:rPr>
              <a:t>(Based on NIST/SANS)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9FDCD-3BCA-4D5C-8CB4-3D2285D5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285611BF-E274-41F7-9120-51B97D1BF3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847" y="1013315"/>
            <a:ext cx="60579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761780-84C6-47E2-B2BC-B4B81C142CD4}"/>
              </a:ext>
            </a:extLst>
          </p:cNvPr>
          <p:cNvSpPr txBox="1"/>
          <p:nvPr/>
        </p:nvSpPr>
        <p:spPr>
          <a:xfrm>
            <a:off x="897059" y="1383715"/>
            <a:ext cx="4835283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1. Preparation: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Establishing the CSIRT, tooling, baselines, and communication channels.</a:t>
            </a:r>
          </a:p>
          <a:p>
            <a:r>
              <a:rPr lang="en-US" sz="1600" b="1" dirty="0"/>
              <a:t>2. Detection &amp; Analysis: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Triage process: Validating alerts from IDS/SIEM to declare a formal incident.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determining the Scope of Impact.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F8763-FC14-44B8-9DB7-6CD3D3F4E0D9}"/>
              </a:ext>
            </a:extLst>
          </p:cNvPr>
          <p:cNvSpPr txBox="1"/>
          <p:nvPr/>
        </p:nvSpPr>
        <p:spPr>
          <a:xfrm>
            <a:off x="897059" y="3288564"/>
            <a:ext cx="10939691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3. Containment: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Short-term: Limiting immediate damage (e.g., isolating a VLAN).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Long-term: Restoring systems for production while keeping them isolated.</a:t>
            </a:r>
          </a:p>
          <a:p>
            <a:r>
              <a:rPr lang="en-US" sz="1600" b="1" dirty="0"/>
              <a:t>4. Eradication: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Removing the root cause (e.g., reimaging the host, patching the vulnerability).</a:t>
            </a:r>
          </a:p>
          <a:p>
            <a:r>
              <a:rPr lang="en-US" sz="1600" b="1" dirty="0"/>
              <a:t>5. Recovery: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Restoring operations to normal business hours.</a:t>
            </a:r>
          </a:p>
          <a:p>
            <a:r>
              <a:rPr lang="en-US" sz="1600" b="1" dirty="0"/>
              <a:t>6. Post-Incident Review (Lessons Learned):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Critical for the "Continuous Improvement" cycle.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Audit Focus:</a:t>
            </a:r>
            <a:r>
              <a:rPr lang="en-US" sz="1600" dirty="0"/>
              <a:t> Reviewing post-incident reports to ensure root causes were addressed.</a:t>
            </a:r>
          </a:p>
        </p:txBody>
      </p:sp>
    </p:spTree>
    <p:extLst>
      <p:ext uri="{BB962C8B-B14F-4D97-AF65-F5344CB8AC3E}">
        <p14:creationId xmlns:p14="http://schemas.microsoft.com/office/powerpoint/2010/main" val="1090626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4C70-566F-4A31-8D5F-8DD4F75A9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Digital Forensics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C4450-B39F-478A-B906-F4316551B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EDE2EF-266F-4CBA-B895-241FB5EFCE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5466" y="1802882"/>
            <a:ext cx="10381068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Locard’s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Exchange Principle: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"Every contact leaves a trace."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Chain of Custody: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chronological documentation trail that records the sequence of custody, control, transfer, analysis, and disposition of physical or electronic evidence.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Crucial for CISA: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broken chain of custody renders evidence inadmissible in legal proceedings.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Write Blocking: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Hardware or software tools used to prevent any modification (write actions) to the source drive during acquisition.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Hashing (Integrity Check):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Using algorithms (MD5, SHA-256) to verify that the forensic image is mathematically identical to the original source.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6877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A816-7CAB-4E88-83D8-BB1EC8C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BAAC1-CCFD-4C30-96A5-4BE6B88F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C7E4A-597D-4324-BC93-3257388D6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771528" cy="38645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Let’s go!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9338560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125-3194-47BF-B9AC-DB75DE21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VII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A2833-5472-4CA8-8EE7-FAEE3300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332CB-F1AB-4685-8228-A7C0B9A12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8633723" cy="38645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assignment is designed to help you review what we've covered so far and prepare for the upcoming mid-term exam.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write a summary of each week's lesson here:</a:t>
            </a:r>
          </a:p>
          <a:p>
            <a:pPr marL="0" indent="0">
              <a:buNone/>
            </a:pPr>
            <a:r>
              <a:rPr lang="en-ID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https://forms.gle/wSvXuQTEnVVMYnZ3A</a:t>
            </a:r>
            <a:endParaRPr lang="en-ID" u="sng" dirty="0"/>
          </a:p>
        </p:txBody>
      </p:sp>
    </p:spTree>
    <p:extLst>
      <p:ext uri="{BB962C8B-B14F-4D97-AF65-F5344CB8AC3E}">
        <p14:creationId xmlns:p14="http://schemas.microsoft.com/office/powerpoint/2010/main" val="144446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3235</Words>
  <Application>Microsoft Office PowerPoint</Application>
  <PresentationFormat>Widescreen</PresentationFormat>
  <Paragraphs>406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Security Event Management</vt:lpstr>
      <vt:lpstr>Class Recap</vt:lpstr>
      <vt:lpstr>Class Roadmap</vt:lpstr>
      <vt:lpstr>Covered So Far</vt:lpstr>
      <vt:lpstr>PowerPoint Presentation</vt:lpstr>
      <vt:lpstr>Intro</vt:lpstr>
      <vt:lpstr>What This Chapter is About?</vt:lpstr>
      <vt:lpstr>What This Chapter is About?</vt:lpstr>
      <vt:lpstr>Security Awareness</vt:lpstr>
      <vt:lpstr>Why Technology Isn’t Enough</vt:lpstr>
      <vt:lpstr>Social Engineering</vt:lpstr>
      <vt:lpstr>Common Attack Vector (1/2) Attack Methods: Electronic &amp; Voice Content</vt:lpstr>
      <vt:lpstr>Common Attack Vector (2/2) Attack Methods: Physical &amp; Presence Content</vt:lpstr>
      <vt:lpstr>An Open Question</vt:lpstr>
      <vt:lpstr>The Human Firewall</vt:lpstr>
      <vt:lpstr>Designing an Effective Program</vt:lpstr>
      <vt:lpstr>Auditing Awareness Program</vt:lpstr>
      <vt:lpstr>Information System Attack Methods</vt:lpstr>
      <vt:lpstr>The Attack Landscape: Passive vs. Active Content</vt:lpstr>
      <vt:lpstr>Malware (Malicious Software) Types</vt:lpstr>
      <vt:lpstr>Network Attacks</vt:lpstr>
      <vt:lpstr>Application Attacks</vt:lpstr>
      <vt:lpstr>Advanced Threats</vt:lpstr>
      <vt:lpstr>The Auditor's Perspective</vt:lpstr>
      <vt:lpstr>Security Testing Tools &amp; Techniques</vt:lpstr>
      <vt:lpstr>The Testing Spectrum</vt:lpstr>
      <vt:lpstr>Vulnerability Scanning</vt:lpstr>
      <vt:lpstr>Penetration Testing (Pen Test)</vt:lpstr>
      <vt:lpstr>Pen-Test Methodologies</vt:lpstr>
      <vt:lpstr>Advanced Testing Tools</vt:lpstr>
      <vt:lpstr>The IS Auditor’s Role</vt:lpstr>
      <vt:lpstr>Security Monitoring Tools</vt:lpstr>
      <vt:lpstr>Why Monitor?</vt:lpstr>
      <vt:lpstr>IDS (Intrusion Detection System)</vt:lpstr>
      <vt:lpstr>IPS  (Intrusion Prevention  System)</vt:lpstr>
      <vt:lpstr>SIEM (Security Information and Event Management)</vt:lpstr>
      <vt:lpstr>Honeypots</vt:lpstr>
      <vt:lpstr>Incident Response</vt:lpstr>
      <vt:lpstr>The Reality – "Not If, But When"</vt:lpstr>
      <vt:lpstr>The Incident Response Lifecycle (Based on NIST/SANS)</vt:lpstr>
      <vt:lpstr>Digital Forensics Principles</vt:lpstr>
      <vt:lpstr>Quiz</vt:lpstr>
      <vt:lpstr>Assignment VII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48</cp:revision>
  <dcterms:created xsi:type="dcterms:W3CDTF">2023-09-18T04:21:25Z</dcterms:created>
  <dcterms:modified xsi:type="dcterms:W3CDTF">2026-08-23T00:59:41Z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