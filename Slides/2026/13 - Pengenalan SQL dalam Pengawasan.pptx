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</p:sldMasterIdLst>
  <p:notesMasterIdLst>
    <p:notesMasterId r:id="rId22"/>
  </p:notesMasterIdLst>
  <p:sldIdLst>
    <p:sldId id="256" r:id="rId5"/>
    <p:sldId id="259" r:id="rId6"/>
    <p:sldId id="501" r:id="rId7"/>
    <p:sldId id="349" r:id="rId8"/>
    <p:sldId id="353" r:id="rId9"/>
    <p:sldId id="307" r:id="rId10"/>
    <p:sldId id="308" r:id="rId11"/>
    <p:sldId id="420" r:id="rId12"/>
    <p:sldId id="421" r:id="rId13"/>
    <p:sldId id="258" r:id="rId14"/>
    <p:sldId id="257" r:id="rId15"/>
    <p:sldId id="500" r:id="rId16"/>
    <p:sldId id="261" r:id="rId17"/>
    <p:sldId id="317" r:id="rId18"/>
    <p:sldId id="348" r:id="rId19"/>
    <p:sldId id="346" r:id="rId20"/>
    <p:sldId id="502" r:id="rId21"/>
  </p:sldIdLst>
  <p:sldSz cx="9144000" cy="5143500" type="screen16x9"/>
  <p:notesSz cx="6858000" cy="9144000"/>
  <p:embeddedFontLst>
    <p:embeddedFont>
      <p:font typeface="Barlow Light" panose="00000400000000000000" pitchFamily="2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Raleway SemiBold" pitchFamily="2" charset="0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4DDA14E-0161-4D65-896F-C0FACE06A066}">
          <p14:sldIdLst>
            <p14:sldId id="256"/>
            <p14:sldId id="259"/>
            <p14:sldId id="501"/>
            <p14:sldId id="349"/>
            <p14:sldId id="353"/>
            <p14:sldId id="307"/>
            <p14:sldId id="308"/>
            <p14:sldId id="420"/>
            <p14:sldId id="421"/>
            <p14:sldId id="258"/>
            <p14:sldId id="257"/>
            <p14:sldId id="500"/>
            <p14:sldId id="261"/>
            <p14:sldId id="317"/>
            <p14:sldId id="348"/>
            <p14:sldId id="346"/>
            <p14:sldId id="502"/>
          </p14:sldIdLst>
        </p14:section>
        <p14:section name="Lampiran" id="{F689E1F8-A461-464D-8BF6-D800161AC7A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B9"/>
    <a:srgbClr val="E2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54DC6E-5F47-45C2-9750-FF39251B6EC2}">
  <a:tblStyle styleId="{1D54DC6E-5F47-45C2-9750-FF39251B6E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2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E7814F43-8385-4B18-83DF-993A78F25D6E}"/>
    <pc:docChg chg="delSld modSection">
      <pc:chgData name="Teuku Raja Irfan Radarma" userId="cf428174-95ba-4576-8554-3a3b8ffa52b7" providerId="ADAL" clId="{E7814F43-8385-4B18-83DF-993A78F25D6E}" dt="2026-09-09T11:34:33.895" v="0" actId="47"/>
      <pc:docMkLst>
        <pc:docMk/>
      </pc:docMkLst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238699127" sldId="260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2168612938" sldId="262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297539173" sldId="314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3279279340" sldId="318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785530999" sldId="319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3012255658" sldId="320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2246186325" sldId="323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3567062223" sldId="324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2692718430" sldId="326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500566619" sldId="327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1578046678" sldId="328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4038466339" sldId="329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3371365364" sldId="330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2223672021" sldId="347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756247939" sldId="350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2145521729" sldId="351"/>
        </pc:sldMkLst>
      </pc:sldChg>
      <pc:sldChg chg="del">
        <pc:chgData name="Teuku Raja Irfan Radarma" userId="cf428174-95ba-4576-8554-3a3b8ffa52b7" providerId="ADAL" clId="{E7814F43-8385-4B18-83DF-993A78F25D6E}" dt="2026-09-09T11:34:33.895" v="0" actId="47"/>
        <pc:sldMkLst>
          <pc:docMk/>
          <pc:sldMk cId="4037115879" sldId="35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B9261D-60D5-4FEB-931E-18AE5D5E28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84CB6998-8F8C-4DBC-A2C8-2943B064B91C}">
      <dgm:prSet phldrT="[Text]"/>
      <dgm:spPr/>
      <dgm:t>
        <a:bodyPr/>
        <a:lstStyle/>
        <a:p>
          <a:r>
            <a:rPr lang="en-US" dirty="0" err="1"/>
            <a:t>Representasi</a:t>
          </a:r>
          <a:r>
            <a:rPr lang="en-US" dirty="0"/>
            <a:t> yang </a:t>
          </a:r>
          <a:r>
            <a:rPr lang="en-US" dirty="0" err="1"/>
            <a:t>akurat</a:t>
          </a:r>
          <a:r>
            <a:rPr lang="en-US" dirty="0"/>
            <a:t> </a:t>
          </a:r>
          <a:r>
            <a:rPr lang="en-US" dirty="0" err="1"/>
            <a:t>atas</a:t>
          </a:r>
          <a:r>
            <a:rPr lang="en-US" dirty="0"/>
            <a:t> data yang </a:t>
          </a:r>
          <a:r>
            <a:rPr lang="en-US" dirty="0" err="1"/>
            <a:t>kompleks</a:t>
          </a:r>
          <a:endParaRPr lang="en-AU" dirty="0"/>
        </a:p>
      </dgm:t>
    </dgm:pt>
    <dgm:pt modelId="{A8AF7991-5C69-457E-B19B-6D38881CF49D}" type="parTrans" cxnId="{1AB23E2C-B3A1-4EA0-99B1-AB21BB10A58B}">
      <dgm:prSet/>
      <dgm:spPr/>
      <dgm:t>
        <a:bodyPr/>
        <a:lstStyle/>
        <a:p>
          <a:endParaRPr lang="en-AU"/>
        </a:p>
      </dgm:t>
    </dgm:pt>
    <dgm:pt modelId="{FCF7B965-9C98-4A24-96FA-AAAA57A1B65C}" type="sibTrans" cxnId="{1AB23E2C-B3A1-4EA0-99B1-AB21BB10A58B}">
      <dgm:prSet/>
      <dgm:spPr/>
      <dgm:t>
        <a:bodyPr/>
        <a:lstStyle/>
        <a:p>
          <a:endParaRPr lang="en-AU"/>
        </a:p>
      </dgm:t>
    </dgm:pt>
    <dgm:pt modelId="{09E08E81-FBBA-4D36-8306-128FD0EA79BF}">
      <dgm:prSet phldrT="[Text]"/>
      <dgm:spPr/>
      <dgm:t>
        <a:bodyPr/>
        <a:lstStyle/>
        <a:p>
          <a:r>
            <a:rPr lang="en-AU" dirty="0" err="1"/>
            <a:t>Cocok</a:t>
          </a:r>
          <a:r>
            <a:rPr lang="en-AU" dirty="0"/>
            <a:t> </a:t>
          </a:r>
          <a:r>
            <a:rPr lang="en-AU" dirty="0" err="1"/>
            <a:t>untuk</a:t>
          </a:r>
          <a:r>
            <a:rPr lang="en-AU" dirty="0"/>
            <a:t> </a:t>
          </a:r>
          <a:r>
            <a:rPr lang="en-AU" dirty="0" err="1"/>
            <a:t>penggunaan</a:t>
          </a:r>
          <a:r>
            <a:rPr lang="en-AU" dirty="0"/>
            <a:t> </a:t>
          </a:r>
          <a:r>
            <a:rPr lang="en-AU" dirty="0" err="1"/>
            <a:t>kolaboratif</a:t>
          </a:r>
          <a:endParaRPr lang="en-AU" dirty="0"/>
        </a:p>
      </dgm:t>
    </dgm:pt>
    <dgm:pt modelId="{EC2E3BB3-9161-4808-A50D-FA87CF6819E4}" type="parTrans" cxnId="{41AA6AA9-AB60-4A79-B4A5-4B20995B61D4}">
      <dgm:prSet/>
      <dgm:spPr/>
      <dgm:t>
        <a:bodyPr/>
        <a:lstStyle/>
        <a:p>
          <a:endParaRPr lang="en-AU"/>
        </a:p>
      </dgm:t>
    </dgm:pt>
    <dgm:pt modelId="{77B96042-28DC-48E6-968A-1AD6CAF6635F}" type="sibTrans" cxnId="{41AA6AA9-AB60-4A79-B4A5-4B20995B61D4}">
      <dgm:prSet/>
      <dgm:spPr/>
      <dgm:t>
        <a:bodyPr/>
        <a:lstStyle/>
        <a:p>
          <a:endParaRPr lang="en-AU"/>
        </a:p>
      </dgm:t>
    </dgm:pt>
    <dgm:pt modelId="{BB11EA36-5E60-4E56-9CD3-560D1845B991}">
      <dgm:prSet phldrT="[Text]"/>
      <dgm:spPr/>
      <dgm:t>
        <a:bodyPr/>
        <a:lstStyle/>
        <a:p>
          <a:r>
            <a:rPr lang="en-US" err="1"/>
            <a:t>Teknologi</a:t>
          </a:r>
          <a:r>
            <a:rPr lang="en-US"/>
            <a:t> yang </a:t>
          </a:r>
          <a:r>
            <a:rPr lang="en-US" err="1"/>
            <a:t>sudah</a:t>
          </a:r>
          <a:r>
            <a:rPr lang="en-US"/>
            <a:t> lama </a:t>
          </a:r>
          <a:r>
            <a:rPr lang="en-US" err="1"/>
            <a:t>dikembangkan</a:t>
          </a:r>
          <a:r>
            <a:rPr lang="en-US"/>
            <a:t> dan </a:t>
          </a:r>
          <a:r>
            <a:rPr lang="en-US" err="1"/>
            <a:t>digunakan</a:t>
          </a:r>
          <a:endParaRPr lang="en-AU"/>
        </a:p>
      </dgm:t>
    </dgm:pt>
    <dgm:pt modelId="{859DF261-A00D-49C2-9580-00FBFB039370}" type="parTrans" cxnId="{D028FD29-E810-4E36-BD3F-CB1E56F25131}">
      <dgm:prSet/>
      <dgm:spPr/>
      <dgm:t>
        <a:bodyPr/>
        <a:lstStyle/>
        <a:p>
          <a:endParaRPr lang="en-AU"/>
        </a:p>
      </dgm:t>
    </dgm:pt>
    <dgm:pt modelId="{4F56E447-14DB-4AFD-850C-367AB526CC13}" type="sibTrans" cxnId="{D028FD29-E810-4E36-BD3F-CB1E56F25131}">
      <dgm:prSet/>
      <dgm:spPr/>
      <dgm:t>
        <a:bodyPr/>
        <a:lstStyle/>
        <a:p>
          <a:endParaRPr lang="en-AU"/>
        </a:p>
      </dgm:t>
    </dgm:pt>
    <dgm:pt modelId="{8B810B6C-8A6C-494B-8BAD-D3CD9908CADF}">
      <dgm:prSet phldrT="[Text]"/>
      <dgm:spPr/>
      <dgm:t>
        <a:bodyPr/>
        <a:lstStyle/>
        <a:p>
          <a:r>
            <a:rPr lang="en-AU" dirty="0" err="1"/>
            <a:t>Mengurangi</a:t>
          </a:r>
          <a:r>
            <a:rPr lang="en-AU" dirty="0"/>
            <a:t> </a:t>
          </a:r>
          <a:r>
            <a:rPr lang="en-AU" dirty="0" err="1"/>
            <a:t>resiko</a:t>
          </a:r>
          <a:r>
            <a:rPr lang="en-AU" dirty="0"/>
            <a:t> </a:t>
          </a:r>
          <a:r>
            <a:rPr lang="en-AU" dirty="0" err="1"/>
            <a:t>penyimpanan</a:t>
          </a:r>
          <a:r>
            <a:rPr lang="en-AU" dirty="0"/>
            <a:t> </a:t>
          </a:r>
          <a:r>
            <a:rPr lang="en-AU" dirty="0" err="1"/>
            <a:t>informasi</a:t>
          </a:r>
          <a:r>
            <a:rPr lang="en-AU" dirty="0"/>
            <a:t> yang </a:t>
          </a:r>
          <a:r>
            <a:rPr lang="en-AU" dirty="0" err="1"/>
            <a:t>duplikat</a:t>
          </a:r>
          <a:endParaRPr lang="en-AU" dirty="0"/>
        </a:p>
      </dgm:t>
    </dgm:pt>
    <dgm:pt modelId="{7A323F40-4ECA-4F6A-840C-6FA18190E20C}" type="parTrans" cxnId="{30DFA522-9F1B-424B-A258-1EEAB4C0B55F}">
      <dgm:prSet/>
      <dgm:spPr/>
      <dgm:t>
        <a:bodyPr/>
        <a:lstStyle/>
        <a:p>
          <a:endParaRPr lang="en-AU"/>
        </a:p>
      </dgm:t>
    </dgm:pt>
    <dgm:pt modelId="{EDEE9072-8CBF-4EB4-923C-9117ABECEF15}" type="sibTrans" cxnId="{30DFA522-9F1B-424B-A258-1EEAB4C0B55F}">
      <dgm:prSet/>
      <dgm:spPr/>
      <dgm:t>
        <a:bodyPr/>
        <a:lstStyle/>
        <a:p>
          <a:endParaRPr lang="en-AU"/>
        </a:p>
      </dgm:t>
    </dgm:pt>
    <dgm:pt modelId="{670D1E15-AECC-4C17-B93C-86C83F782E20}">
      <dgm:prSet phldrT="[Text]"/>
      <dgm:spPr/>
      <dgm:t>
        <a:bodyPr/>
        <a:lstStyle/>
        <a:p>
          <a:r>
            <a:rPr lang="en-AU" dirty="0"/>
            <a:t>Satu </a:t>
          </a:r>
          <a:r>
            <a:rPr lang="en-AU" i="1" dirty="0"/>
            <a:t>database</a:t>
          </a:r>
          <a:r>
            <a:rPr lang="en-AU" dirty="0"/>
            <a:t> yang </a:t>
          </a:r>
          <a:r>
            <a:rPr lang="en-AU" dirty="0" err="1"/>
            <a:t>sama</a:t>
          </a:r>
          <a:r>
            <a:rPr lang="en-AU" dirty="0"/>
            <a:t> </a:t>
          </a:r>
          <a:r>
            <a:rPr lang="en-AU" dirty="0" err="1"/>
            <a:t>dapat</a:t>
          </a:r>
          <a:r>
            <a:rPr lang="en-AU" dirty="0"/>
            <a:t> </a:t>
          </a:r>
          <a:r>
            <a:rPr lang="en-AU" dirty="0" err="1"/>
            <a:t>diakses</a:t>
          </a:r>
          <a:r>
            <a:rPr lang="en-AU" dirty="0"/>
            <a:t> oleh </a:t>
          </a:r>
          <a:r>
            <a:rPr lang="en-AU" dirty="0" err="1"/>
            <a:t>banyak</a:t>
          </a:r>
          <a:r>
            <a:rPr lang="en-AU" dirty="0"/>
            <a:t> user </a:t>
          </a:r>
          <a:r>
            <a:rPr lang="en-AU" dirty="0" err="1"/>
            <a:t>sesuai</a:t>
          </a:r>
          <a:r>
            <a:rPr lang="en-AU" dirty="0"/>
            <a:t> </a:t>
          </a:r>
          <a:r>
            <a:rPr lang="en-AU" dirty="0" err="1"/>
            <a:t>hak</a:t>
          </a:r>
          <a:r>
            <a:rPr lang="en-AU" dirty="0"/>
            <a:t> </a:t>
          </a:r>
          <a:r>
            <a:rPr lang="en-AU" dirty="0" err="1"/>
            <a:t>akses</a:t>
          </a:r>
          <a:endParaRPr lang="en-AU" dirty="0"/>
        </a:p>
      </dgm:t>
    </dgm:pt>
    <dgm:pt modelId="{5BA143D8-8481-49D0-AC68-676E45CCEBC7}" type="parTrans" cxnId="{B306ED73-06A0-4F64-9DA5-44158B4C110C}">
      <dgm:prSet/>
      <dgm:spPr/>
      <dgm:t>
        <a:bodyPr/>
        <a:lstStyle/>
        <a:p>
          <a:endParaRPr lang="en-AU"/>
        </a:p>
      </dgm:t>
    </dgm:pt>
    <dgm:pt modelId="{5F6EB202-D1D2-41B3-8D68-D4AF1BB7FDA2}" type="sibTrans" cxnId="{B306ED73-06A0-4F64-9DA5-44158B4C110C}">
      <dgm:prSet/>
      <dgm:spPr/>
      <dgm:t>
        <a:bodyPr/>
        <a:lstStyle/>
        <a:p>
          <a:endParaRPr lang="en-AU"/>
        </a:p>
      </dgm:t>
    </dgm:pt>
    <dgm:pt modelId="{C3A8299C-94F9-4F86-B417-B11540BBF0E6}">
      <dgm:prSet phldrT="[Text]"/>
      <dgm:spPr/>
      <dgm:t>
        <a:bodyPr/>
        <a:lstStyle/>
        <a:p>
          <a:r>
            <a:rPr lang="en-AU" i="1" dirty="0"/>
            <a:t>Support </a:t>
          </a:r>
          <a:r>
            <a:rPr lang="en-AU" dirty="0" err="1"/>
            <a:t>banyak</a:t>
          </a:r>
          <a:r>
            <a:rPr lang="en-AU" dirty="0"/>
            <a:t> </a:t>
          </a:r>
          <a:r>
            <a:rPr lang="en-AU" dirty="0" err="1"/>
            <a:t>tersedia</a:t>
          </a:r>
          <a:r>
            <a:rPr lang="en-AU" dirty="0"/>
            <a:t> dan </a:t>
          </a:r>
          <a:r>
            <a:rPr lang="en-AU" dirty="0" err="1"/>
            <a:t>teknologi</a:t>
          </a:r>
          <a:r>
            <a:rPr lang="en-AU" dirty="0"/>
            <a:t> </a:t>
          </a:r>
          <a:r>
            <a:rPr lang="en-AU" dirty="0" err="1"/>
            <a:t>telah</a:t>
          </a:r>
          <a:r>
            <a:rPr lang="en-AU" dirty="0"/>
            <a:t> </a:t>
          </a:r>
          <a:r>
            <a:rPr lang="en-AU" dirty="0" err="1"/>
            <a:t>dikenal</a:t>
          </a:r>
          <a:r>
            <a:rPr lang="en-AU" dirty="0"/>
            <a:t> oleh </a:t>
          </a:r>
          <a:r>
            <a:rPr lang="en-AU" dirty="0" err="1"/>
            <a:t>banyak</a:t>
          </a:r>
          <a:r>
            <a:rPr lang="en-AU" dirty="0"/>
            <a:t> </a:t>
          </a:r>
          <a:r>
            <a:rPr lang="en-AU" dirty="0" err="1"/>
            <a:t>pihak</a:t>
          </a:r>
          <a:endParaRPr lang="en-AU" dirty="0"/>
        </a:p>
      </dgm:t>
    </dgm:pt>
    <dgm:pt modelId="{3B0EBDD0-BF58-4A6F-BBCC-C4880F3FC57C}" type="parTrans" cxnId="{AD339994-5F5F-471C-A755-365C5B8C215E}">
      <dgm:prSet/>
      <dgm:spPr/>
      <dgm:t>
        <a:bodyPr/>
        <a:lstStyle/>
        <a:p>
          <a:endParaRPr lang="en-AU"/>
        </a:p>
      </dgm:t>
    </dgm:pt>
    <dgm:pt modelId="{4B4510C6-4FBE-4708-BC19-84A6CBA84446}" type="sibTrans" cxnId="{AD339994-5F5F-471C-A755-365C5B8C215E}">
      <dgm:prSet/>
      <dgm:spPr/>
      <dgm:t>
        <a:bodyPr/>
        <a:lstStyle/>
        <a:p>
          <a:endParaRPr lang="en-AU"/>
        </a:p>
      </dgm:t>
    </dgm:pt>
    <dgm:pt modelId="{689EA6EC-0C1D-405C-A9B0-85FD59AE7856}">
      <dgm:prSet phldrT="[Text]"/>
      <dgm:spPr/>
      <dgm:t>
        <a:bodyPr/>
        <a:lstStyle/>
        <a:p>
          <a:r>
            <a:rPr lang="en-ID" dirty="0" err="1"/>
            <a:t>Analisis</a:t>
          </a:r>
          <a:r>
            <a:rPr lang="en-ID" dirty="0"/>
            <a:t> data </a:t>
          </a:r>
          <a:r>
            <a:rPr lang="en-ID" dirty="0" err="1"/>
            <a:t>dalam</a:t>
          </a:r>
          <a:r>
            <a:rPr lang="en-ID" dirty="0"/>
            <a:t> volume yang sangat </a:t>
          </a:r>
          <a:r>
            <a:rPr lang="en-ID" dirty="0" err="1"/>
            <a:t>besar</a:t>
          </a:r>
          <a:endParaRPr lang="en-AU" dirty="0"/>
        </a:p>
      </dgm:t>
    </dgm:pt>
    <dgm:pt modelId="{DD6758F5-7706-4C4A-97B4-B282BE0DB6EA}" type="parTrans" cxnId="{D044731D-C7BB-4F88-B07F-D82987D53046}">
      <dgm:prSet/>
      <dgm:spPr/>
      <dgm:t>
        <a:bodyPr/>
        <a:lstStyle/>
        <a:p>
          <a:endParaRPr lang="en-ID"/>
        </a:p>
      </dgm:t>
    </dgm:pt>
    <dgm:pt modelId="{76C9CDD5-4F30-4A6E-8C7A-B07A913C1595}" type="sibTrans" cxnId="{D044731D-C7BB-4F88-B07F-D82987D53046}">
      <dgm:prSet/>
      <dgm:spPr/>
      <dgm:t>
        <a:bodyPr/>
        <a:lstStyle/>
        <a:p>
          <a:endParaRPr lang="en-ID"/>
        </a:p>
      </dgm:t>
    </dgm:pt>
    <dgm:pt modelId="{87B1B6E6-6522-4DB0-9774-032B6B8F3899}">
      <dgm:prSet phldrT="[Text]"/>
      <dgm:spPr/>
      <dgm:t>
        <a:bodyPr/>
        <a:lstStyle/>
        <a:p>
          <a:r>
            <a:rPr lang="en-ID" i="1" dirty="0"/>
            <a:t>Query</a:t>
          </a:r>
          <a:r>
            <a:rPr lang="en-ID" i="0" dirty="0"/>
            <a:t> </a:t>
          </a:r>
          <a:r>
            <a:rPr lang="en-ID" i="0" dirty="0" err="1"/>
            <a:t>hanya</a:t>
          </a:r>
          <a:r>
            <a:rPr lang="en-ID" i="0" dirty="0"/>
            <a:t> </a:t>
          </a:r>
          <a:r>
            <a:rPr lang="en-ID" i="0" dirty="0" err="1"/>
            <a:t>mengambil</a:t>
          </a:r>
          <a:r>
            <a:rPr lang="en-ID" i="0" dirty="0"/>
            <a:t> data yang </a:t>
          </a:r>
          <a:r>
            <a:rPr lang="en-ID" i="0" dirty="0" err="1"/>
            <a:t>diperlukan</a:t>
          </a:r>
          <a:endParaRPr lang="en-AU" i="1" dirty="0"/>
        </a:p>
      </dgm:t>
    </dgm:pt>
    <dgm:pt modelId="{034A84C4-43C4-44DD-8BF8-336965C2B8C5}" type="parTrans" cxnId="{1B037EEF-31A2-444B-97CC-0BFE2C707102}">
      <dgm:prSet/>
      <dgm:spPr/>
      <dgm:t>
        <a:bodyPr/>
        <a:lstStyle/>
        <a:p>
          <a:endParaRPr lang="en-ID"/>
        </a:p>
      </dgm:t>
    </dgm:pt>
    <dgm:pt modelId="{777E8B37-B703-48AB-BD65-ACB4CA5C5E6E}" type="sibTrans" cxnId="{1B037EEF-31A2-444B-97CC-0BFE2C707102}">
      <dgm:prSet/>
      <dgm:spPr/>
      <dgm:t>
        <a:bodyPr/>
        <a:lstStyle/>
        <a:p>
          <a:endParaRPr lang="en-ID"/>
        </a:p>
      </dgm:t>
    </dgm:pt>
    <dgm:pt modelId="{D2526D50-E787-450B-83F1-F418AD7E944B}" type="pres">
      <dgm:prSet presAssocID="{4DB9261D-60D5-4FEB-931E-18AE5D5E280D}" presName="linear" presStyleCnt="0">
        <dgm:presLayoutVars>
          <dgm:animLvl val="lvl"/>
          <dgm:resizeHandles val="exact"/>
        </dgm:presLayoutVars>
      </dgm:prSet>
      <dgm:spPr/>
    </dgm:pt>
    <dgm:pt modelId="{BF590C59-E271-49F0-8D03-82F8EF0119C9}" type="pres">
      <dgm:prSet presAssocID="{689EA6EC-0C1D-405C-A9B0-85FD59AE78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105220-E1D1-4158-A173-D2B49C5B4172}" type="pres">
      <dgm:prSet presAssocID="{689EA6EC-0C1D-405C-A9B0-85FD59AE7856}" presName="childText" presStyleLbl="revTx" presStyleIdx="0" presStyleCnt="4">
        <dgm:presLayoutVars>
          <dgm:bulletEnabled val="1"/>
        </dgm:presLayoutVars>
      </dgm:prSet>
      <dgm:spPr/>
    </dgm:pt>
    <dgm:pt modelId="{888FE856-5A86-4FEA-9E0E-22C404558FC8}" type="pres">
      <dgm:prSet presAssocID="{84CB6998-8F8C-4DBC-A2C8-2943B064B9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BC54F75-CC58-4546-9204-DFE9AC0E9411}" type="pres">
      <dgm:prSet presAssocID="{84CB6998-8F8C-4DBC-A2C8-2943B064B91C}" presName="childText" presStyleLbl="revTx" presStyleIdx="1" presStyleCnt="4">
        <dgm:presLayoutVars>
          <dgm:bulletEnabled val="1"/>
        </dgm:presLayoutVars>
      </dgm:prSet>
      <dgm:spPr/>
    </dgm:pt>
    <dgm:pt modelId="{38441DF7-6122-4B4B-AF0B-4B2CF92F502E}" type="pres">
      <dgm:prSet presAssocID="{09E08E81-FBBA-4D36-8306-128FD0EA79B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22D774A-457A-4464-9064-9FE113999F9A}" type="pres">
      <dgm:prSet presAssocID="{09E08E81-FBBA-4D36-8306-128FD0EA79BF}" presName="childText" presStyleLbl="revTx" presStyleIdx="2" presStyleCnt="4">
        <dgm:presLayoutVars>
          <dgm:bulletEnabled val="1"/>
        </dgm:presLayoutVars>
      </dgm:prSet>
      <dgm:spPr/>
    </dgm:pt>
    <dgm:pt modelId="{173E8388-6738-4691-851A-3CAEE458245F}" type="pres">
      <dgm:prSet presAssocID="{BB11EA36-5E60-4E56-9CD3-560D1845B99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9D8544F-D58E-42B7-81BC-F6E9CEA90D43}" type="pres">
      <dgm:prSet presAssocID="{BB11EA36-5E60-4E56-9CD3-560D1845B991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D044731D-C7BB-4F88-B07F-D82987D53046}" srcId="{4DB9261D-60D5-4FEB-931E-18AE5D5E280D}" destId="{689EA6EC-0C1D-405C-A9B0-85FD59AE7856}" srcOrd="0" destOrd="0" parTransId="{DD6758F5-7706-4C4A-97B4-B282BE0DB6EA}" sibTransId="{76C9CDD5-4F30-4A6E-8C7A-B07A913C1595}"/>
    <dgm:cxn modelId="{30DFA522-9F1B-424B-A258-1EEAB4C0B55F}" srcId="{84CB6998-8F8C-4DBC-A2C8-2943B064B91C}" destId="{8B810B6C-8A6C-494B-8BAD-D3CD9908CADF}" srcOrd="0" destOrd="0" parTransId="{7A323F40-4ECA-4F6A-840C-6FA18190E20C}" sibTransId="{EDEE9072-8CBF-4EB4-923C-9117ABECEF15}"/>
    <dgm:cxn modelId="{D028FD29-E810-4E36-BD3F-CB1E56F25131}" srcId="{4DB9261D-60D5-4FEB-931E-18AE5D5E280D}" destId="{BB11EA36-5E60-4E56-9CD3-560D1845B991}" srcOrd="3" destOrd="0" parTransId="{859DF261-A00D-49C2-9580-00FBFB039370}" sibTransId="{4F56E447-14DB-4AFD-850C-367AB526CC13}"/>
    <dgm:cxn modelId="{C7F2872B-791A-4DE3-B153-0415244090CB}" type="presOf" srcId="{8B810B6C-8A6C-494B-8BAD-D3CD9908CADF}" destId="{5BC54F75-CC58-4546-9204-DFE9AC0E9411}" srcOrd="0" destOrd="0" presId="urn:microsoft.com/office/officeart/2005/8/layout/vList2"/>
    <dgm:cxn modelId="{1AB23E2C-B3A1-4EA0-99B1-AB21BB10A58B}" srcId="{4DB9261D-60D5-4FEB-931E-18AE5D5E280D}" destId="{84CB6998-8F8C-4DBC-A2C8-2943B064B91C}" srcOrd="1" destOrd="0" parTransId="{A8AF7991-5C69-457E-B19B-6D38881CF49D}" sibTransId="{FCF7B965-9C98-4A24-96FA-AAAA57A1B65C}"/>
    <dgm:cxn modelId="{B11B4D3E-618D-439F-8616-B0DB27256D42}" type="presOf" srcId="{C3A8299C-94F9-4F86-B417-B11540BBF0E6}" destId="{D9D8544F-D58E-42B7-81BC-F6E9CEA90D43}" srcOrd="0" destOrd="0" presId="urn:microsoft.com/office/officeart/2005/8/layout/vList2"/>
    <dgm:cxn modelId="{67F3ED5C-0B46-47A2-BF22-9ABF560819F1}" type="presOf" srcId="{84CB6998-8F8C-4DBC-A2C8-2943B064B91C}" destId="{888FE856-5A86-4FEA-9E0E-22C404558FC8}" srcOrd="0" destOrd="0" presId="urn:microsoft.com/office/officeart/2005/8/layout/vList2"/>
    <dgm:cxn modelId="{B306ED73-06A0-4F64-9DA5-44158B4C110C}" srcId="{09E08E81-FBBA-4D36-8306-128FD0EA79BF}" destId="{670D1E15-AECC-4C17-B93C-86C83F782E20}" srcOrd="0" destOrd="0" parTransId="{5BA143D8-8481-49D0-AC68-676E45CCEBC7}" sibTransId="{5F6EB202-D1D2-41B3-8D68-D4AF1BB7FDA2}"/>
    <dgm:cxn modelId="{4D964274-2C10-4107-A00A-E3D1785DEFED}" type="presOf" srcId="{670D1E15-AECC-4C17-B93C-86C83F782E20}" destId="{922D774A-457A-4464-9064-9FE113999F9A}" srcOrd="0" destOrd="0" presId="urn:microsoft.com/office/officeart/2005/8/layout/vList2"/>
    <dgm:cxn modelId="{F6BC6974-746F-4825-A659-EB17A3094E02}" type="presOf" srcId="{689EA6EC-0C1D-405C-A9B0-85FD59AE7856}" destId="{BF590C59-E271-49F0-8D03-82F8EF0119C9}" srcOrd="0" destOrd="0" presId="urn:microsoft.com/office/officeart/2005/8/layout/vList2"/>
    <dgm:cxn modelId="{07054F55-BF0D-4FAA-9D00-A59D71DE6E16}" type="presOf" srcId="{BB11EA36-5E60-4E56-9CD3-560D1845B991}" destId="{173E8388-6738-4691-851A-3CAEE458245F}" srcOrd="0" destOrd="0" presId="urn:microsoft.com/office/officeart/2005/8/layout/vList2"/>
    <dgm:cxn modelId="{AD339994-5F5F-471C-A755-365C5B8C215E}" srcId="{BB11EA36-5E60-4E56-9CD3-560D1845B991}" destId="{C3A8299C-94F9-4F86-B417-B11540BBF0E6}" srcOrd="0" destOrd="0" parTransId="{3B0EBDD0-BF58-4A6F-BBCC-C4880F3FC57C}" sibTransId="{4B4510C6-4FBE-4708-BC19-84A6CBA84446}"/>
    <dgm:cxn modelId="{41AA6AA9-AB60-4A79-B4A5-4B20995B61D4}" srcId="{4DB9261D-60D5-4FEB-931E-18AE5D5E280D}" destId="{09E08E81-FBBA-4D36-8306-128FD0EA79BF}" srcOrd="2" destOrd="0" parTransId="{EC2E3BB3-9161-4808-A50D-FA87CF6819E4}" sibTransId="{77B96042-28DC-48E6-968A-1AD6CAF6635F}"/>
    <dgm:cxn modelId="{54ED5FCE-DC4D-4C0E-A52E-8F4C1C44FD7C}" type="presOf" srcId="{4DB9261D-60D5-4FEB-931E-18AE5D5E280D}" destId="{D2526D50-E787-450B-83F1-F418AD7E944B}" srcOrd="0" destOrd="0" presId="urn:microsoft.com/office/officeart/2005/8/layout/vList2"/>
    <dgm:cxn modelId="{403ED2DC-4252-46CB-8472-4ADD2EDF3AFB}" type="presOf" srcId="{87B1B6E6-6522-4DB0-9774-032B6B8F3899}" destId="{BC105220-E1D1-4158-A173-D2B49C5B4172}" srcOrd="0" destOrd="0" presId="urn:microsoft.com/office/officeart/2005/8/layout/vList2"/>
    <dgm:cxn modelId="{6FF4F9EE-6432-4DF6-8D8D-128054EEAABF}" type="presOf" srcId="{09E08E81-FBBA-4D36-8306-128FD0EA79BF}" destId="{38441DF7-6122-4B4B-AF0B-4B2CF92F502E}" srcOrd="0" destOrd="0" presId="urn:microsoft.com/office/officeart/2005/8/layout/vList2"/>
    <dgm:cxn modelId="{1B037EEF-31A2-444B-97CC-0BFE2C707102}" srcId="{689EA6EC-0C1D-405C-A9B0-85FD59AE7856}" destId="{87B1B6E6-6522-4DB0-9774-032B6B8F3899}" srcOrd="0" destOrd="0" parTransId="{034A84C4-43C4-44DD-8BF8-336965C2B8C5}" sibTransId="{777E8B37-B703-48AB-BD65-ACB4CA5C5E6E}"/>
    <dgm:cxn modelId="{6C141549-F516-423E-A82A-85E06A7C4BE3}" type="presParOf" srcId="{D2526D50-E787-450B-83F1-F418AD7E944B}" destId="{BF590C59-E271-49F0-8D03-82F8EF0119C9}" srcOrd="0" destOrd="0" presId="urn:microsoft.com/office/officeart/2005/8/layout/vList2"/>
    <dgm:cxn modelId="{6D1AF969-5703-409A-896B-B65BE3525F0F}" type="presParOf" srcId="{D2526D50-E787-450B-83F1-F418AD7E944B}" destId="{BC105220-E1D1-4158-A173-D2B49C5B4172}" srcOrd="1" destOrd="0" presId="urn:microsoft.com/office/officeart/2005/8/layout/vList2"/>
    <dgm:cxn modelId="{B6DCC5A8-BF41-40C4-8543-006514A73AD4}" type="presParOf" srcId="{D2526D50-E787-450B-83F1-F418AD7E944B}" destId="{888FE856-5A86-4FEA-9E0E-22C404558FC8}" srcOrd="2" destOrd="0" presId="urn:microsoft.com/office/officeart/2005/8/layout/vList2"/>
    <dgm:cxn modelId="{009E7ED2-7BA3-4907-A82C-0132A529C856}" type="presParOf" srcId="{D2526D50-E787-450B-83F1-F418AD7E944B}" destId="{5BC54F75-CC58-4546-9204-DFE9AC0E9411}" srcOrd="3" destOrd="0" presId="urn:microsoft.com/office/officeart/2005/8/layout/vList2"/>
    <dgm:cxn modelId="{2C99C9A7-050E-4003-A777-E9C7F955DF94}" type="presParOf" srcId="{D2526D50-E787-450B-83F1-F418AD7E944B}" destId="{38441DF7-6122-4B4B-AF0B-4B2CF92F502E}" srcOrd="4" destOrd="0" presId="urn:microsoft.com/office/officeart/2005/8/layout/vList2"/>
    <dgm:cxn modelId="{C9B9C363-69B0-4FE1-A567-4902A4128784}" type="presParOf" srcId="{D2526D50-E787-450B-83F1-F418AD7E944B}" destId="{922D774A-457A-4464-9064-9FE113999F9A}" srcOrd="5" destOrd="0" presId="urn:microsoft.com/office/officeart/2005/8/layout/vList2"/>
    <dgm:cxn modelId="{3E2A48CB-735D-46E2-A3DC-3869FB1E2570}" type="presParOf" srcId="{D2526D50-E787-450B-83F1-F418AD7E944B}" destId="{173E8388-6738-4691-851A-3CAEE458245F}" srcOrd="6" destOrd="0" presId="urn:microsoft.com/office/officeart/2005/8/layout/vList2"/>
    <dgm:cxn modelId="{E90AD448-747B-455A-8806-726C04439C45}" type="presParOf" srcId="{D2526D50-E787-450B-83F1-F418AD7E944B}" destId="{D9D8544F-D58E-42B7-81BC-F6E9CEA90D4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90C59-E271-49F0-8D03-82F8EF0119C9}">
      <dsp:nvSpPr>
        <dsp:cNvPr id="0" name=""/>
        <dsp:cNvSpPr/>
      </dsp:nvSpPr>
      <dsp:spPr>
        <a:xfrm>
          <a:off x="0" y="89013"/>
          <a:ext cx="805815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kern="1200" dirty="0" err="1"/>
            <a:t>Analisis</a:t>
          </a:r>
          <a:r>
            <a:rPr lang="en-ID" sz="2200" kern="1200" dirty="0"/>
            <a:t> data </a:t>
          </a:r>
          <a:r>
            <a:rPr lang="en-ID" sz="2200" kern="1200" dirty="0" err="1"/>
            <a:t>dalam</a:t>
          </a:r>
          <a:r>
            <a:rPr lang="en-ID" sz="2200" kern="1200" dirty="0"/>
            <a:t> volume yang sangat </a:t>
          </a:r>
          <a:r>
            <a:rPr lang="en-ID" sz="2200" kern="1200" dirty="0" err="1"/>
            <a:t>besar</a:t>
          </a:r>
          <a:endParaRPr lang="en-AU" sz="2200" kern="1200" dirty="0"/>
        </a:p>
      </dsp:txBody>
      <dsp:txXfrm>
        <a:off x="25130" y="114143"/>
        <a:ext cx="8007890" cy="464540"/>
      </dsp:txXfrm>
    </dsp:sp>
    <dsp:sp modelId="{BC105220-E1D1-4158-A173-D2B49C5B4172}">
      <dsp:nvSpPr>
        <dsp:cNvPr id="0" name=""/>
        <dsp:cNvSpPr/>
      </dsp:nvSpPr>
      <dsp:spPr>
        <a:xfrm>
          <a:off x="0" y="603813"/>
          <a:ext cx="805815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84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D" sz="1700" i="1" kern="1200" dirty="0"/>
            <a:t>Query</a:t>
          </a:r>
          <a:r>
            <a:rPr lang="en-ID" sz="1700" i="0" kern="1200" dirty="0"/>
            <a:t> </a:t>
          </a:r>
          <a:r>
            <a:rPr lang="en-ID" sz="1700" i="0" kern="1200" dirty="0" err="1"/>
            <a:t>hanya</a:t>
          </a:r>
          <a:r>
            <a:rPr lang="en-ID" sz="1700" i="0" kern="1200" dirty="0"/>
            <a:t> </a:t>
          </a:r>
          <a:r>
            <a:rPr lang="en-ID" sz="1700" i="0" kern="1200" dirty="0" err="1"/>
            <a:t>mengambil</a:t>
          </a:r>
          <a:r>
            <a:rPr lang="en-ID" sz="1700" i="0" kern="1200" dirty="0"/>
            <a:t> data yang </a:t>
          </a:r>
          <a:r>
            <a:rPr lang="en-ID" sz="1700" i="0" kern="1200" dirty="0" err="1"/>
            <a:t>diperlukan</a:t>
          </a:r>
          <a:endParaRPr lang="en-AU" sz="1700" i="1" kern="1200" dirty="0"/>
        </a:p>
      </dsp:txBody>
      <dsp:txXfrm>
        <a:off x="0" y="603813"/>
        <a:ext cx="8058150" cy="364320"/>
      </dsp:txXfrm>
    </dsp:sp>
    <dsp:sp modelId="{888FE856-5A86-4FEA-9E0E-22C404558FC8}">
      <dsp:nvSpPr>
        <dsp:cNvPr id="0" name=""/>
        <dsp:cNvSpPr/>
      </dsp:nvSpPr>
      <dsp:spPr>
        <a:xfrm>
          <a:off x="0" y="968133"/>
          <a:ext cx="805815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Representasi</a:t>
          </a:r>
          <a:r>
            <a:rPr lang="en-US" sz="2200" kern="1200" dirty="0"/>
            <a:t> yang </a:t>
          </a:r>
          <a:r>
            <a:rPr lang="en-US" sz="2200" kern="1200" dirty="0" err="1"/>
            <a:t>akurat</a:t>
          </a:r>
          <a:r>
            <a:rPr lang="en-US" sz="2200" kern="1200" dirty="0"/>
            <a:t> </a:t>
          </a:r>
          <a:r>
            <a:rPr lang="en-US" sz="2200" kern="1200" dirty="0" err="1"/>
            <a:t>atas</a:t>
          </a:r>
          <a:r>
            <a:rPr lang="en-US" sz="2200" kern="1200" dirty="0"/>
            <a:t> data yang </a:t>
          </a:r>
          <a:r>
            <a:rPr lang="en-US" sz="2200" kern="1200" dirty="0" err="1"/>
            <a:t>kompleks</a:t>
          </a:r>
          <a:endParaRPr lang="en-AU" sz="2200" kern="1200" dirty="0"/>
        </a:p>
      </dsp:txBody>
      <dsp:txXfrm>
        <a:off x="25130" y="993263"/>
        <a:ext cx="8007890" cy="464540"/>
      </dsp:txXfrm>
    </dsp:sp>
    <dsp:sp modelId="{5BC54F75-CC58-4546-9204-DFE9AC0E9411}">
      <dsp:nvSpPr>
        <dsp:cNvPr id="0" name=""/>
        <dsp:cNvSpPr/>
      </dsp:nvSpPr>
      <dsp:spPr>
        <a:xfrm>
          <a:off x="0" y="1482933"/>
          <a:ext cx="805815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84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AU" sz="1700" kern="1200" dirty="0" err="1"/>
            <a:t>Mengurangi</a:t>
          </a:r>
          <a:r>
            <a:rPr lang="en-AU" sz="1700" kern="1200" dirty="0"/>
            <a:t> </a:t>
          </a:r>
          <a:r>
            <a:rPr lang="en-AU" sz="1700" kern="1200" dirty="0" err="1"/>
            <a:t>resiko</a:t>
          </a:r>
          <a:r>
            <a:rPr lang="en-AU" sz="1700" kern="1200" dirty="0"/>
            <a:t> </a:t>
          </a:r>
          <a:r>
            <a:rPr lang="en-AU" sz="1700" kern="1200" dirty="0" err="1"/>
            <a:t>penyimpanan</a:t>
          </a:r>
          <a:r>
            <a:rPr lang="en-AU" sz="1700" kern="1200" dirty="0"/>
            <a:t> </a:t>
          </a:r>
          <a:r>
            <a:rPr lang="en-AU" sz="1700" kern="1200" dirty="0" err="1"/>
            <a:t>informasi</a:t>
          </a:r>
          <a:r>
            <a:rPr lang="en-AU" sz="1700" kern="1200" dirty="0"/>
            <a:t> yang </a:t>
          </a:r>
          <a:r>
            <a:rPr lang="en-AU" sz="1700" kern="1200" dirty="0" err="1"/>
            <a:t>duplikat</a:t>
          </a:r>
          <a:endParaRPr lang="en-AU" sz="1700" kern="1200" dirty="0"/>
        </a:p>
      </dsp:txBody>
      <dsp:txXfrm>
        <a:off x="0" y="1482933"/>
        <a:ext cx="8058150" cy="364320"/>
      </dsp:txXfrm>
    </dsp:sp>
    <dsp:sp modelId="{38441DF7-6122-4B4B-AF0B-4B2CF92F502E}">
      <dsp:nvSpPr>
        <dsp:cNvPr id="0" name=""/>
        <dsp:cNvSpPr/>
      </dsp:nvSpPr>
      <dsp:spPr>
        <a:xfrm>
          <a:off x="0" y="1847254"/>
          <a:ext cx="805815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 dirty="0" err="1"/>
            <a:t>Cocok</a:t>
          </a:r>
          <a:r>
            <a:rPr lang="en-AU" sz="2200" kern="1200" dirty="0"/>
            <a:t> </a:t>
          </a:r>
          <a:r>
            <a:rPr lang="en-AU" sz="2200" kern="1200" dirty="0" err="1"/>
            <a:t>untuk</a:t>
          </a:r>
          <a:r>
            <a:rPr lang="en-AU" sz="2200" kern="1200" dirty="0"/>
            <a:t> </a:t>
          </a:r>
          <a:r>
            <a:rPr lang="en-AU" sz="2200" kern="1200" dirty="0" err="1"/>
            <a:t>penggunaan</a:t>
          </a:r>
          <a:r>
            <a:rPr lang="en-AU" sz="2200" kern="1200" dirty="0"/>
            <a:t> </a:t>
          </a:r>
          <a:r>
            <a:rPr lang="en-AU" sz="2200" kern="1200" dirty="0" err="1"/>
            <a:t>kolaboratif</a:t>
          </a:r>
          <a:endParaRPr lang="en-AU" sz="2200" kern="1200" dirty="0"/>
        </a:p>
      </dsp:txBody>
      <dsp:txXfrm>
        <a:off x="25130" y="1872384"/>
        <a:ext cx="8007890" cy="464540"/>
      </dsp:txXfrm>
    </dsp:sp>
    <dsp:sp modelId="{922D774A-457A-4464-9064-9FE113999F9A}">
      <dsp:nvSpPr>
        <dsp:cNvPr id="0" name=""/>
        <dsp:cNvSpPr/>
      </dsp:nvSpPr>
      <dsp:spPr>
        <a:xfrm>
          <a:off x="0" y="2362054"/>
          <a:ext cx="805815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84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AU" sz="1700" kern="1200" dirty="0"/>
            <a:t>Satu </a:t>
          </a:r>
          <a:r>
            <a:rPr lang="en-AU" sz="1700" i="1" kern="1200" dirty="0"/>
            <a:t>database</a:t>
          </a:r>
          <a:r>
            <a:rPr lang="en-AU" sz="1700" kern="1200" dirty="0"/>
            <a:t> yang </a:t>
          </a:r>
          <a:r>
            <a:rPr lang="en-AU" sz="1700" kern="1200" dirty="0" err="1"/>
            <a:t>sama</a:t>
          </a:r>
          <a:r>
            <a:rPr lang="en-AU" sz="1700" kern="1200" dirty="0"/>
            <a:t> </a:t>
          </a:r>
          <a:r>
            <a:rPr lang="en-AU" sz="1700" kern="1200" dirty="0" err="1"/>
            <a:t>dapat</a:t>
          </a:r>
          <a:r>
            <a:rPr lang="en-AU" sz="1700" kern="1200" dirty="0"/>
            <a:t> </a:t>
          </a:r>
          <a:r>
            <a:rPr lang="en-AU" sz="1700" kern="1200" dirty="0" err="1"/>
            <a:t>diakses</a:t>
          </a:r>
          <a:r>
            <a:rPr lang="en-AU" sz="1700" kern="1200" dirty="0"/>
            <a:t> oleh </a:t>
          </a:r>
          <a:r>
            <a:rPr lang="en-AU" sz="1700" kern="1200" dirty="0" err="1"/>
            <a:t>banyak</a:t>
          </a:r>
          <a:r>
            <a:rPr lang="en-AU" sz="1700" kern="1200" dirty="0"/>
            <a:t> user </a:t>
          </a:r>
          <a:r>
            <a:rPr lang="en-AU" sz="1700" kern="1200" dirty="0" err="1"/>
            <a:t>sesuai</a:t>
          </a:r>
          <a:r>
            <a:rPr lang="en-AU" sz="1700" kern="1200" dirty="0"/>
            <a:t> </a:t>
          </a:r>
          <a:r>
            <a:rPr lang="en-AU" sz="1700" kern="1200" dirty="0" err="1"/>
            <a:t>hak</a:t>
          </a:r>
          <a:r>
            <a:rPr lang="en-AU" sz="1700" kern="1200" dirty="0"/>
            <a:t> </a:t>
          </a:r>
          <a:r>
            <a:rPr lang="en-AU" sz="1700" kern="1200" dirty="0" err="1"/>
            <a:t>akses</a:t>
          </a:r>
          <a:endParaRPr lang="en-AU" sz="1700" kern="1200" dirty="0"/>
        </a:p>
      </dsp:txBody>
      <dsp:txXfrm>
        <a:off x="0" y="2362054"/>
        <a:ext cx="8058150" cy="364320"/>
      </dsp:txXfrm>
    </dsp:sp>
    <dsp:sp modelId="{173E8388-6738-4691-851A-3CAEE458245F}">
      <dsp:nvSpPr>
        <dsp:cNvPr id="0" name=""/>
        <dsp:cNvSpPr/>
      </dsp:nvSpPr>
      <dsp:spPr>
        <a:xfrm>
          <a:off x="0" y="2726374"/>
          <a:ext cx="805815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err="1"/>
            <a:t>Teknologi</a:t>
          </a:r>
          <a:r>
            <a:rPr lang="en-US" sz="2200" kern="1200"/>
            <a:t> yang </a:t>
          </a:r>
          <a:r>
            <a:rPr lang="en-US" sz="2200" kern="1200" err="1"/>
            <a:t>sudah</a:t>
          </a:r>
          <a:r>
            <a:rPr lang="en-US" sz="2200" kern="1200"/>
            <a:t> lama </a:t>
          </a:r>
          <a:r>
            <a:rPr lang="en-US" sz="2200" kern="1200" err="1"/>
            <a:t>dikembangkan</a:t>
          </a:r>
          <a:r>
            <a:rPr lang="en-US" sz="2200" kern="1200"/>
            <a:t> dan </a:t>
          </a:r>
          <a:r>
            <a:rPr lang="en-US" sz="2200" kern="1200" err="1"/>
            <a:t>digunakan</a:t>
          </a:r>
          <a:endParaRPr lang="en-AU" sz="2200" kern="1200"/>
        </a:p>
      </dsp:txBody>
      <dsp:txXfrm>
        <a:off x="25130" y="2751504"/>
        <a:ext cx="8007890" cy="464540"/>
      </dsp:txXfrm>
    </dsp:sp>
    <dsp:sp modelId="{D9D8544F-D58E-42B7-81BC-F6E9CEA90D43}">
      <dsp:nvSpPr>
        <dsp:cNvPr id="0" name=""/>
        <dsp:cNvSpPr/>
      </dsp:nvSpPr>
      <dsp:spPr>
        <a:xfrm>
          <a:off x="0" y="3241174"/>
          <a:ext cx="805815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84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AU" sz="1700" i="1" kern="1200" dirty="0"/>
            <a:t>Support </a:t>
          </a:r>
          <a:r>
            <a:rPr lang="en-AU" sz="1700" kern="1200" dirty="0" err="1"/>
            <a:t>banyak</a:t>
          </a:r>
          <a:r>
            <a:rPr lang="en-AU" sz="1700" kern="1200" dirty="0"/>
            <a:t> </a:t>
          </a:r>
          <a:r>
            <a:rPr lang="en-AU" sz="1700" kern="1200" dirty="0" err="1"/>
            <a:t>tersedia</a:t>
          </a:r>
          <a:r>
            <a:rPr lang="en-AU" sz="1700" kern="1200" dirty="0"/>
            <a:t> dan </a:t>
          </a:r>
          <a:r>
            <a:rPr lang="en-AU" sz="1700" kern="1200" dirty="0" err="1"/>
            <a:t>teknologi</a:t>
          </a:r>
          <a:r>
            <a:rPr lang="en-AU" sz="1700" kern="1200" dirty="0"/>
            <a:t> </a:t>
          </a:r>
          <a:r>
            <a:rPr lang="en-AU" sz="1700" kern="1200" dirty="0" err="1"/>
            <a:t>telah</a:t>
          </a:r>
          <a:r>
            <a:rPr lang="en-AU" sz="1700" kern="1200" dirty="0"/>
            <a:t> </a:t>
          </a:r>
          <a:r>
            <a:rPr lang="en-AU" sz="1700" kern="1200" dirty="0" err="1"/>
            <a:t>dikenal</a:t>
          </a:r>
          <a:r>
            <a:rPr lang="en-AU" sz="1700" kern="1200" dirty="0"/>
            <a:t> oleh </a:t>
          </a:r>
          <a:r>
            <a:rPr lang="en-AU" sz="1700" kern="1200" dirty="0" err="1"/>
            <a:t>banyak</a:t>
          </a:r>
          <a:r>
            <a:rPr lang="en-AU" sz="1700" kern="1200" dirty="0"/>
            <a:t> </a:t>
          </a:r>
          <a:r>
            <a:rPr lang="en-AU" sz="1700" kern="1200" dirty="0" err="1"/>
            <a:t>pihak</a:t>
          </a:r>
          <a:endParaRPr lang="en-AU" sz="1700" kern="1200" dirty="0"/>
        </a:p>
      </dsp:txBody>
      <dsp:txXfrm>
        <a:off x="0" y="3241174"/>
        <a:ext cx="8058150" cy="364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71773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842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861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/>
              <a:t>In a relational database, you do not specify the access route to the tables, and you do not need to </a:t>
            </a:r>
          </a:p>
          <a:p>
            <a:pPr marL="139700" indent="0">
              <a:buNone/>
            </a:pPr>
            <a:r>
              <a:rPr lang="en-US"/>
              <a:t>know how the data is arranged physically.</a:t>
            </a:r>
          </a:p>
          <a:p>
            <a:pPr marL="139700" indent="0">
              <a:buNone/>
            </a:pPr>
            <a:r>
              <a:rPr lang="en-US"/>
              <a:t>To access the database, you execute a structured query language (SQL) statement, which is the </a:t>
            </a:r>
          </a:p>
          <a:p>
            <a:pPr marL="139700" indent="0">
              <a:buNone/>
            </a:pPr>
            <a:r>
              <a:rPr lang="en-US"/>
              <a:t>American National Standards Institute (ANSI) standard language for operating relational</a:t>
            </a:r>
          </a:p>
          <a:p>
            <a:pPr marL="139700" indent="0">
              <a:buNone/>
            </a:pPr>
            <a:r>
              <a:rPr lang="en-US"/>
              <a:t>databases. SQL is a set of statements with which all programs and users access data in an Relational</a:t>
            </a:r>
          </a:p>
          <a:p>
            <a:pPr marL="139700" indent="0">
              <a:buNone/>
            </a:pPr>
            <a:r>
              <a:rPr lang="en-US"/>
              <a:t>Database. 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6533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049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In a relational database, you do not specify the access route to the tables, and you do not need to </a:t>
            </a:r>
          </a:p>
          <a:p>
            <a:pPr marL="139700" indent="0">
              <a:buNone/>
            </a:pPr>
            <a:r>
              <a:rPr lang="en-US" dirty="0"/>
              <a:t>know how the data is arranged physically.</a:t>
            </a:r>
          </a:p>
          <a:p>
            <a:pPr marL="139700" indent="0">
              <a:buNone/>
            </a:pPr>
            <a:r>
              <a:rPr lang="en-US" dirty="0"/>
              <a:t>To access the database, you execute a structured query language (SQL) statement, which is the </a:t>
            </a:r>
          </a:p>
          <a:p>
            <a:pPr marL="139700" indent="0">
              <a:buNone/>
            </a:pPr>
            <a:r>
              <a:rPr lang="en-US" dirty="0"/>
              <a:t>American National Standards Institute (ANSI) standard language for operating relational</a:t>
            </a:r>
          </a:p>
          <a:p>
            <a:pPr marL="139700" indent="0">
              <a:buNone/>
            </a:pPr>
            <a:r>
              <a:rPr lang="en-US" dirty="0"/>
              <a:t>databases. SQL is a set of statements with which all programs and users access data in an Relational</a:t>
            </a:r>
          </a:p>
          <a:p>
            <a:pPr marL="139700" indent="0">
              <a:buNone/>
            </a:pPr>
            <a:r>
              <a:rPr lang="en-US" dirty="0"/>
              <a:t>Database.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18794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/>
              <a:t>In a relational database, you do not specify the access route to the tables, and you do not need to </a:t>
            </a:r>
          </a:p>
          <a:p>
            <a:pPr marL="139700" indent="0">
              <a:buNone/>
            </a:pPr>
            <a:r>
              <a:rPr lang="en-US"/>
              <a:t>know how the data is arranged physically.</a:t>
            </a:r>
          </a:p>
          <a:p>
            <a:pPr marL="139700" indent="0">
              <a:buNone/>
            </a:pPr>
            <a:r>
              <a:rPr lang="en-US"/>
              <a:t>To access the database, you execute a structured query language (SQL) statement, which is the </a:t>
            </a:r>
          </a:p>
          <a:p>
            <a:pPr marL="139700" indent="0">
              <a:buNone/>
            </a:pPr>
            <a:r>
              <a:rPr lang="en-US"/>
              <a:t>American National Standards Institute (ANSI) standard language for operating relational</a:t>
            </a:r>
          </a:p>
          <a:p>
            <a:pPr marL="139700" indent="0">
              <a:buNone/>
            </a:pPr>
            <a:r>
              <a:rPr lang="en-US"/>
              <a:t>databases. SQL is a set of statements with which all programs and users access data in an Relational</a:t>
            </a:r>
          </a:p>
          <a:p>
            <a:pPr marL="139700" indent="0">
              <a:buNone/>
            </a:pPr>
            <a:r>
              <a:rPr lang="en-US"/>
              <a:t>Database. 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0736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SQL provides statements for a variety of tasks, including:</a:t>
            </a:r>
          </a:p>
          <a:p>
            <a:pPr marL="139700" indent="0">
              <a:buNone/>
            </a:pPr>
            <a:r>
              <a:rPr lang="en-US" dirty="0"/>
              <a:t>• Querying data</a:t>
            </a:r>
          </a:p>
          <a:p>
            <a:pPr marL="139700" indent="0">
              <a:buNone/>
            </a:pPr>
            <a:r>
              <a:rPr lang="en-US" dirty="0"/>
              <a:t>• Inserting, updating, and deleting rows in a table</a:t>
            </a:r>
          </a:p>
          <a:p>
            <a:pPr marL="139700" indent="0">
              <a:buNone/>
            </a:pPr>
            <a:r>
              <a:rPr lang="en-US" dirty="0"/>
              <a:t>• Creating, replacing, altering, and dropping objects</a:t>
            </a:r>
          </a:p>
          <a:p>
            <a:pPr marL="139700" indent="0">
              <a:buNone/>
            </a:pPr>
            <a:r>
              <a:rPr lang="en-US" dirty="0"/>
              <a:t>• Controlling access to the database and its objects</a:t>
            </a:r>
          </a:p>
          <a:p>
            <a:pPr marL="139700" indent="0">
              <a:buNone/>
            </a:pPr>
            <a:r>
              <a:rPr lang="en-US" dirty="0"/>
              <a:t>• Guaranteeing database consistency and integrity</a:t>
            </a:r>
          </a:p>
          <a:p>
            <a:pPr marL="139700" indent="0">
              <a:buNone/>
            </a:pPr>
            <a:r>
              <a:rPr lang="en-US" dirty="0"/>
              <a:t>SQL unifies all of the preceding tasks in one consistent language and enables you to work with </a:t>
            </a:r>
          </a:p>
          <a:p>
            <a:pPr marL="139700" indent="0">
              <a:buNone/>
            </a:pPr>
            <a:r>
              <a:rPr lang="en-US" dirty="0"/>
              <a:t>data at a logical level</a:t>
            </a:r>
            <a:endParaRPr lang="en-ID" dirty="0"/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099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0598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2321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>
                <a:solidFill>
                  <a:schemeClr val="tx1"/>
                </a:solidFill>
              </a:rPr>
              <a:t>Database </a:t>
            </a:r>
            <a:r>
              <a:rPr lang="en-US" err="1">
                <a:solidFill>
                  <a:schemeClr val="tx1"/>
                </a:solidFill>
              </a:rPr>
              <a:t>adalah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sekumpulan</a:t>
            </a:r>
            <a:r>
              <a:rPr lang="en-US" b="1">
                <a:solidFill>
                  <a:schemeClr val="tx1"/>
                </a:solidFill>
              </a:rPr>
              <a:t> data</a:t>
            </a:r>
            <a:r>
              <a:rPr lang="en-US">
                <a:solidFill>
                  <a:schemeClr val="tx1"/>
                </a:solidFill>
              </a:rPr>
              <a:t> yang </a:t>
            </a:r>
            <a:r>
              <a:rPr lang="en-US" b="1" err="1">
                <a:solidFill>
                  <a:schemeClr val="tx1"/>
                </a:solidFill>
              </a:rPr>
              <a:t>terorganisasi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en-US" err="1">
                <a:solidFill>
                  <a:schemeClr val="tx1"/>
                </a:solidFill>
              </a:rPr>
              <a:t>Secara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bahasa</a:t>
            </a:r>
            <a:r>
              <a:rPr lang="en-US">
                <a:solidFill>
                  <a:schemeClr val="tx1"/>
                </a:solidFill>
              </a:rPr>
              <a:t> database </a:t>
            </a:r>
            <a:r>
              <a:rPr lang="en-US" err="1">
                <a:solidFill>
                  <a:schemeClr val="tx1"/>
                </a:solidFill>
              </a:rPr>
              <a:t>adalah</a:t>
            </a:r>
            <a:r>
              <a:rPr lang="en-US">
                <a:solidFill>
                  <a:schemeClr val="tx1"/>
                </a:solidFill>
              </a:rPr>
              <a:t> “</a:t>
            </a:r>
            <a:r>
              <a:rPr lang="en-US" err="1">
                <a:solidFill>
                  <a:schemeClr val="tx1"/>
                </a:solidFill>
              </a:rPr>
              <a:t>markasnya</a:t>
            </a:r>
            <a:r>
              <a:rPr lang="en-US">
                <a:solidFill>
                  <a:schemeClr val="tx1"/>
                </a:solidFill>
              </a:rPr>
              <a:t> data”.</a:t>
            </a: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Di </a:t>
            </a:r>
            <a:r>
              <a:rPr lang="en-US" err="1">
                <a:solidFill>
                  <a:schemeClr val="tx1"/>
                </a:solidFill>
              </a:rPr>
              <a:t>dalam</a:t>
            </a:r>
            <a:r>
              <a:rPr lang="en-US">
                <a:solidFill>
                  <a:schemeClr val="tx1"/>
                </a:solidFill>
              </a:rPr>
              <a:t> database </a:t>
            </a:r>
            <a:r>
              <a:rPr lang="en-US" err="1">
                <a:solidFill>
                  <a:schemeClr val="tx1"/>
                </a:solidFill>
              </a:rPr>
              <a:t>ada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banyak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tabel</a:t>
            </a:r>
            <a:r>
              <a:rPr lang="en-US">
                <a:solidFill>
                  <a:schemeClr val="tx1"/>
                </a:solidFill>
              </a:rPr>
              <a:t>. Dan </a:t>
            </a:r>
            <a:r>
              <a:rPr lang="en-US" err="1">
                <a:solidFill>
                  <a:schemeClr val="tx1"/>
                </a:solidFill>
              </a:rPr>
              <a:t>tabel-tabel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tersebut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saling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berhubungan</a:t>
            </a:r>
            <a:r>
              <a:rPr lang="en-US">
                <a:solidFill>
                  <a:schemeClr val="tx1"/>
                </a:solidFill>
              </a:rPr>
              <a:t>.</a:t>
            </a:r>
            <a:endParaRPr lang="en-ID">
              <a:solidFill>
                <a:schemeClr val="tx1"/>
              </a:solidFill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494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109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3776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317500">
              <a:buFont typeface="Arial" panose="020B0604020202020204" pitchFamily="34" charset="0"/>
              <a:buChar char="•"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1637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/>
              <a:t>Beberapa RDBMS</a:t>
            </a:r>
            <a:r>
              <a:rPr lang="en-US" baseline="0"/>
              <a:t> client tools dapat digunakan pada multi RDBMS</a:t>
            </a:r>
            <a:endParaRPr lang="en-ID"/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9430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1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B4A13-8C31-4C35-870A-9948077C5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983BE-CE3F-4935-81C3-5D59B98FC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E4A0B-1959-4A0E-A531-BBE85870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9336-0AEA-4B3C-964E-F352DA462478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FF93E-01EA-45AE-A7BD-8FE274968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D5498-F20A-461C-9E5A-C2E40812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1A788-A42E-4DCD-878F-C46F856A3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20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541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60" r:id="rId4"/>
    <p:sldLayoutId id="2147483661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QL" TargetMode="External"/><Relationship Id="rId3" Type="http://schemas.openxmlformats.org/officeDocument/2006/relationships/hyperlink" Target="https://en.wikipedia.org/wiki/Database" TargetMode="External"/><Relationship Id="rId7" Type="http://schemas.openxmlformats.org/officeDocument/2006/relationships/hyperlink" Target="https://en.wikipedia.org/wiki/Relational_database_management_syste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en.wikipedia.org/wiki/Relational_database#cite_note-codd-1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en.wikipedia.org/wiki/E._F._Codd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en.wikipedia.org/wiki/Relational_model" TargetMode="External"/><Relationship Id="rId9" Type="http://schemas.openxmlformats.org/officeDocument/2006/relationships/hyperlink" Target="https://en.wikipedia.org/wiki/Relational_database#cite_note-2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2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64" name="Google Shape;64;p12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65" name="Google Shape;65;p12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2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2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2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2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2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2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2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2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2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2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2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2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2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2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2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2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2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2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2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2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2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2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2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2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2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2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2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2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2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2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2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2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2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2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2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2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2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2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2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2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2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2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2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2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2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2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2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2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2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2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2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2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2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2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2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2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2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2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2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2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2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2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2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2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2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2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2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2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2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2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2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2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2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p12"/>
            <p:cNvSpPr/>
            <p:nvPr/>
          </p:nvSpPr>
          <p:spPr>
            <a:xfrm>
              <a:off x="6986665" y="3342725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2"/>
            <p:cNvSpPr/>
            <p:nvPr/>
          </p:nvSpPr>
          <p:spPr>
            <a:xfrm>
              <a:off x="7014156" y="3327342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2"/>
            <p:cNvSpPr/>
            <p:nvPr/>
          </p:nvSpPr>
          <p:spPr>
            <a:xfrm>
              <a:off x="7014156" y="3298709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7976493" y="3396565"/>
              <a:ext cx="664277" cy="383503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912754" y="3450709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2"/>
            <p:cNvSpPr/>
            <p:nvPr/>
          </p:nvSpPr>
          <p:spPr>
            <a:xfrm>
              <a:off x="7863331" y="3479190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7813984" y="3507747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7451727" y="3699575"/>
              <a:ext cx="664201" cy="38350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7387988" y="3753643"/>
              <a:ext cx="592922" cy="342381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2"/>
            <p:cNvSpPr/>
            <p:nvPr/>
          </p:nvSpPr>
          <p:spPr>
            <a:xfrm>
              <a:off x="7338565" y="3782200"/>
              <a:ext cx="581727" cy="33583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7289218" y="3810681"/>
              <a:ext cx="496361" cy="286637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>
              <a:off x="7582329" y="3561435"/>
              <a:ext cx="337202" cy="194645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2"/>
            <p:cNvSpPr/>
            <p:nvPr/>
          </p:nvSpPr>
          <p:spPr>
            <a:xfrm>
              <a:off x="7800200" y="3687162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8018073" y="3812966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2"/>
            <p:cNvSpPr/>
            <p:nvPr/>
          </p:nvSpPr>
          <p:spPr>
            <a:xfrm>
              <a:off x="6687910" y="670084"/>
              <a:ext cx="163899" cy="239625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6700339" y="668001"/>
              <a:ext cx="78506" cy="96744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6715688" y="773039"/>
              <a:ext cx="96838" cy="10838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6550295" y="816287"/>
              <a:ext cx="182749" cy="260151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6687493" y="808527"/>
              <a:ext cx="141166" cy="186207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6712641" y="675415"/>
              <a:ext cx="103849" cy="127932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6716857" y="674913"/>
              <a:ext cx="104260" cy="98126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6591681" y="1319278"/>
              <a:ext cx="81988" cy="62539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6592043" y="1339232"/>
              <a:ext cx="81616" cy="42611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6550653" y="1292322"/>
              <a:ext cx="75049" cy="5813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6550998" y="1311512"/>
              <a:ext cx="74752" cy="39022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6578488" y="992358"/>
              <a:ext cx="178709" cy="30823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6627226" y="992967"/>
              <a:ext cx="177917" cy="333745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560953" y="971949"/>
              <a:ext cx="266059" cy="244904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774876" y="827227"/>
              <a:ext cx="92463" cy="32416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792998" y="823141"/>
              <a:ext cx="55907" cy="71103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683350" y="808424"/>
              <a:ext cx="47823" cy="5021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3" name="Google Shape;203;p12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204" name="Google Shape;204;p12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2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avLst/>
                <a:gdLst/>
                <a:ahLst/>
                <a:cxnLst/>
                <a:rect l="l" t="t" r="r" b="b"/>
                <a:pathLst>
                  <a:path w="217597" h="318657" extrusionOk="0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2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avLst/>
                <a:gdLst/>
                <a:ahLst/>
                <a:cxnLst/>
                <a:rect l="l" t="t" r="r" b="b"/>
                <a:pathLst>
                  <a:path w="40647" h="235450" extrusionOk="0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avLst/>
                <a:gdLst/>
                <a:ahLst/>
                <a:cxnLst/>
                <a:rect l="l" t="t" r="r" b="b"/>
                <a:pathLst>
                  <a:path w="103921" h="128329" extrusionOk="0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avLst/>
                <a:gdLst/>
                <a:ahLst/>
                <a:cxnLst/>
                <a:rect l="l" t="t" r="r" b="b"/>
                <a:pathLst>
                  <a:path w="128622" h="143860" extrusionOk="0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avLst/>
                <a:gdLst/>
                <a:ahLst/>
                <a:cxnLst/>
                <a:rect l="l" t="t" r="r" b="b"/>
                <a:pathLst>
                  <a:path w="187397" h="215209" extrusionOk="0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2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avLst/>
                <a:gdLst/>
                <a:ahLst/>
                <a:cxnLst/>
                <a:rect l="l" t="t" r="r" b="b"/>
                <a:pathLst>
                  <a:path w="138529" h="170431" extrusionOk="0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2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avLst/>
                <a:gdLst/>
                <a:ahLst/>
                <a:cxnLst/>
                <a:rect l="l" t="t" r="r" b="b"/>
                <a:pathLst>
                  <a:path w="138474" h="130867" extrusionOk="0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avLst/>
                <a:gdLst/>
                <a:ahLst/>
                <a:cxnLst/>
                <a:rect l="l" t="t" r="r" b="b"/>
                <a:pathLst>
                  <a:path w="93089" h="307779" extrusionOk="0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avLst/>
                <a:gdLst/>
                <a:ahLst/>
                <a:cxnLst/>
                <a:rect l="l" t="t" r="r" b="b"/>
                <a:pathLst>
                  <a:path w="108744" h="83141" extrusionOk="0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56238" extrusionOk="0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avLst/>
                <a:gdLst/>
                <a:ahLst/>
                <a:cxnLst/>
                <a:rect l="l" t="t" r="r" b="b"/>
                <a:pathLst>
                  <a:path w="99827" h="77341" extrusionOk="0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2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avLst/>
                <a:gdLst/>
                <a:ahLst/>
                <a:cxnLst/>
                <a:rect l="l" t="t" r="r" b="b"/>
                <a:pathLst>
                  <a:path w="99536" h="51729" extrusionOk="0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2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avLst/>
                <a:gdLst/>
                <a:ahLst/>
                <a:cxnLst/>
                <a:rect l="l" t="t" r="r" b="b"/>
                <a:pathLst>
                  <a:path w="213068" h="744450" extrusionOk="0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avLst/>
                <a:gdLst/>
                <a:ahLst/>
                <a:cxnLst/>
                <a:rect l="l" t="t" r="r" b="b"/>
                <a:pathLst>
                  <a:path w="226922" h="495109" extrusionOk="0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avLst/>
                <a:gdLst/>
                <a:ahLst/>
                <a:cxnLst/>
                <a:rect l="l" t="t" r="r" b="b"/>
                <a:pathLst>
                  <a:path w="76263" h="95029" extrusionOk="0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63531" h="66745" extrusionOk="0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222" name="Google Shape;222;p12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2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2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2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2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2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avLst/>
                <a:gdLst/>
                <a:ahLst/>
                <a:cxnLst/>
                <a:rect l="l" t="t" r="r" b="b"/>
                <a:pathLst>
                  <a:path w="122876" h="95119" extrusionOk="0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avLst/>
                <a:gdLst/>
                <a:ahLst/>
                <a:cxnLst/>
                <a:rect l="l" t="t" r="r" b="b"/>
                <a:pathLst>
                  <a:path w="122242" h="63751" extrusionOk="0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avLst/>
                <a:gdLst/>
                <a:ahLst/>
                <a:cxnLst/>
                <a:rect l="l" t="t" r="r" b="b"/>
                <a:pathLst>
                  <a:path w="122771" h="91654" extrusionOk="0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avLst/>
                <a:gdLst/>
                <a:ahLst/>
                <a:cxnLst/>
                <a:rect l="l" t="t" r="r" b="b"/>
                <a:pathLst>
                  <a:path w="122230" h="63800" extrusionOk="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2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avLst/>
                <a:gdLst/>
                <a:ahLst/>
                <a:cxnLst/>
                <a:rect l="l" t="t" r="r" b="b"/>
                <a:pathLst>
                  <a:path w="211613" h="606004" extrusionOk="0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2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avLst/>
                <a:gdLst/>
                <a:ahLst/>
                <a:cxnLst/>
                <a:rect l="l" t="t" r="r" b="b"/>
                <a:pathLst>
                  <a:path w="135319" h="132132" extrusionOk="0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avLst/>
                <a:gdLst/>
                <a:ahLst/>
                <a:cxnLst/>
                <a:rect l="l" t="t" r="r" b="b"/>
                <a:pathLst>
                  <a:path w="192267" h="377666" extrusionOk="0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avLst/>
                <a:gdLst/>
                <a:ahLst/>
                <a:cxnLst/>
                <a:rect l="l" t="t" r="r" b="b"/>
                <a:pathLst>
                  <a:path w="219367" h="442443" extrusionOk="0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2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avLst/>
                <a:gdLst/>
                <a:ahLst/>
                <a:cxnLst/>
                <a:rect l="l" t="t" r="r" b="b"/>
                <a:pathLst>
                  <a:path w="146094" h="177613" extrusionOk="0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2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avLst/>
                <a:gdLst/>
                <a:ahLst/>
                <a:cxnLst/>
                <a:rect l="l" t="t" r="r" b="b"/>
                <a:pathLst>
                  <a:path w="154031" h="152067" extrusionOk="0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avLst/>
                <a:gdLst/>
                <a:ahLst/>
                <a:cxnLst/>
                <a:rect l="l" t="t" r="r" b="b"/>
                <a:pathLst>
                  <a:path w="196972" h="338613" extrusionOk="0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avLst/>
                <a:gdLst/>
                <a:ahLst/>
                <a:cxnLst/>
                <a:rect l="l" t="t" r="r" b="b"/>
                <a:pathLst>
                  <a:path w="228028" h="306609" extrusionOk="0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avLst/>
                <a:gdLst/>
                <a:ahLst/>
                <a:cxnLst/>
                <a:rect l="l" t="t" r="r" b="b"/>
                <a:pathLst>
                  <a:path w="115992" h="56976" extrusionOk="0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avLst/>
                <a:gdLst/>
                <a:ahLst/>
                <a:cxnLst/>
                <a:rect l="l" t="t" r="r" b="b"/>
                <a:pathLst>
                  <a:path w="71478" h="59099" extrusionOk="0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2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avLst/>
                <a:gdLst/>
                <a:ahLst/>
                <a:cxnLst/>
                <a:rect l="l" t="t" r="r" b="b"/>
                <a:pathLst>
                  <a:path w="70866" h="103155" extrusionOk="0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2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avLst/>
                <a:gdLst/>
                <a:ahLst/>
                <a:cxnLst/>
                <a:rect l="l" t="t" r="r" b="b"/>
                <a:pathLst>
                  <a:path w="85975" h="128318" extrusionOk="0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" name="Google Shape;253;p12"/>
            <p:cNvSpPr/>
            <p:nvPr/>
          </p:nvSpPr>
          <p:spPr>
            <a:xfrm>
              <a:off x="7297552" y="1119942"/>
              <a:ext cx="135609" cy="26640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7309787" y="1745656"/>
              <a:ext cx="93295" cy="72283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7310617" y="1769417"/>
              <a:ext cx="92899" cy="48456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7197828" y="1680648"/>
              <a:ext cx="93274" cy="69610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7198064" y="1702707"/>
              <a:ext cx="92850" cy="48456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7221254" y="1360384"/>
              <a:ext cx="326700" cy="394943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7417903" y="1095544"/>
              <a:ext cx="102781" cy="99997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7381720" y="1109556"/>
              <a:ext cx="166775" cy="325513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413797" y="991818"/>
              <a:ext cx="110760" cy="134864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7417935" y="980032"/>
              <a:ext cx="116886" cy="115512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7364000" y="1109861"/>
              <a:ext cx="53839" cy="78361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7794459" y="3551002"/>
              <a:ext cx="540508" cy="312148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7824798" y="3491907"/>
              <a:ext cx="469764" cy="181297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7794490" y="3623727"/>
              <a:ext cx="41046" cy="82625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8298847" y="3624184"/>
              <a:ext cx="36096" cy="82168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7842237" y="3535238"/>
              <a:ext cx="449908" cy="259679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7815050" y="3673683"/>
              <a:ext cx="491482" cy="17632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794490" y="3472184"/>
              <a:ext cx="540453" cy="312196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7752377" y="3752957"/>
              <a:ext cx="148877" cy="85976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7787483" y="3773138"/>
              <a:ext cx="113771" cy="106232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7465892" y="3799784"/>
              <a:ext cx="344817" cy="254127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8113340" y="4275363"/>
              <a:ext cx="345579" cy="199519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8345604" y="3658605"/>
              <a:ext cx="79241" cy="172485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8356722" y="3587657"/>
              <a:ext cx="56961" cy="109603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8165307" y="4346248"/>
              <a:ext cx="122882" cy="68919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2"/>
            <p:cNvSpPr/>
            <p:nvPr/>
          </p:nvSpPr>
          <p:spPr>
            <a:xfrm>
              <a:off x="8165313" y="4357988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2"/>
            <p:cNvSpPr/>
            <p:nvPr/>
          </p:nvSpPr>
          <p:spPr>
            <a:xfrm>
              <a:off x="8255166" y="4305930"/>
              <a:ext cx="122882" cy="68953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2"/>
            <p:cNvSpPr/>
            <p:nvPr/>
          </p:nvSpPr>
          <p:spPr>
            <a:xfrm>
              <a:off x="8255174" y="4317703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2"/>
            <p:cNvSpPr/>
            <p:nvPr/>
          </p:nvSpPr>
          <p:spPr>
            <a:xfrm>
              <a:off x="8198325" y="3858200"/>
              <a:ext cx="179678" cy="5072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2"/>
            <p:cNvSpPr/>
            <p:nvPr/>
          </p:nvSpPr>
          <p:spPr>
            <a:xfrm>
              <a:off x="8224549" y="3442293"/>
              <a:ext cx="130417" cy="208730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2"/>
            <p:cNvSpPr/>
            <p:nvPr/>
          </p:nvSpPr>
          <p:spPr>
            <a:xfrm>
              <a:off x="8197056" y="3589895"/>
              <a:ext cx="200560" cy="332104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>
              <a:off x="8000839" y="3631642"/>
              <a:ext cx="254644" cy="198374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>
              <a:off x="8187055" y="3627341"/>
              <a:ext cx="77484" cy="113419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8224358" y="3433131"/>
              <a:ext cx="126435" cy="139356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12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90" name="Google Shape;290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12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96" name="Google Shape;296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1" name="Google Shape;301;p12"/>
            <p:cNvSpPr/>
            <p:nvPr/>
          </p:nvSpPr>
          <p:spPr>
            <a:xfrm>
              <a:off x="7451033" y="1163186"/>
              <a:ext cx="126280" cy="353110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7509451" y="1160411"/>
              <a:ext cx="72725" cy="98625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3" name="Google Shape;303;p12"/>
            <p:cNvGrpSpPr/>
            <p:nvPr/>
          </p:nvGrpSpPr>
          <p:grpSpPr>
            <a:xfrm flipH="1">
              <a:off x="8183210" y="2407472"/>
              <a:ext cx="780360" cy="1195999"/>
              <a:chOff x="3975528" y="3303922"/>
              <a:chExt cx="780360" cy="1195999"/>
            </a:xfrm>
          </p:grpSpPr>
          <p:sp>
            <p:nvSpPr>
              <p:cNvPr id="304" name="Google Shape;304;p12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2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2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311" extrusionOk="0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2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1032319" extrusionOk="0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2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501" extrusionOk="0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2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688" h="721899" extrusionOk="0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2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2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2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399097" extrusionOk="0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2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avLst/>
                <a:gdLst/>
                <a:ahLst/>
                <a:cxnLst/>
                <a:rect l="l" t="t" r="r" b="b"/>
                <a:pathLst>
                  <a:path w="154251" h="303342" extrusionOk="0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avLst/>
                <a:gdLst/>
                <a:ahLst/>
                <a:cxnLst/>
                <a:rect l="l" t="t" r="r" b="b"/>
                <a:pathLst>
                  <a:path w="106588" h="82319" extrusionOk="0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2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avLst/>
                <a:gdLst/>
                <a:ahLst/>
                <a:cxnLst/>
                <a:rect l="l" t="t" r="r" b="b"/>
                <a:pathLst>
                  <a:path w="106123" h="55368" extrusionOk="0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2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avLst/>
                <a:gdLst/>
                <a:ahLst/>
                <a:cxnLst/>
                <a:rect l="l" t="t" r="r" b="b"/>
                <a:pathLst>
                  <a:path w="106576" h="79516" extrusionOk="0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avLst/>
                <a:gdLst/>
                <a:ahLst/>
                <a:cxnLst/>
                <a:rect l="l" t="t" r="r" b="b"/>
                <a:pathLst>
                  <a:path w="106154" h="55320" extrusionOk="0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2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avLst/>
                <a:gdLst/>
                <a:ahLst/>
                <a:cxnLst/>
                <a:rect l="l" t="t" r="r" b="b"/>
                <a:pathLst>
                  <a:path w="372536" h="450662" extrusionOk="0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2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avLst/>
                <a:gdLst/>
                <a:ahLst/>
                <a:cxnLst/>
                <a:rect l="l" t="t" r="r" b="b"/>
                <a:pathLst>
                  <a:path w="117160" h="114020" extrusionOk="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2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avLst/>
                <a:gdLst/>
                <a:ahLst/>
                <a:cxnLst/>
                <a:rect l="l" t="t" r="r" b="b"/>
                <a:pathLst>
                  <a:path w="189574" h="370837" extrusionOk="0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2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avLst/>
                <a:gdLst/>
                <a:ahLst/>
                <a:cxnLst/>
                <a:rect l="l" t="t" r="r" b="b"/>
                <a:pathLst>
                  <a:path w="126365" h="153696" extrusionOk="0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2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avLst/>
                <a:gdLst/>
                <a:ahLst/>
                <a:cxnLst/>
                <a:rect l="l" t="t" r="r" b="b"/>
                <a:pathLst>
                  <a:path w="133256" h="131805" extrusionOk="0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2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avLst/>
                <a:gdLst/>
                <a:ahLst/>
                <a:cxnLst/>
                <a:rect l="l" t="t" r="r" b="b"/>
                <a:pathLst>
                  <a:path w="61436" h="88868" extrusionOk="0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0" name="Google Shape;330;p12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331" name="Google Shape;331;p12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99" h="174500" extrusionOk="0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2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73" h="45815" extrusionOk="0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12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09" h="118292" extrusionOk="0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12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122" h="244320" extrusionOk="0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2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421" h="245364" extrusionOk="0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6" name="Google Shape;336;p12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avLst/>
                <a:gdLst/>
                <a:ahLst/>
                <a:cxnLst/>
                <a:rect l="l" t="t" r="r" b="b"/>
                <a:pathLst>
                  <a:path w="143174" h="402337" extrusionOk="0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2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avLst/>
                <a:gdLst/>
                <a:ahLst/>
                <a:cxnLst/>
                <a:rect l="l" t="t" r="r" b="b"/>
                <a:pathLst>
                  <a:path w="82772" h="112806" extrusionOk="0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1139060" y="1868119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/>
              <a:t>Pengenalan</a:t>
            </a:r>
            <a:r>
              <a:rPr lang="en-US" sz="4400" dirty="0"/>
              <a:t> </a:t>
            </a:r>
            <a:br>
              <a:rPr lang="en-US" sz="4400" dirty="0"/>
            </a:br>
            <a:r>
              <a:rPr lang="en-US" sz="4400" dirty="0"/>
              <a:t>RDBMS &amp; SQL</a:t>
            </a:r>
            <a:endParaRPr sz="4400" dirty="0"/>
          </a:p>
        </p:txBody>
      </p:sp>
      <p:sp>
        <p:nvSpPr>
          <p:cNvPr id="341" name="Google Shape;406;p15"/>
          <p:cNvSpPr txBox="1">
            <a:spLocks/>
          </p:cNvSpPr>
          <p:nvPr/>
        </p:nvSpPr>
        <p:spPr>
          <a:xfrm>
            <a:off x="1134792" y="3169642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>
              <a:latin typeface="Barlow Light" panose="000004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 txBox="1">
            <a:spLocks noGrp="1"/>
          </p:cNvSpPr>
          <p:nvPr>
            <p:ph type="ctrTitle"/>
          </p:nvPr>
        </p:nvSpPr>
        <p:spPr>
          <a:xfrm>
            <a:off x="878589" y="1637892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Kenapa</a:t>
            </a:r>
            <a:r>
              <a:rPr lang="en-US"/>
              <a:t> SQL?</a:t>
            </a:r>
            <a:endParaRPr/>
          </a:p>
        </p:txBody>
      </p:sp>
      <p:sp>
        <p:nvSpPr>
          <p:cNvPr id="406" name="Google Shape;406;p15"/>
          <p:cNvSpPr txBox="1">
            <a:spLocks noGrp="1"/>
          </p:cNvSpPr>
          <p:nvPr>
            <p:ph type="subTitle" idx="1"/>
          </p:nvPr>
        </p:nvSpPr>
        <p:spPr>
          <a:xfrm>
            <a:off x="864353" y="2738122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Spreadsheet?</a:t>
            </a:r>
            <a:endParaRPr dirty="0"/>
          </a:p>
        </p:txBody>
      </p:sp>
      <p:grpSp>
        <p:nvGrpSpPr>
          <p:cNvPr id="408" name="Google Shape;408;p15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09" name="Google Shape;409;p15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0" name="Google Shape;430;p15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31" name="Google Shape;431;p15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5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5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5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5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5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5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5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5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" name="Google Shape;471;p15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" name="Google Shape;500;p15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01" name="Google Shape;501;p15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5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5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275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5640900" cy="507976"/>
          </a:xfrm>
        </p:spPr>
        <p:txBody>
          <a:bodyPr>
            <a:normAutofit/>
          </a:bodyPr>
          <a:lstStyle/>
          <a:p>
            <a:pPr lvl="0"/>
            <a:r>
              <a:rPr lang="en-US" i="1" dirty="0"/>
              <a:t>Spreadsheet</a:t>
            </a:r>
            <a:r>
              <a:rPr lang="en-US" dirty="0"/>
              <a:t> vs SQL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BF8FE644-EFD5-4674-B8D3-0D3907AC4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511542"/>
              </p:ext>
            </p:extLst>
          </p:nvPr>
        </p:nvGraphicFramePr>
        <p:xfrm>
          <a:off x="1014596" y="1236917"/>
          <a:ext cx="7114808" cy="286525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57404">
                  <a:extLst>
                    <a:ext uri="{9D8B030D-6E8A-4147-A177-3AD203B41FA5}">
                      <a16:colId xmlns:a16="http://schemas.microsoft.com/office/drawing/2014/main" val="4205236249"/>
                    </a:ext>
                  </a:extLst>
                </a:gridCol>
                <a:gridCol w="3557404">
                  <a:extLst>
                    <a:ext uri="{9D8B030D-6E8A-4147-A177-3AD203B41FA5}">
                      <a16:colId xmlns:a16="http://schemas.microsoft.com/office/drawing/2014/main" val="743880133"/>
                    </a:ext>
                  </a:extLst>
                </a:gridCol>
              </a:tblGrid>
              <a:tr h="494476">
                <a:tc>
                  <a:txBody>
                    <a:bodyPr/>
                    <a:lstStyle/>
                    <a:p>
                      <a:pPr algn="ctr"/>
                      <a:r>
                        <a:rPr lang="en-ID" i="1" dirty="0"/>
                        <a:t>Spreadsheet / File-based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Database + 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37772"/>
                  </a:ext>
                </a:extLst>
              </a:tr>
              <a:tr h="494476">
                <a:tc>
                  <a:txBody>
                    <a:bodyPr/>
                    <a:lstStyle/>
                    <a:p>
                      <a:r>
                        <a:rPr lang="en-ID"/>
                        <a:t>Data harus diekspor terlebih dahulu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Analisis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langsung</a:t>
                      </a:r>
                      <a:r>
                        <a:rPr lang="en-ID" dirty="0"/>
                        <a:t> pada </a:t>
                      </a:r>
                      <a:r>
                        <a:rPr lang="en-ID" dirty="0" err="1"/>
                        <a:t>sumber</a:t>
                      </a:r>
                      <a:r>
                        <a:rPr lang="en-ID" dirty="0"/>
                        <a:t>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362407"/>
                  </a:ext>
                </a:extLst>
              </a:tr>
              <a:tr h="494476">
                <a:tc>
                  <a:txBody>
                    <a:bodyPr/>
                    <a:lstStyle/>
                    <a:p>
                      <a:r>
                        <a:rPr lang="es-ES" dirty="0" err="1"/>
                        <a:t>Terbatas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ukuran</a:t>
                      </a:r>
                      <a:r>
                        <a:rPr lang="es-ES" dirty="0"/>
                        <a:t> file dan </a:t>
                      </a:r>
                      <a:r>
                        <a:rPr lang="es-ES" dirty="0" err="1"/>
                        <a:t>performa</a:t>
                      </a:r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Dirancang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untuk</a:t>
                      </a:r>
                      <a:r>
                        <a:rPr lang="en-ID" dirty="0"/>
                        <a:t> </a:t>
                      </a:r>
                      <a:r>
                        <a:rPr lang="en-ID" i="1" dirty="0"/>
                        <a:t>volume</a:t>
                      </a:r>
                      <a:r>
                        <a:rPr lang="en-ID" dirty="0"/>
                        <a:t> data </a:t>
                      </a:r>
                      <a:r>
                        <a:rPr lang="en-ID" dirty="0" err="1"/>
                        <a:t>besar</a:t>
                      </a:r>
                      <a:endParaRPr lang="en-ID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164738"/>
                  </a:ext>
                </a:extLst>
              </a:tr>
              <a:tr h="690912">
                <a:tc>
                  <a:txBody>
                    <a:bodyPr/>
                    <a:lstStyle/>
                    <a:p>
                      <a:r>
                        <a:rPr lang="en-ID"/>
                        <a:t>Risiko duplikasi dan versi data berbeda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Menggunakan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satu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sumber</a:t>
                      </a:r>
                      <a:r>
                        <a:rPr lang="en-US" dirty="0"/>
                        <a:t>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066040"/>
                  </a:ext>
                </a:extLst>
              </a:tr>
              <a:tr h="690912">
                <a:tc>
                  <a:txBody>
                    <a:bodyPr/>
                    <a:lstStyle/>
                    <a:p>
                      <a:r>
                        <a:rPr lang="en-ID" dirty="0" err="1"/>
                        <a:t>Sulit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mengikuti</a:t>
                      </a:r>
                      <a:r>
                        <a:rPr lang="en-ID" dirty="0"/>
                        <a:t> data yang </a:t>
                      </a:r>
                      <a:r>
                        <a:rPr lang="en-ID" dirty="0" err="1"/>
                        <a:t>terus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berubah</a:t>
                      </a:r>
                      <a:endParaRPr lang="en-ID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Selalu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mengakses</a:t>
                      </a:r>
                      <a:r>
                        <a:rPr lang="en-ID" dirty="0"/>
                        <a:t> data </a:t>
                      </a:r>
                      <a:r>
                        <a:rPr lang="en-ID" dirty="0" err="1"/>
                        <a:t>terbaru</a:t>
                      </a:r>
                      <a:r>
                        <a:rPr lang="en-ID" dirty="0"/>
                        <a:t> (</a:t>
                      </a:r>
                      <a:r>
                        <a:rPr lang="en-ID" dirty="0" err="1"/>
                        <a:t>sesuai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hak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akses</a:t>
                      </a:r>
                      <a:r>
                        <a:rPr lang="en-ID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64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465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 txBox="1">
            <a:spLocks noGrp="1"/>
          </p:cNvSpPr>
          <p:nvPr>
            <p:ph type="ctrTitle"/>
          </p:nvPr>
        </p:nvSpPr>
        <p:spPr>
          <a:xfrm>
            <a:off x="878589" y="1637892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Apa</a:t>
            </a:r>
            <a:r>
              <a:rPr lang="en-US"/>
              <a:t> </a:t>
            </a:r>
            <a:r>
              <a:rPr lang="en-US" err="1"/>
              <a:t>itu</a:t>
            </a:r>
            <a:r>
              <a:rPr lang="en-US"/>
              <a:t> SQL?</a:t>
            </a:r>
            <a:endParaRPr/>
          </a:p>
        </p:txBody>
      </p:sp>
      <p:sp>
        <p:nvSpPr>
          <p:cNvPr id="406" name="Google Shape;406;p15"/>
          <p:cNvSpPr txBox="1">
            <a:spLocks noGrp="1"/>
          </p:cNvSpPr>
          <p:nvPr>
            <p:ph type="subTitle" idx="1"/>
          </p:nvPr>
        </p:nvSpPr>
        <p:spPr>
          <a:xfrm>
            <a:off x="864353" y="2738122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Structured Query Language (SQL)</a:t>
            </a:r>
            <a:endParaRPr/>
          </a:p>
        </p:txBody>
      </p:sp>
      <p:grpSp>
        <p:nvGrpSpPr>
          <p:cNvPr id="408" name="Google Shape;408;p15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09" name="Google Shape;409;p15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0" name="Google Shape;430;p15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31" name="Google Shape;431;p15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5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5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5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5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5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5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5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5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" name="Google Shape;471;p15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" name="Google Shape;500;p15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01" name="Google Shape;501;p15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5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5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1588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5640900" cy="507976"/>
          </a:xfrm>
        </p:spPr>
        <p:txBody>
          <a:bodyPr>
            <a:normAutofit fontScale="90000"/>
          </a:bodyPr>
          <a:lstStyle/>
          <a:p>
            <a:pPr lvl="0"/>
            <a:r>
              <a:rPr lang="en-US" i="1" dirty="0"/>
              <a:t>Structured Query Language </a:t>
            </a:r>
            <a:r>
              <a:rPr lang="en-US" dirty="0"/>
              <a:t>(SQL)</a:t>
            </a:r>
            <a:br>
              <a:rPr lang="en-US" dirty="0"/>
            </a:b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825" y="974073"/>
            <a:ext cx="7627545" cy="2679000"/>
          </a:xfrm>
        </p:spPr>
        <p:txBody>
          <a:bodyPr/>
          <a:lstStyle/>
          <a:p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ANSI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mengoperasikan</a:t>
            </a:r>
            <a:r>
              <a:rPr lang="en-US" dirty="0"/>
              <a:t> basis data (</a:t>
            </a:r>
            <a:r>
              <a:rPr lang="en-US" i="1" dirty="0"/>
              <a:t>database</a:t>
            </a:r>
            <a:r>
              <a:rPr lang="en-US" dirty="0"/>
              <a:t>) </a:t>
            </a:r>
            <a:r>
              <a:rPr lang="en-US" dirty="0" err="1"/>
              <a:t>relasional</a:t>
            </a:r>
            <a:r>
              <a:rPr lang="en-US" dirty="0"/>
              <a:t> </a:t>
            </a:r>
          </a:p>
          <a:p>
            <a:r>
              <a:rPr lang="en-US" dirty="0" err="1"/>
              <a:t>Efisien</a:t>
            </a:r>
            <a:r>
              <a:rPr lang="en-US" dirty="0"/>
              <a:t> dan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en-US" dirty="0"/>
          </a:p>
          <a:p>
            <a:r>
              <a:rPr lang="en-US" i="1" dirty="0"/>
              <a:t>Functionally complete. </a:t>
            </a:r>
            <a:r>
              <a:rPr lang="en-US" dirty="0" err="1"/>
              <a:t>Dengan</a:t>
            </a:r>
            <a:r>
              <a:rPr lang="en-US" dirty="0"/>
              <a:t> SQL,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mendefinisikan</a:t>
            </a:r>
            <a:r>
              <a:rPr lang="en-US" dirty="0"/>
              <a:t>, </a:t>
            </a:r>
            <a:r>
              <a:rPr lang="en-US" dirty="0" err="1"/>
              <a:t>mengambil</a:t>
            </a:r>
            <a:r>
              <a:rPr lang="en-US" dirty="0"/>
              <a:t>, dan </a:t>
            </a:r>
            <a:r>
              <a:rPr lang="en-US" dirty="0" err="1"/>
              <a:t>memanipulasi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lowchart: Magnetic Disk 4"/>
          <p:cNvSpPr/>
          <p:nvPr/>
        </p:nvSpPr>
        <p:spPr>
          <a:xfrm>
            <a:off x="6320193" y="2924269"/>
            <a:ext cx="1385180" cy="17124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/>
          <p:cNvSpPr/>
          <p:nvPr/>
        </p:nvSpPr>
        <p:spPr>
          <a:xfrm>
            <a:off x="1317575" y="3064383"/>
            <a:ext cx="3920150" cy="44362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>
                <a:solidFill>
                  <a:schemeClr val="tx1"/>
                </a:solidFill>
                <a:latin typeface="Barlow Light" panose="00000400000000000000" pitchFamily="2" charset="0"/>
              </a:rPr>
              <a:t>SELECT department_name FROM   departments;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261545" y="3272612"/>
            <a:ext cx="976293" cy="13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503691" y="3885312"/>
            <a:ext cx="2816502" cy="34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722" y="3548959"/>
            <a:ext cx="1108610" cy="145751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3528" y="3806552"/>
            <a:ext cx="869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RDBMS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Server</a:t>
            </a:r>
            <a:endParaRPr lang="en-ID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68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5640900" cy="507976"/>
          </a:xfrm>
        </p:spPr>
        <p:txBody>
          <a:bodyPr>
            <a:normAutofit fontScale="90000"/>
          </a:bodyPr>
          <a:lstStyle/>
          <a:p>
            <a:pPr lvl="0"/>
            <a:r>
              <a:rPr lang="en-US" i="1" dirty="0"/>
              <a:t>Structured Query Language </a:t>
            </a:r>
            <a:r>
              <a:rPr lang="en-US" dirty="0"/>
              <a:t>(SQL)</a:t>
            </a:r>
            <a:br>
              <a:rPr lang="en-US" dirty="0"/>
            </a:b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BB4DB9-C548-B4B2-D486-8BF052472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2" y="1055237"/>
            <a:ext cx="8127162" cy="405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5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593" y="321027"/>
            <a:ext cx="8116432" cy="507976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 err="1"/>
              <a:t>Pekerjaan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SQL</a:t>
            </a:r>
            <a:br>
              <a:rPr lang="en-US" dirty="0"/>
            </a:b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593" y="711308"/>
            <a:ext cx="7627545" cy="2679000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•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i="1" dirty="0"/>
              <a:t>query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data </a:t>
            </a:r>
          </a:p>
          <a:p>
            <a:pPr marL="139700" indent="0">
              <a:buNone/>
            </a:pPr>
            <a:r>
              <a:rPr lang="en-US" dirty="0"/>
              <a:t>• INSERT, UPDATE, DELETE baris data pada </a:t>
            </a:r>
            <a:r>
              <a:rPr lang="en-US" dirty="0" err="1"/>
              <a:t>tabel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• CREATE, REPLACE, ALTER and  DROP </a:t>
            </a:r>
            <a:r>
              <a:rPr lang="en-US" dirty="0" err="1"/>
              <a:t>objek</a:t>
            </a:r>
            <a:r>
              <a:rPr lang="en-US" dirty="0"/>
              <a:t> pada basis data</a:t>
            </a:r>
          </a:p>
          <a:p>
            <a:pPr marL="139700" indent="0">
              <a:buNone/>
            </a:pPr>
            <a:r>
              <a:rPr lang="en-US" dirty="0"/>
              <a:t>• </a:t>
            </a:r>
            <a:r>
              <a:rPr lang="en-US" dirty="0" err="1"/>
              <a:t>Mengendalikan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basis data dan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didalamnya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• </a:t>
            </a:r>
            <a:r>
              <a:rPr lang="en-US" dirty="0" err="1"/>
              <a:t>Menjaga</a:t>
            </a:r>
            <a:r>
              <a:rPr lang="en-US" dirty="0"/>
              <a:t> </a:t>
            </a:r>
            <a:r>
              <a:rPr lang="en-US" dirty="0" err="1"/>
              <a:t>kosistensi</a:t>
            </a:r>
            <a:r>
              <a:rPr lang="en-US" dirty="0"/>
              <a:t> dan </a:t>
            </a:r>
            <a:r>
              <a:rPr lang="en-US" dirty="0" err="1"/>
              <a:t>integritas</a:t>
            </a:r>
            <a:r>
              <a:rPr lang="en-US" dirty="0"/>
              <a:t> basis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lowchart: Magnetic Disk 4"/>
          <p:cNvSpPr/>
          <p:nvPr/>
        </p:nvSpPr>
        <p:spPr>
          <a:xfrm>
            <a:off x="6320193" y="2924269"/>
            <a:ext cx="1385180" cy="17124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/>
          <p:cNvSpPr/>
          <p:nvPr/>
        </p:nvSpPr>
        <p:spPr>
          <a:xfrm>
            <a:off x="1317575" y="3064383"/>
            <a:ext cx="3920150" cy="44362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dirty="0">
                <a:solidFill>
                  <a:schemeClr val="tx1"/>
                </a:solidFill>
                <a:latin typeface="Barlow Light" panose="00000400000000000000" pitchFamily="2" charset="0"/>
              </a:rPr>
              <a:t>SELECT </a:t>
            </a:r>
            <a:r>
              <a:rPr lang="en-ID" dirty="0" err="1">
                <a:solidFill>
                  <a:schemeClr val="tx1"/>
                </a:solidFill>
                <a:latin typeface="Barlow Light" panose="00000400000000000000" pitchFamily="2" charset="0"/>
              </a:rPr>
              <a:t>department_name</a:t>
            </a:r>
            <a:r>
              <a:rPr lang="en-ID" dirty="0">
                <a:solidFill>
                  <a:schemeClr val="tx1"/>
                </a:solidFill>
                <a:latin typeface="Barlow Light" panose="00000400000000000000" pitchFamily="2" charset="0"/>
              </a:rPr>
              <a:t> FROM   departments;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261545" y="3272612"/>
            <a:ext cx="976293" cy="13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503691" y="3885312"/>
            <a:ext cx="2816502" cy="34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722" y="3548959"/>
            <a:ext cx="1108610" cy="145751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3528" y="3806552"/>
            <a:ext cx="869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RDBMS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Server</a:t>
            </a:r>
            <a:endParaRPr lang="en-ID">
              <a:solidFill>
                <a:schemeClr val="bg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91FE5C8-286D-476E-AE9B-625B603F68A0}"/>
              </a:ext>
            </a:extLst>
          </p:cNvPr>
          <p:cNvSpPr/>
          <p:nvPr/>
        </p:nvSpPr>
        <p:spPr>
          <a:xfrm rot="10800000">
            <a:off x="3884936" y="675261"/>
            <a:ext cx="1313503" cy="5120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1E0F19-FD07-4AC7-AFEB-F7272A82F9C9}"/>
              </a:ext>
            </a:extLst>
          </p:cNvPr>
          <p:cNvSpPr/>
          <p:nvPr/>
        </p:nvSpPr>
        <p:spPr>
          <a:xfrm>
            <a:off x="1317575" y="3064383"/>
            <a:ext cx="763822" cy="443620"/>
          </a:xfrm>
          <a:prstGeom prst="ellipse">
            <a:avLst/>
          </a:prstGeom>
          <a:noFill/>
          <a:ln>
            <a:solidFill>
              <a:srgbClr val="007BB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668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05600"/>
            <a:ext cx="8191825" cy="1082700"/>
          </a:xfrm>
        </p:spPr>
        <p:txBody>
          <a:bodyPr/>
          <a:lstStyle/>
          <a:p>
            <a:r>
              <a:rPr lang="en-US" dirty="0" err="1"/>
              <a:t>Pekerjaan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SQL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324EC-1030-0D14-FD8A-7C43DBB24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585" y="1220356"/>
            <a:ext cx="4836829" cy="368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6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05600"/>
            <a:ext cx="8191825" cy="1082700"/>
          </a:xfrm>
        </p:spPr>
        <p:txBody>
          <a:bodyPr/>
          <a:lstStyle/>
          <a:p>
            <a:r>
              <a:rPr lang="en-US"/>
              <a:t>SQL statement 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198" y="1109790"/>
            <a:ext cx="7879081" cy="3683189"/>
          </a:xfrm>
        </p:spPr>
        <p:txBody>
          <a:bodyPr/>
          <a:lstStyle/>
          <a:p>
            <a:endParaRPr lang="en-ID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7" y="1068704"/>
            <a:ext cx="776287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87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F416C2-8B0C-4926-9C1D-9A37B7B57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2031025"/>
            <a:ext cx="6570726" cy="1159800"/>
          </a:xfrm>
        </p:spPr>
        <p:txBody>
          <a:bodyPr/>
          <a:lstStyle/>
          <a:p>
            <a:r>
              <a:rPr lang="en-AU"/>
              <a:t>Database and Database System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885E97E-5AFA-02D9-7794-4E4B8CD1DA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3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1340EFE4-C46B-4098-9931-DEC33B0FA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2" y="1141240"/>
            <a:ext cx="8048968" cy="23821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48D9E5-8E2E-4A36-B8D8-675D325E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err="1"/>
              <a:t>Apa</a:t>
            </a:r>
            <a:r>
              <a:rPr lang="en-AU"/>
              <a:t> </a:t>
            </a:r>
            <a:r>
              <a:rPr lang="en-AU" err="1"/>
              <a:t>itu</a:t>
            </a:r>
            <a:r>
              <a:rPr lang="en-AU"/>
              <a:t> database?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545D8A43-283F-4B25-AF39-711F70982450}"/>
              </a:ext>
            </a:extLst>
          </p:cNvPr>
          <p:cNvSpPr/>
          <p:nvPr/>
        </p:nvSpPr>
        <p:spPr>
          <a:xfrm>
            <a:off x="933450" y="3444904"/>
            <a:ext cx="3089910" cy="1625713"/>
          </a:xfrm>
          <a:prstGeom prst="cloudCallout">
            <a:avLst>
              <a:gd name="adj1" fmla="val -32066"/>
              <a:gd name="adj2" fmla="val -762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r>
              <a:rPr lang="en-AU" sz="2100" dirty="0" err="1"/>
              <a:t>Bagaimana</a:t>
            </a:r>
            <a:r>
              <a:rPr lang="en-AU" sz="2100" dirty="0"/>
              <a:t> </a:t>
            </a:r>
            <a:r>
              <a:rPr lang="en-AU" sz="2100" dirty="0" err="1"/>
              <a:t>kita</a:t>
            </a:r>
            <a:r>
              <a:rPr lang="en-AU" sz="2100" dirty="0"/>
              <a:t> </a:t>
            </a:r>
            <a:r>
              <a:rPr lang="en-AU" sz="2100" dirty="0" err="1"/>
              <a:t>membuat</a:t>
            </a:r>
            <a:r>
              <a:rPr lang="en-AU" sz="2100" dirty="0"/>
              <a:t> data </a:t>
            </a:r>
            <a:r>
              <a:rPr lang="en-AU" sz="2100" dirty="0" err="1"/>
              <a:t>kita</a:t>
            </a:r>
            <a:r>
              <a:rPr lang="en-AU" sz="2100" dirty="0"/>
              <a:t> </a:t>
            </a:r>
            <a:r>
              <a:rPr lang="en-AU" sz="2100" dirty="0" err="1"/>
              <a:t>terstruktur</a:t>
            </a:r>
            <a:r>
              <a:rPr lang="en-AU" sz="2100" dirty="0"/>
              <a:t>?</a:t>
            </a: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424FB75E-B01A-4422-A07B-EC1468E8C516}"/>
              </a:ext>
            </a:extLst>
          </p:cNvPr>
          <p:cNvSpPr/>
          <p:nvPr/>
        </p:nvSpPr>
        <p:spPr>
          <a:xfrm>
            <a:off x="5806442" y="3444903"/>
            <a:ext cx="3089910" cy="1625713"/>
          </a:xfrm>
          <a:prstGeom prst="cloudCallout">
            <a:avLst>
              <a:gd name="adj1" fmla="val -17331"/>
              <a:gd name="adj2" fmla="val -87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27000" rIns="27000" bIns="27000" rtlCol="0" anchor="ctr"/>
          <a:lstStyle/>
          <a:p>
            <a:pPr algn="ctr"/>
            <a:r>
              <a:rPr lang="en-AU" sz="1650" err="1"/>
              <a:t>Bagaimana</a:t>
            </a:r>
            <a:r>
              <a:rPr lang="en-AU" sz="1650"/>
              <a:t> </a:t>
            </a:r>
            <a:r>
              <a:rPr lang="en-AU" sz="1650" err="1"/>
              <a:t>kita</a:t>
            </a:r>
            <a:r>
              <a:rPr lang="en-AU" sz="1650"/>
              <a:t> </a:t>
            </a:r>
            <a:r>
              <a:rPr lang="en-AU" sz="1650" err="1"/>
              <a:t>mengambil</a:t>
            </a:r>
            <a:r>
              <a:rPr lang="en-AU" sz="1650"/>
              <a:t> </a:t>
            </a:r>
            <a:r>
              <a:rPr lang="en-AU" sz="1650" err="1"/>
              <a:t>informasi</a:t>
            </a:r>
            <a:r>
              <a:rPr lang="en-AU" sz="1650"/>
              <a:t> </a:t>
            </a:r>
            <a:r>
              <a:rPr lang="en-AU" sz="1650" err="1"/>
              <a:t>tanpa</a:t>
            </a:r>
            <a:r>
              <a:rPr lang="en-AU" sz="1650"/>
              <a:t> </a:t>
            </a:r>
            <a:r>
              <a:rPr lang="en-AU" sz="1650" err="1"/>
              <a:t>harus</a:t>
            </a:r>
            <a:r>
              <a:rPr lang="en-AU" sz="1650"/>
              <a:t> </a:t>
            </a:r>
            <a:r>
              <a:rPr lang="en-AU" sz="1650" err="1"/>
              <a:t>merubah</a:t>
            </a:r>
            <a:r>
              <a:rPr lang="en-AU" sz="1650"/>
              <a:t> </a:t>
            </a:r>
            <a:r>
              <a:rPr lang="en-AU" sz="1650" err="1"/>
              <a:t>struktur</a:t>
            </a:r>
            <a:r>
              <a:rPr lang="en-AU" sz="1650"/>
              <a:t> data?</a:t>
            </a: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43D0951E-F8E0-48BE-B957-61B94A3DCBC5}"/>
              </a:ext>
            </a:extLst>
          </p:cNvPr>
          <p:cNvSpPr/>
          <p:nvPr/>
        </p:nvSpPr>
        <p:spPr>
          <a:xfrm>
            <a:off x="4067176" y="3905910"/>
            <a:ext cx="1695450" cy="969790"/>
          </a:xfrm>
          <a:prstGeom prst="leftRightArrow">
            <a:avLst>
              <a:gd name="adj1" fmla="val 50000"/>
              <a:gd name="adj2" fmla="val 372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100"/>
              <a:t>DBMS</a:t>
            </a:r>
            <a:endParaRPr lang="en-AU" sz="1050"/>
          </a:p>
        </p:txBody>
      </p:sp>
    </p:spTree>
    <p:extLst>
      <p:ext uri="{BB962C8B-B14F-4D97-AF65-F5344CB8AC3E}">
        <p14:creationId xmlns:p14="http://schemas.microsoft.com/office/powerpoint/2010/main" val="287184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505A4A-9362-4615-8A29-131D9FCD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37" y="350227"/>
            <a:ext cx="5640900" cy="382941"/>
          </a:xfrm>
        </p:spPr>
        <p:txBody>
          <a:bodyPr/>
          <a:lstStyle/>
          <a:p>
            <a:r>
              <a:rPr lang="en-US" sz="4800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Relational Database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7614B-B85A-4132-AE36-B3764D838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502" y="1688300"/>
            <a:ext cx="8554995" cy="2640900"/>
          </a:xfrm>
        </p:spPr>
        <p:txBody>
          <a:bodyPr/>
          <a:lstStyle/>
          <a:p>
            <a:pPr marL="114300" indent="0" algn="l">
              <a:buNone/>
            </a:pPr>
            <a:r>
              <a:rPr lang="en-US" sz="1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US" sz="1200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relational database</a:t>
            </a:r>
            <a:r>
              <a:rPr lang="en-US" sz="1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 digital </a:t>
            </a:r>
            <a:r>
              <a:rPr lang="en-US" sz="1200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Database"/>
              </a:rPr>
              <a:t>database</a:t>
            </a:r>
            <a:r>
              <a:rPr lang="en-US" sz="1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based on the </a:t>
            </a:r>
            <a:r>
              <a:rPr lang="en-US" sz="1200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 tooltip="Relational model"/>
              </a:rPr>
              <a:t>relational model</a:t>
            </a:r>
            <a:r>
              <a:rPr lang="en-US" sz="1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of data, as proposed by </a:t>
            </a:r>
            <a:r>
              <a:rPr lang="en-US" sz="1200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E. F. Codd"/>
              </a:rPr>
              <a:t>E. F. Codd</a:t>
            </a:r>
            <a:r>
              <a:rPr lang="en-US" sz="1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 1970.</a:t>
            </a:r>
            <a:r>
              <a:rPr lang="en-US" sz="1200" b="0" i="0" u="none" strike="noStrike" baseline="3000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6"/>
              </a:rPr>
              <a:t>[1]</a:t>
            </a:r>
            <a:r>
              <a:rPr lang="en-US" sz="1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 software system used to maintain relational databases is a </a:t>
            </a:r>
            <a:r>
              <a:rPr lang="en-US" sz="1200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7" tooltip="Relational database management system"/>
              </a:rPr>
              <a:t>relational database management system</a:t>
            </a:r>
            <a:r>
              <a:rPr lang="en-US" sz="1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(RDBMS). Many relational database systems have an option of using the </a:t>
            </a:r>
            <a:r>
              <a:rPr lang="en-US" sz="1200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8"/>
              </a:rPr>
              <a:t>SQL</a:t>
            </a:r>
            <a:r>
              <a:rPr lang="en-US" sz="1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(Structured Query Language) for querying and maintaining the database.</a:t>
            </a:r>
            <a:r>
              <a:rPr lang="en-US" sz="1200" b="0" i="0" u="none" strike="noStrike" baseline="3000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9"/>
              </a:rPr>
              <a:t>[2]</a:t>
            </a:r>
            <a:endParaRPr lang="en-US" sz="1200" b="0" i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br>
              <a:rPr lang="en-US" sz="1200"/>
            </a:br>
            <a:endParaRPr lang="en-US" sz="12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7B79FB-28AF-482A-9B18-C0DF5E8A9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45" y="3157344"/>
            <a:ext cx="2767002" cy="129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92B530-B1CE-4BEE-B6B1-6844C6A242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644" y="3200663"/>
            <a:ext cx="5502059" cy="1155658"/>
          </a:xfrm>
          <a:prstGeom prst="rect">
            <a:avLst/>
          </a:prstGeom>
        </p:spPr>
      </p:pic>
      <p:sp>
        <p:nvSpPr>
          <p:cNvPr id="9" name="Google Shape;436;p10">
            <a:extLst>
              <a:ext uri="{FF2B5EF4-FFF2-40B4-BE49-F238E27FC236}">
                <a16:creationId xmlns:a16="http://schemas.microsoft.com/office/drawing/2014/main" id="{6CBD1B7D-9180-4CDE-B547-AA4A0CBC4CBE}"/>
              </a:ext>
            </a:extLst>
          </p:cNvPr>
          <p:cNvSpPr txBox="1">
            <a:spLocks/>
          </p:cNvSpPr>
          <p:nvPr/>
        </p:nvSpPr>
        <p:spPr>
          <a:xfrm>
            <a:off x="294502" y="2903356"/>
            <a:ext cx="5640900" cy="507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pPr>
              <a:buSzPct val="197530"/>
            </a:pPr>
            <a:r>
              <a:rPr lang="en-US" sz="1800" b="1"/>
              <a:t>Terminology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63196-62B2-4C9E-8436-88FC20DE14BC}"/>
              </a:ext>
            </a:extLst>
          </p:cNvPr>
          <p:cNvSpPr txBox="1"/>
          <p:nvPr/>
        </p:nvSpPr>
        <p:spPr>
          <a:xfrm>
            <a:off x="0" y="4835723"/>
            <a:ext cx="45761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https://en.wikipedia.org/wiki/Relational_database</a:t>
            </a:r>
          </a:p>
        </p:txBody>
      </p:sp>
    </p:spTree>
    <p:extLst>
      <p:ext uri="{BB962C8B-B14F-4D97-AF65-F5344CB8AC3E}">
        <p14:creationId xmlns:p14="http://schemas.microsoft.com/office/powerpoint/2010/main" val="2429783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2661-47F4-4BF2-BF3F-8F603E14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5600"/>
            <a:ext cx="8238226" cy="1082700"/>
          </a:xfrm>
        </p:spPr>
        <p:txBody>
          <a:bodyPr/>
          <a:lstStyle/>
          <a:p>
            <a:r>
              <a:rPr lang="en-AU" err="1"/>
              <a:t>Manfaat</a:t>
            </a:r>
            <a:r>
              <a:rPr lang="en-AU"/>
              <a:t> </a:t>
            </a:r>
            <a:r>
              <a:rPr lang="en-AU" err="1"/>
              <a:t>Penggunaan</a:t>
            </a:r>
            <a:r>
              <a:rPr lang="en-AU"/>
              <a:t> Database Relational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C2F71B-F0AD-4D07-89BB-025E1C48C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033400"/>
              </p:ext>
            </p:extLst>
          </p:nvPr>
        </p:nvGraphicFramePr>
        <p:xfrm>
          <a:off x="448574" y="1076043"/>
          <a:ext cx="8058150" cy="3694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3169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 txBox="1">
            <a:spLocks noGrp="1"/>
          </p:cNvSpPr>
          <p:nvPr>
            <p:ph type="ctrTitle"/>
          </p:nvPr>
        </p:nvSpPr>
        <p:spPr>
          <a:xfrm>
            <a:off x="946960" y="187349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Pemeriksaan</a:t>
            </a:r>
            <a:endParaRPr dirty="0"/>
          </a:p>
        </p:txBody>
      </p:sp>
      <p:sp>
        <p:nvSpPr>
          <p:cNvPr id="406" name="Google Shape;406;p15"/>
          <p:cNvSpPr txBox="1">
            <a:spLocks noGrp="1"/>
          </p:cNvSpPr>
          <p:nvPr>
            <p:ph type="subTitle" idx="1"/>
          </p:nvPr>
        </p:nvSpPr>
        <p:spPr>
          <a:xfrm>
            <a:off x="932724" y="2973725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Sebagai RDBMS Client Tools</a:t>
            </a:r>
            <a:endParaRPr/>
          </a:p>
        </p:txBody>
      </p:sp>
      <p:grpSp>
        <p:nvGrpSpPr>
          <p:cNvPr id="408" name="Google Shape;408;p15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09" name="Google Shape;409;p15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0" name="Google Shape;430;p15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31" name="Google Shape;431;p15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5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5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5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5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5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5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5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5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" name="Google Shape;471;p15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" name="Google Shape;500;p15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01" name="Google Shape;501;p15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5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5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4429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05600"/>
            <a:ext cx="8191825" cy="461267"/>
          </a:xfrm>
        </p:spPr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skema</a:t>
            </a:r>
            <a:r>
              <a:rPr lang="en-US" dirty="0"/>
              <a:t> </a:t>
            </a:r>
            <a:r>
              <a:rPr lang="en-US" dirty="0" err="1"/>
              <a:t>pemeriksaan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SQL?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483" y="1172327"/>
            <a:ext cx="8053057" cy="3606119"/>
          </a:xfrm>
        </p:spPr>
        <p:txBody>
          <a:bodyPr/>
          <a:lstStyle/>
          <a:p>
            <a:r>
              <a:rPr lang="en-US" sz="1600" dirty="0" err="1"/>
              <a:t>Pemeriksa</a:t>
            </a:r>
            <a:r>
              <a:rPr lang="en-US" sz="1600" dirty="0"/>
              <a:t> </a:t>
            </a:r>
            <a:r>
              <a:rPr lang="en-US" sz="1600" dirty="0" err="1"/>
              <a:t>mengakses</a:t>
            </a:r>
            <a:r>
              <a:rPr lang="en-US" sz="1600" dirty="0"/>
              <a:t> </a:t>
            </a:r>
            <a:r>
              <a:rPr lang="en-US" sz="1600" dirty="0" err="1"/>
              <a:t>langsung</a:t>
            </a:r>
            <a:r>
              <a:rPr lang="en-US" sz="1600" dirty="0"/>
              <a:t> </a:t>
            </a:r>
            <a:r>
              <a:rPr lang="en-US" sz="1600" b="1" dirty="0"/>
              <a:t>basis data </a:t>
            </a:r>
            <a:r>
              <a:rPr lang="en-US" sz="1600" b="1" dirty="0" err="1"/>
              <a:t>lingkungan</a:t>
            </a:r>
            <a:r>
              <a:rPr lang="en-US" sz="1600" b="1" dirty="0"/>
              <a:t> </a:t>
            </a:r>
            <a:r>
              <a:rPr lang="en-US" sz="1600" b="1" dirty="0" err="1"/>
              <a:t>pengembangan</a:t>
            </a:r>
            <a:r>
              <a:rPr lang="en-US" sz="1600" b="1" dirty="0"/>
              <a:t>/</a:t>
            </a:r>
            <a:r>
              <a:rPr lang="en-US" sz="1600" b="1" i="1" dirty="0"/>
              <a:t>staging</a:t>
            </a:r>
            <a:r>
              <a:rPr lang="en-US" sz="1600" b="1" dirty="0"/>
              <a:t>/data </a:t>
            </a:r>
            <a:r>
              <a:rPr lang="en-US" sz="1600" b="1" i="1" dirty="0"/>
              <a:t>warehouse</a:t>
            </a:r>
            <a:r>
              <a:rPr lang="en-US" sz="1600" b="1" dirty="0"/>
              <a:t> </a:t>
            </a:r>
            <a:r>
              <a:rPr lang="en-US" sz="1600" dirty="0" err="1"/>
              <a:t>menggunakan</a:t>
            </a:r>
            <a:r>
              <a:rPr lang="en-ID" sz="1600" dirty="0"/>
              <a:t> RDBMS client</a:t>
            </a:r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6" name="Picture 2" descr="Program Icon | Systematrix Iconset | Royalflushxx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" t="13888" r="1677" b="12849"/>
          <a:stretch/>
        </p:blipFill>
        <p:spPr bwMode="auto">
          <a:xfrm>
            <a:off x="7181695" y="4103130"/>
            <a:ext cx="931964" cy="75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789933" y="4913913"/>
            <a:ext cx="3696229" cy="1901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aplikasi</a:t>
            </a:r>
            <a:r>
              <a:rPr lang="en-US" sz="1000" b="1" dirty="0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 </a:t>
            </a:r>
            <a:r>
              <a:rPr lang="en-US" sz="1000" b="1" dirty="0" err="1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objek</a:t>
            </a:r>
            <a:r>
              <a:rPr lang="en-US" sz="1000" b="1" dirty="0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 </a:t>
            </a:r>
            <a:r>
              <a:rPr lang="en-US" sz="1000" b="1" dirty="0" err="1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pemeriksaan</a:t>
            </a:r>
            <a:r>
              <a:rPr lang="en-US" sz="1000" b="1" dirty="0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 </a:t>
            </a:r>
            <a:r>
              <a:rPr lang="en-US" sz="1000" b="1" dirty="0" err="1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lingkungan</a:t>
            </a:r>
            <a:r>
              <a:rPr lang="en-US" sz="1000" b="1" dirty="0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 </a:t>
            </a:r>
            <a:r>
              <a:rPr lang="en-US" sz="1000" b="1" dirty="0" err="1">
                <a:solidFill>
                  <a:schemeClr val="tx1">
                    <a:lumMod val="50000"/>
                  </a:schemeClr>
                </a:solidFill>
                <a:latin typeface="Barlow Light" panose="00000400000000000000" pitchFamily="2" charset="0"/>
              </a:rPr>
              <a:t>pengembangan</a:t>
            </a:r>
            <a:endParaRPr lang="en-ID" sz="1000" b="1" dirty="0">
              <a:solidFill>
                <a:schemeClr val="tx1">
                  <a:lumMod val="50000"/>
                </a:schemeClr>
              </a:solidFill>
              <a:latin typeface="Barlow Light" panose="000004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65270" y="2229650"/>
            <a:ext cx="1820172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D">
                <a:solidFill>
                  <a:schemeClr val="tx1"/>
                </a:solidFill>
                <a:latin typeface="Barlow Light" panose="00000400000000000000" pitchFamily="2" charset="0"/>
              </a:rPr>
              <a:t>SELECT department_name FROM   departments;</a:t>
            </a:r>
          </a:p>
        </p:txBody>
      </p:sp>
      <p:sp>
        <p:nvSpPr>
          <p:cNvPr id="10" name="Flowchart: Magnetic Disk 9"/>
          <p:cNvSpPr/>
          <p:nvPr/>
        </p:nvSpPr>
        <p:spPr>
          <a:xfrm>
            <a:off x="6935829" y="2183132"/>
            <a:ext cx="1385180" cy="173144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/>
          <p:cNvSpPr txBox="1"/>
          <p:nvPr/>
        </p:nvSpPr>
        <p:spPr>
          <a:xfrm>
            <a:off x="7013454" y="2814842"/>
            <a:ext cx="12355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Barlow Light" panose="00000400000000000000" pitchFamily="2" charset="0"/>
              </a:rPr>
              <a:t>RDBMS</a:t>
            </a:r>
          </a:p>
          <a:p>
            <a:pPr algn="ctr"/>
            <a:r>
              <a:rPr lang="en-US" sz="1200">
                <a:solidFill>
                  <a:schemeClr val="bg1"/>
                </a:solidFill>
                <a:latin typeface="Barlow Light" panose="00000400000000000000" pitchFamily="2" charset="0"/>
              </a:rPr>
              <a:t>Server lingkungan pengembangan/staging</a:t>
            </a:r>
            <a:endParaRPr lang="en-ID" sz="1200">
              <a:solidFill>
                <a:schemeClr val="bg1"/>
              </a:solidFill>
              <a:latin typeface="Barlow Light" panose="000004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99905" y="3537995"/>
            <a:ext cx="1283329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D">
                <a:solidFill>
                  <a:schemeClr val="tx1"/>
                </a:solidFill>
                <a:latin typeface="Barlow Light" panose="00000400000000000000" pitchFamily="2" charset="0"/>
              </a:rPr>
              <a:t>Hasil Query</a:t>
            </a:r>
          </a:p>
        </p:txBody>
      </p:sp>
      <p:sp>
        <p:nvSpPr>
          <p:cNvPr id="13" name="Google Shape;4541;p39"/>
          <p:cNvSpPr/>
          <p:nvPr/>
        </p:nvSpPr>
        <p:spPr>
          <a:xfrm>
            <a:off x="482483" y="2563929"/>
            <a:ext cx="1078107" cy="1136630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9989" y="3797526"/>
            <a:ext cx="1119550" cy="142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Barlow Light" panose="00000400000000000000" pitchFamily="2" charset="0"/>
              </a:rPr>
              <a:t>Pemeriksa</a:t>
            </a:r>
            <a:endParaRPr lang="en-ID" b="1" dirty="0">
              <a:solidFill>
                <a:schemeClr val="tx1"/>
              </a:solidFill>
              <a:latin typeface="Barlow Light" panose="00000400000000000000" pitchFamily="2" charset="0"/>
            </a:endParaRPr>
          </a:p>
        </p:txBody>
      </p:sp>
      <p:cxnSp>
        <p:nvCxnSpPr>
          <p:cNvPr id="17" name="Straight Arrow Connector 16"/>
          <p:cNvCxnSpPr>
            <a:endCxn id="7" idx="1"/>
          </p:cNvCxnSpPr>
          <p:nvPr/>
        </p:nvCxnSpPr>
        <p:spPr>
          <a:xfrm flipV="1">
            <a:off x="3969557" y="2598982"/>
            <a:ext cx="595713" cy="13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3"/>
          </p:cNvCxnSpPr>
          <p:nvPr/>
        </p:nvCxnSpPr>
        <p:spPr>
          <a:xfrm>
            <a:off x="6385442" y="2598982"/>
            <a:ext cx="55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2" idx="3"/>
          </p:cNvCxnSpPr>
          <p:nvPr/>
        </p:nvCxnSpPr>
        <p:spPr>
          <a:xfrm flipH="1">
            <a:off x="6083234" y="3691883"/>
            <a:ext cx="8525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1"/>
          </p:cNvCxnSpPr>
          <p:nvPr/>
        </p:nvCxnSpPr>
        <p:spPr>
          <a:xfrm flipH="1" flipV="1">
            <a:off x="3969557" y="3691883"/>
            <a:ext cx="8303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ile:Application-default-icon.svg - Wikimedia Comm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946" y="2313087"/>
            <a:ext cx="1618229" cy="161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415" y="2845102"/>
            <a:ext cx="722506" cy="722506"/>
          </a:xfrm>
          <a:prstGeom prst="rect">
            <a:avLst/>
          </a:prstGeom>
        </p:spPr>
      </p:pic>
      <p:cxnSp>
        <p:nvCxnSpPr>
          <p:cNvPr id="30" name="Straight Arrow Connector 29"/>
          <p:cNvCxnSpPr/>
          <p:nvPr/>
        </p:nvCxnSpPr>
        <p:spPr>
          <a:xfrm flipV="1">
            <a:off x="1364416" y="2831690"/>
            <a:ext cx="1186139" cy="13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1585874" y="3534509"/>
            <a:ext cx="977553" cy="3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364416" y="2503820"/>
            <a:ext cx="1247296" cy="2862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  <a:latin typeface="Barlow Light" panose="00000400000000000000" pitchFamily="2" charset="0"/>
              </a:rPr>
              <a:t>Mengembangkan</a:t>
            </a:r>
            <a:r>
              <a:rPr lang="en-US" sz="900" dirty="0">
                <a:solidFill>
                  <a:schemeClr val="tx1"/>
                </a:solidFill>
                <a:latin typeface="Barlow Light" panose="00000400000000000000" pitchFamily="2" charset="0"/>
              </a:rPr>
              <a:t> 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Barlow Light" panose="00000400000000000000" pitchFamily="2" charset="0"/>
              </a:rPr>
              <a:t>query </a:t>
            </a:r>
            <a:endParaRPr lang="en-ID" sz="900" i="1" dirty="0">
              <a:solidFill>
                <a:schemeClr val="tx1"/>
              </a:solidFill>
              <a:latin typeface="Barlow Light" panose="00000400000000000000" pitchFamily="2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456949" y="3665132"/>
            <a:ext cx="1247296" cy="2862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Barlow Light" panose="00000400000000000000" pitchFamily="2" charset="0"/>
              </a:rPr>
              <a:t>Tampilkan/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Barlow Light" panose="00000400000000000000" pitchFamily="2" charset="0"/>
              </a:rPr>
              <a:t>ekspor hasil pengujian</a:t>
            </a:r>
            <a:endParaRPr lang="en-ID" sz="900">
              <a:solidFill>
                <a:schemeClr val="tx1"/>
              </a:solidFill>
              <a:latin typeface="Barlow Light" panose="00000400000000000000" pitchFamily="2" charset="0"/>
            </a:endParaRPr>
          </a:p>
        </p:txBody>
      </p:sp>
      <p:cxnSp>
        <p:nvCxnSpPr>
          <p:cNvPr id="37" name="Straight Arrow Connector 36"/>
          <p:cNvCxnSpPr>
            <a:stCxn id="10" idx="3"/>
            <a:endCxn id="1026" idx="0"/>
          </p:cNvCxnSpPr>
          <p:nvPr/>
        </p:nvCxnSpPr>
        <p:spPr>
          <a:xfrm>
            <a:off x="7628419" y="3914573"/>
            <a:ext cx="19258" cy="1885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735908" y="3851064"/>
            <a:ext cx="1119550" cy="142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Barlow Light" panose="00000400000000000000" pitchFamily="2" charset="0"/>
              </a:rPr>
              <a:t>SQL Client</a:t>
            </a:r>
            <a:endParaRPr lang="en-ID" b="1">
              <a:solidFill>
                <a:schemeClr val="tx1"/>
              </a:solidFill>
              <a:latin typeface="Barlow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779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19" y="323660"/>
            <a:ext cx="8191825" cy="461267"/>
          </a:xfrm>
        </p:spPr>
        <p:txBody>
          <a:bodyPr/>
          <a:lstStyle/>
          <a:p>
            <a:r>
              <a:rPr lang="en-US" dirty="0"/>
              <a:t>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Diperhatikan</a:t>
            </a:r>
            <a:r>
              <a:rPr lang="en-US" dirty="0"/>
              <a:t> </a:t>
            </a:r>
            <a:r>
              <a:rPr lang="en-US" dirty="0" err="1"/>
              <a:t>Pemeriksa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19" y="689867"/>
            <a:ext cx="8010755" cy="4129973"/>
          </a:xfrm>
        </p:spPr>
        <p:txBody>
          <a:bodyPr/>
          <a:lstStyle/>
          <a:p>
            <a:r>
              <a:rPr lang="en-US" sz="1600" dirty="0" err="1"/>
              <a:t>Mendapatkan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:</a:t>
            </a:r>
          </a:p>
          <a:p>
            <a:pPr lvl="1"/>
            <a:r>
              <a:rPr lang="en-US" sz="1600" dirty="0" err="1"/>
              <a:t>Jenis</a:t>
            </a:r>
            <a:r>
              <a:rPr lang="en-US" sz="1600" dirty="0"/>
              <a:t> RDBMS </a:t>
            </a:r>
            <a:r>
              <a:rPr lang="en-US" sz="1600" dirty="0" err="1"/>
              <a:t>aplikasi</a:t>
            </a:r>
            <a:r>
              <a:rPr lang="en-US" sz="1600" dirty="0"/>
              <a:t> &gt; </a:t>
            </a:r>
            <a:r>
              <a:rPr lang="en-US" sz="1600" dirty="0" err="1"/>
              <a:t>mempengaruhi</a:t>
            </a:r>
            <a:r>
              <a:rPr lang="en-US" sz="1600" dirty="0"/>
              <a:t> RDBMS client yang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endParaRPr lang="en-US" sz="1600" dirty="0"/>
          </a:p>
          <a:p>
            <a:pPr lvl="1"/>
            <a:r>
              <a:rPr lang="en-US" sz="1600" dirty="0"/>
              <a:t>IP address server </a:t>
            </a:r>
            <a:r>
              <a:rPr lang="en-US" sz="1600" dirty="0" err="1"/>
              <a:t>lingkungan</a:t>
            </a:r>
            <a:r>
              <a:rPr lang="en-US" sz="1600" dirty="0"/>
              <a:t> </a:t>
            </a:r>
            <a:r>
              <a:rPr lang="en-US" sz="1600" dirty="0" err="1"/>
              <a:t>pengembangan</a:t>
            </a:r>
            <a:r>
              <a:rPr lang="en-US" sz="1600" dirty="0"/>
              <a:t>/staging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mengembangkan</a:t>
            </a:r>
            <a:r>
              <a:rPr lang="en-US" sz="1600" dirty="0"/>
              <a:t> query SQL </a:t>
            </a:r>
            <a:r>
              <a:rPr lang="en-US" sz="1600" dirty="0" err="1"/>
              <a:t>pengujian</a:t>
            </a:r>
            <a:endParaRPr lang="en-US" sz="1600" dirty="0"/>
          </a:p>
          <a:p>
            <a:pPr lvl="1"/>
            <a:r>
              <a:rPr lang="en-US" sz="1600" dirty="0"/>
              <a:t>User dan password yang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mengakses</a:t>
            </a:r>
            <a:endParaRPr lang="en-US" sz="1600" dirty="0"/>
          </a:p>
          <a:p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awal</a:t>
            </a:r>
            <a:r>
              <a:rPr lang="en-US" sz="1600" dirty="0"/>
              <a:t> </a:t>
            </a:r>
            <a:r>
              <a:rPr lang="en-US" sz="1600" dirty="0" err="1"/>
              <a:t>perbedaan</a:t>
            </a:r>
            <a:r>
              <a:rPr lang="en-US" sz="1600" dirty="0"/>
              <a:t> server </a:t>
            </a:r>
            <a:r>
              <a:rPr lang="en-US" sz="1600" dirty="0" err="1"/>
              <a:t>lingkungan</a:t>
            </a:r>
            <a:r>
              <a:rPr lang="en-US" sz="1600" dirty="0"/>
              <a:t> </a:t>
            </a:r>
            <a:r>
              <a:rPr lang="en-US" sz="1600" dirty="0" err="1"/>
              <a:t>pengembangan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lingkungan</a:t>
            </a:r>
            <a:r>
              <a:rPr lang="en-US" sz="1600" dirty="0"/>
              <a:t> live/production</a:t>
            </a:r>
          </a:p>
          <a:p>
            <a:r>
              <a:rPr lang="en-US" sz="1600" dirty="0"/>
              <a:t>Jika </a:t>
            </a:r>
            <a:r>
              <a:rPr lang="en-US" sz="1600" dirty="0" err="1"/>
              <a:t>pemeriksa</a:t>
            </a:r>
            <a:r>
              <a:rPr lang="en-US" sz="1600" dirty="0"/>
              <a:t> </a:t>
            </a:r>
            <a:r>
              <a:rPr lang="en-US" sz="1600" dirty="0" err="1"/>
              <a:t>langsung</a:t>
            </a:r>
            <a:r>
              <a:rPr lang="en-US" sz="1600" dirty="0"/>
              <a:t> </a:t>
            </a:r>
            <a:r>
              <a:rPr lang="en-US" sz="1600" dirty="0" err="1"/>
              <a:t>mengakses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basis data WP, </a:t>
            </a:r>
            <a:r>
              <a:rPr lang="en-US" sz="1600" dirty="0" err="1"/>
              <a:t>perlu</a:t>
            </a:r>
            <a:r>
              <a:rPr lang="en-US" sz="1600" dirty="0"/>
              <a:t> </a:t>
            </a:r>
            <a:r>
              <a:rPr lang="en-US" sz="1600" dirty="0" err="1"/>
              <a:t>dipertimbangkan</a:t>
            </a:r>
            <a:r>
              <a:rPr lang="en-US" sz="1600" dirty="0"/>
              <a:t>, </a:t>
            </a:r>
            <a:r>
              <a:rPr lang="en-US" sz="1600" dirty="0" err="1"/>
              <a:t>hal</a:t>
            </a:r>
            <a:r>
              <a:rPr lang="en-US" sz="1600" dirty="0"/>
              <a:t> </a:t>
            </a:r>
            <a:r>
              <a:rPr lang="en-US" sz="1600" dirty="0" err="1"/>
              <a:t>berikut</a:t>
            </a:r>
            <a:r>
              <a:rPr lang="en-US" sz="1600" dirty="0"/>
              <a:t>:</a:t>
            </a:r>
          </a:p>
          <a:p>
            <a:pPr lvl="1" indent="-317500">
              <a:buFont typeface="Arial" panose="020B0604020202020204" pitchFamily="34" charset="0"/>
              <a:buChar char="•"/>
            </a:pPr>
            <a:r>
              <a:rPr lang="en-US" sz="1600" dirty="0"/>
              <a:t>Waktu peak </a:t>
            </a:r>
            <a:r>
              <a:rPr lang="en-US" sz="1600" dirty="0" err="1"/>
              <a:t>transaksi</a:t>
            </a:r>
            <a:endParaRPr lang="en-US" sz="1600" dirty="0"/>
          </a:p>
          <a:p>
            <a:pPr lvl="1" indent="-317500">
              <a:buFont typeface="Arial" panose="020B0604020202020204" pitchFamily="34" charset="0"/>
              <a:buChar char="•"/>
            </a:pPr>
            <a:r>
              <a:rPr lang="en-US" sz="1600" dirty="0"/>
              <a:t>Query </a:t>
            </a:r>
            <a:r>
              <a:rPr lang="en-US" sz="1600" dirty="0" err="1"/>
              <a:t>direviu</a:t>
            </a:r>
            <a:r>
              <a:rPr lang="en-US" sz="1600" dirty="0"/>
              <a:t> </a:t>
            </a:r>
            <a:r>
              <a:rPr lang="en-US" sz="1600" dirty="0" err="1"/>
              <a:t>terlebih</a:t>
            </a:r>
            <a:r>
              <a:rPr lang="en-US" sz="1600" dirty="0"/>
              <a:t> </a:t>
            </a:r>
            <a:r>
              <a:rPr lang="en-US" sz="1600" dirty="0" err="1"/>
              <a:t>dahulu</a:t>
            </a:r>
            <a:r>
              <a:rPr lang="en-US" sz="1600" dirty="0"/>
              <a:t> oleh </a:t>
            </a:r>
            <a:r>
              <a:rPr lang="en-US" sz="1600" dirty="0" err="1"/>
              <a:t>auditi</a:t>
            </a:r>
            <a:endParaRPr lang="en-US" sz="1600" dirty="0"/>
          </a:p>
          <a:p>
            <a:pPr lvl="1" indent="-317500">
              <a:buFont typeface="Arial" panose="020B0604020202020204" pitchFamily="34" charset="0"/>
              <a:buChar char="•"/>
            </a:pPr>
            <a:r>
              <a:rPr lang="en-US" sz="1600" dirty="0" err="1"/>
              <a:t>Hanya</a:t>
            </a:r>
            <a:r>
              <a:rPr lang="en-US" sz="1600" dirty="0"/>
              <a:t> query </a:t>
            </a:r>
            <a:r>
              <a:rPr lang="en-US" sz="1600" dirty="0" err="1"/>
              <a:t>menggunakan</a:t>
            </a:r>
            <a:r>
              <a:rPr lang="en-US" sz="1600" dirty="0"/>
              <a:t> SELECT (read only)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endParaRPr lang="en-ID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41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05600"/>
            <a:ext cx="8191825" cy="1082700"/>
          </a:xfrm>
        </p:spPr>
        <p:txBody>
          <a:bodyPr/>
          <a:lstStyle/>
          <a:p>
            <a:r>
              <a:rPr lang="en-US"/>
              <a:t>RDBMS Client dan SQL Statement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6950"/>
            <a:ext cx="8053057" cy="3606119"/>
          </a:xfrm>
        </p:spPr>
        <p:txBody>
          <a:bodyPr/>
          <a:lstStyle/>
          <a:p>
            <a:r>
              <a:rPr lang="en-US"/>
              <a:t>Perlu dipastikan bahwa client tools yang digunakan kompatibel dengan RDMBS yang akan diakses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BF4B19-DD66-4DBF-857A-99DDE3621D38}"/>
              </a:ext>
            </a:extLst>
          </p:cNvPr>
          <p:cNvGrpSpPr/>
          <p:nvPr/>
        </p:nvGrpSpPr>
        <p:grpSpPr>
          <a:xfrm>
            <a:off x="198776" y="2353579"/>
            <a:ext cx="8569905" cy="1595387"/>
            <a:chOff x="198776" y="2353579"/>
            <a:chExt cx="8569905" cy="1595387"/>
          </a:xfrm>
        </p:grpSpPr>
        <p:sp>
          <p:nvSpPr>
            <p:cNvPr id="25" name="TextBox 24"/>
            <p:cNvSpPr txBox="1"/>
            <p:nvPr/>
          </p:nvSpPr>
          <p:spPr>
            <a:xfrm>
              <a:off x="7023204" y="3310200"/>
              <a:ext cx="1745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Barlow Light" panose="00000400000000000000" pitchFamily="2" charset="0"/>
                </a:rPr>
                <a:t>PgAdmin</a:t>
              </a:r>
              <a:endParaRPr lang="en-ID">
                <a:latin typeface="Barlow Light" panose="00000400000000000000" pitchFamily="2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8776" y="2645952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Barlow Light" panose="00000400000000000000" pitchFamily="2" charset="0"/>
                </a:rPr>
                <a:t>RDBMS</a:t>
              </a:r>
              <a:endParaRPr lang="en-ID">
                <a:latin typeface="Barlow Light" panose="00000400000000000000" pitchFamily="2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05898" y="3403257"/>
              <a:ext cx="91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Barlow Light" panose="00000400000000000000" pitchFamily="2" charset="0"/>
                </a:rPr>
                <a:t>Client</a:t>
              </a:r>
              <a:endParaRPr lang="en-ID">
                <a:latin typeface="Barlow Light" panose="00000400000000000000" pitchFamily="2" charset="0"/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 flipV="1">
              <a:off x="243840" y="3152297"/>
              <a:ext cx="8405184" cy="397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5CCE5C9-6A68-4DC3-BEB2-0E8F6D441126}"/>
                </a:ext>
              </a:extLst>
            </p:cNvPr>
            <p:cNvGrpSpPr/>
            <p:nvPr/>
          </p:nvGrpSpPr>
          <p:grpSpPr>
            <a:xfrm>
              <a:off x="1051560" y="2353579"/>
              <a:ext cx="7292838" cy="1595387"/>
              <a:chOff x="1051560" y="2353579"/>
              <a:chExt cx="7292838" cy="1595387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4478" y="2389937"/>
                <a:ext cx="1274445" cy="559289"/>
              </a:xfrm>
              <a:prstGeom prst="rect">
                <a:avLst/>
              </a:prstGeom>
            </p:spPr>
          </p:pic>
          <p:pic>
            <p:nvPicPr>
              <p:cNvPr id="2050" name="Picture 2" descr="Use &amp;quot;IS NULL&amp;quot; Rather Than &amp;quot;= NULL&amp;quot; When Upgrading to Newer Versions of SQL  Server - Deep in the Code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73263" y="2473383"/>
                <a:ext cx="1597798" cy="4069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5401" y="2373918"/>
                <a:ext cx="1382349" cy="615314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22090" y="2353579"/>
                <a:ext cx="1422308" cy="686320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1364478" y="3366030"/>
                <a:ext cx="152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arlow Light" panose="00000400000000000000" pitchFamily="2" charset="0"/>
                  </a:rPr>
                  <a:t>SQL Plus</a:t>
                </a:r>
              </a:p>
              <a:p>
                <a:r>
                  <a:rPr lang="en-US" dirty="0">
                    <a:latin typeface="Barlow Light" panose="00000400000000000000" pitchFamily="2" charset="0"/>
                  </a:rPr>
                  <a:t>SQL developer</a:t>
                </a:r>
                <a:endParaRPr lang="en-ID" dirty="0">
                  <a:latin typeface="Barlow Light" panose="00000400000000000000" pitchFamily="2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147060" y="3366030"/>
                <a:ext cx="17454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Barlow Light" panose="00000400000000000000" pitchFamily="2" charset="0"/>
                  </a:rPr>
                  <a:t>SQL Server Management Studio</a:t>
                </a:r>
                <a:endParaRPr lang="en-ID">
                  <a:latin typeface="Barlow Light" panose="00000400000000000000" pitchFamily="2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86649" y="3337035"/>
                <a:ext cx="17454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Barlow Light" panose="00000400000000000000" pitchFamily="2" charset="0"/>
                  </a:rPr>
                  <a:t>MySQL Workbench</a:t>
                </a:r>
                <a:endParaRPr lang="en-ID">
                  <a:latin typeface="Barlow Light" panose="00000400000000000000" pitchFamily="2" charset="0"/>
                </a:endParaRP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1051560" y="2353579"/>
                <a:ext cx="0" cy="15354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2888478" y="2402599"/>
                <a:ext cx="0" cy="15354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885415" y="2402599"/>
                <a:ext cx="0" cy="15354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740741" y="2413519"/>
                <a:ext cx="0" cy="15354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27745942"/>
      </p:ext>
    </p:extLst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1D1F5D6B0BA945BCA8900B3D229BBB" ma:contentTypeVersion="15" ma:contentTypeDescription="Create a new document." ma:contentTypeScope="" ma:versionID="f160f29deee21c4e35c45be22b65575c">
  <xsd:schema xmlns:xsd="http://www.w3.org/2001/XMLSchema" xmlns:xs="http://www.w3.org/2001/XMLSchema" xmlns:p="http://schemas.microsoft.com/office/2006/metadata/properties" xmlns:ns2="ebf4ebc9-787f-4347-a255-e54ba73e84cf" xmlns:ns3="932a0441-3c05-4d60-9b3e-deb439900100" targetNamespace="http://schemas.microsoft.com/office/2006/metadata/properties" ma:root="true" ma:fieldsID="a6bd3223701d38588fa06863a4380de2" ns2:_="" ns3:_="">
    <xsd:import namespace="ebf4ebc9-787f-4347-a255-e54ba73e84cf"/>
    <xsd:import namespace="932a0441-3c05-4d60-9b3e-deb4399001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4ebc9-787f-4347-a255-e54ba73e84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3a81aea-b39a-4503-b357-deb112bd17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a0441-3c05-4d60-9b3e-deb43990010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a895395c-8b78-4400-ae22-0e07d6988850}" ma:internalName="TaxCatchAll" ma:showField="CatchAllData" ma:web="932a0441-3c05-4d60-9b3e-deb439900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f4ebc9-787f-4347-a255-e54ba73e84cf">
      <Terms xmlns="http://schemas.microsoft.com/office/infopath/2007/PartnerControls"/>
    </lcf76f155ced4ddcb4097134ff3c332f>
    <TaxCatchAll xmlns="932a0441-3c05-4d60-9b3e-deb439900100" xsi:nil="true"/>
  </documentManagement>
</p:properties>
</file>

<file path=customXml/itemProps1.xml><?xml version="1.0" encoding="utf-8"?>
<ds:datastoreItem xmlns:ds="http://schemas.openxmlformats.org/officeDocument/2006/customXml" ds:itemID="{E0882DED-E728-4D7E-8108-758530CE6F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4B2858-68D6-46B7-A6B0-D59DB03469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f4ebc9-787f-4347-a255-e54ba73e84cf"/>
    <ds:schemaRef ds:uri="932a0441-3c05-4d60-9b3e-deb4399001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5FF231-90BD-41F2-8604-2C9F4026DB80}">
  <ds:schemaRefs>
    <ds:schemaRef ds:uri="932a0441-3c05-4d60-9b3e-deb439900100"/>
    <ds:schemaRef ds:uri="ebf4ebc9-787f-4347-a255-e54ba73e84c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Words>913</Words>
  <Application>Microsoft Office PowerPoint</Application>
  <PresentationFormat>On-screen Show (16:9)</PresentationFormat>
  <Paragraphs>126</Paragraphs>
  <Slides>17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Barlow Light</vt:lpstr>
      <vt:lpstr>Arial</vt:lpstr>
      <vt:lpstr>Raleway SemiBold</vt:lpstr>
      <vt:lpstr>Calibri</vt:lpstr>
      <vt:lpstr>Gaoler template</vt:lpstr>
      <vt:lpstr>Pengenalan  RDBMS &amp; SQL</vt:lpstr>
      <vt:lpstr>Kenapa SQL?</vt:lpstr>
      <vt:lpstr>Spreadsheet vs SQL</vt:lpstr>
      <vt:lpstr>Apa itu SQL?</vt:lpstr>
      <vt:lpstr>Structured Query Language (SQL) </vt:lpstr>
      <vt:lpstr>Structured Query Language (SQL) </vt:lpstr>
      <vt:lpstr>Pekerjaan yang dapat dilakukan dengan SQL </vt:lpstr>
      <vt:lpstr>Pekerjaan yang dapat dilakukan dengan SQL</vt:lpstr>
      <vt:lpstr>SQL statement </vt:lpstr>
      <vt:lpstr>Database and Database System</vt:lpstr>
      <vt:lpstr>Apa itu database?</vt:lpstr>
      <vt:lpstr>Relational Database</vt:lpstr>
      <vt:lpstr>Manfaat Penggunaan Database Relational</vt:lpstr>
      <vt:lpstr>SQL dalam Pemeriksaan</vt:lpstr>
      <vt:lpstr>Bagaimana skema pemeriksaan dengan SQL?</vt:lpstr>
      <vt:lpstr>Yang Perlu Diperhatikan Pemeriksa</vt:lpstr>
      <vt:lpstr>RDBMS Client dan SQL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SQL: Structured Query Language</dc:title>
  <dc:creator>Reza Rizky Pratama, A.Md.</dc:creator>
  <cp:lastModifiedBy>Teuku Raja Irfan Radarma</cp:lastModifiedBy>
  <cp:revision>16</cp:revision>
  <dcterms:modified xsi:type="dcterms:W3CDTF">2026-09-09T11:34:39Z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0x0101008F1D1F5D6B0BA945BCA8900B3D229BBB</vt:lpwstr>
  </property>
  <property fmtid="{D5CDD505-2E9C-101B-9397-08002B2CF9AE}" pid="3" name="MediaServiceImageTags">
    <vt:lpwstr/>
  </property>
</Properties>
</file>